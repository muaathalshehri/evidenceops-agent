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Last time I walked through what EvidenceOps does. Today is about how it runs, and specifically about one architectural change: moving routing decisions into the orchestrator, in front of the agent. I will show the problem we hit, the four execution paths that replaced the single one, and the measured effect on latency and retrieval count. The short version: the system got three to four times faster on common questions without touching the model or the knowledge 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of context for anyone who missed the first presentation. EvidenceOps is a research system for AI governance material. The evidence base holds indexed sources like the NIST AI RMF and the OWASP LLM Top 10, retrieval grounds every answer in that text, and nothing is saved without explicit human approval. Keep the two colored brackets in mind. Everything I change today happens in the production bracket. The governance bracket, approval and save, stays exactly as it 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moving parts, and the names will come up on every diagram after this. The one to watch is the orchestrator. In the original design it was a thin wrapper that handed everything to the FunctionAgent. In the new design it carries real logic: it looks at the question and decides which of the other components even get used. Parallel retrieval is also new, and I will show where it earns its place when we get to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problem in one picture. Three very different questions, one path. An identity question needs no retrieval at all. A single framework question needs one lookup. An open-ended program design question genuinely needs the agent. The old orchestrator could not tell them apart, so all three paid the full agent price: repeated planning, three or four knowledge base calls, thirty to fifty seconds of wall time, and the token bill that goes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real trace shape from the old system, for the OWASP question. The agent plans, searches, reads what came back, decides it wants more, searches again, and goes around that loop three times before it commits to an answer. Each pass costs a retrieval and a reasoning step. And the punchline is the third tile: the user asked about exactly one framework. Everything the loop did beyond the first search was the agent reassuring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change itself is small to describe. Before any agent object exists, the orchestrator inspects the raw question and routes it down one of four paths. The checks are ordinary string comparisons, so the routing step costs effectively nothing and always gives the same answer for the same input. I want to stress that nothing was removed. The agent path is still there, on the bottom branch. What changed is who gets sent down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routing surface on one slide, listed in the order the checks actually run. Identity first, because it is the cheapest to detect and the cheapest to answer. Capabilities is dashed because it is designed but not yet wired in; I will come back to it near the end. Then comparisons, then single frameworks, and only if everything falls through does the request reach the FunctionAgent. The badges on the right are the cost profile of each path, and that gradient from instant to full agent loop is the entire point of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check is the simplest. If the question matches an identity marker, the answer comes straight from the system prompt. No retrieval, no agent object, no model round trips beyond the reply itself. In the old design these questions took the full thirty second path, which was honestly a bit embarrassing in demos. The markers work in both languages, and the Arabic ones matter because the system serves users who will naturally ask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route carries most of the everyday traffic. If the alias table finds exactly one framework in the question, the orchestrator runs one targeted retrieval against the knowledge base and hands the passages to the model for one synthesis pass. That is the whole path. The quality argument for skipping the agent is that a framework explanation has a well defined evidence set. There is nothing for a planner to discover; the retrieval query is obvious from the alias match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Comparisons were the second big waste in the old design, because the agent retrieved the frameworks sequentially and reasoned in between. The new route reads the comparison marker, pulls every framework alias out of the question, and launches one retrieval per framework at the same time. The results merge into a single synthesis call that writes the comparison. Two frameworks means two searches, but the wall clock cost is one search plus one synthesis, and it generalizes to three or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route is the original system, preserved. Questions like this one genuinely need iteration: the agent has to decide which frameworks matter, retrieve across several of them, notice gaps and go back. That loop is expensive, and for this class of question the expense is justified. The design position is simple. The agent is a specialist now, and the router protects its time. When someone asks why keep the agent at all, this slide is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actual control flow inside the orchestrator, top to bottom. Order matters for two reasons. First, cost: the checks get more expensive to satisfy as you go down, so the common cheap cases exit early. Second, correctness: comparison has to be tested before single framework, because a comparison question contains framework names too, and testing in the wrong order would misroute it. The capabilities check is dashed; the slot in the cascade is reserved and the markers are drafted.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 sometimes expect a classifier here, so I want to be explicit: the router is three small data structures and lowercase substring matching. The alias table normalizes the many ways people write a framework name to one id. The marker lists cover English and Arabic, which took maybe ten minutes to add and doubled the audience the fast paths serve. The tradeoff is that unknown phrasings fall through to the agent, which is the safe direction to fail: slower, never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numbers, from repeated runs of the same test questions. A single framework explanation used to take thirty to fifty seconds; it now lands in ten to twelve. Identity questions went from the same slow path to effectively instant. The searches chart explains why: latency followed the retrieval count down. Nothing else changed. Same model, same knowledge base, same prompts. The whole gain came from the orchestrator refusing to do work the question never asked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logic is exactly the kind of code that silently breaks when you extend it, so each route has tests that pin its behavior. The assertions go beyond the final answer: each case checks which route fired, how many retrievals ran, and whether an agent object was ever constructed. That last check is the one that catches regressions to the old behavior. The comparison case also asserts the searches were issued concurrently, since falling back to sequential would pass a naive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roadmap, one reassurance, because this audience cares about governance as much as speed. The approval gate and the save restriction from the first design are untouched. A draft still becomes a saved report only after a person explicitly approves it, the save function still refuses anything that is not a draft, and audit events still fire on every path. The fast routes did not open a side door. Identity answers never write anything, so they have nothing to govern.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extension is already specced. Today, a question like explain prompt injection falls through the framework check and lands on the agent, which is the old waste pattern all over again for a well bounded topic. A topic alias table fixes that with the same mechanics: recognized topic, one retrieval, one synthesis. The five launch topics map to the OWASP risks the evidence base covers deepest, so retrieval quality is already known to be good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extension closes a gap you may have noticed on the cascade slide. Capability questions currently reach the agent, which then searches a knowledge base of governance frameworks for information about itself. That is the one case where retrieval actively hurts: the correct answer lives in the system's own tool registry and configuration, not in the index. The route answers from that metadata directly. The cascade already reserves the slot, so shipping it moves nothing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so far is keyword routing, and I am comfortable saying so, because the interesting part is the seam it created: a single place where a question is turned into an execution plan. Each roadmap step upgrades that seam without touching the routes. A semantic router catches paraphrases the string tables miss. Intent classification makes the first check learned instead of listed. Further out, adaptive retrieval and query planning let the depth of the work scale with the question instead of with my guesses.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system on one slide, and it is the picture I would like you to keep. A question enters through the orchestrator and hits the router. Two paths answer directly and are done. Three paths do retrieval work, sized to the question: one search, parallel searches, or the full agent loop. Whatever produced the draft, there is exactly one way out: through a human approval and into a saved, audited report. Fast where the question is simple, thorough where it is not, governed everywhere.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model did not get smarter this term, the system around it did. Routing turned one expensive path into a menu of paths priced to the question, and the measured effect is a three to four times speedup on the questions people actually ask most, with governance untouched. The agent is still there for the work that deserves it. I am happy to take questions, and if anyone wants to see the router itself, it is about sixty lines and I can show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2.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image" Target="../media/image-19-7.png"/><Relationship Id="rId8" Type="http://schemas.openxmlformats.org/officeDocument/2006/relationships/slideLayout" Target="../slideLayouts/slideLayout1.xml"/><Relationship Id="rId9"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211B"/>
        </a:solidFill>
      </p:bgPr>
    </p:bg>
    <p:spTree>
      <p:nvGrpSpPr>
        <p:cNvPr id="1" name=""/>
        <p:cNvGrpSpPr/>
        <p:nvPr/>
      </p:nvGrpSpPr>
      <p:grpSpPr>
        <a:xfrm>
          <a:off x="0" y="0"/>
          <a:ext cx="0" cy="0"/>
          <a:chOff x="0" y="0"/>
          <a:chExt cx="0" cy="0"/>
        </a:xfrm>
      </p:grpSpPr>
      <p:sp>
        <p:nvSpPr>
          <p:cNvPr id="2" name="Shape 0"/>
          <p:cNvSpPr/>
          <p:nvPr/>
        </p:nvSpPr>
        <p:spPr>
          <a:xfrm>
            <a:off x="7040880" y="960120"/>
            <a:ext cx="4937760" cy="4937760"/>
          </a:xfrm>
          <a:prstGeom prst="ellipse">
            <a:avLst/>
          </a:prstGeom>
          <a:ln w="12700">
            <a:solidFill>
              <a:srgbClr val="1D4A3F"/>
            </a:solidFill>
            <a:prstDash val="solid"/>
          </a:ln>
        </p:spPr>
      </p:sp>
      <p:sp>
        <p:nvSpPr>
          <p:cNvPr id="3" name="Shape 1"/>
          <p:cNvSpPr/>
          <p:nvPr/>
        </p:nvSpPr>
        <p:spPr>
          <a:xfrm flipV="1">
            <a:off x="8686800" y="1554480"/>
            <a:ext cx="2423160" cy="1874520"/>
          </a:xfrm>
          <a:prstGeom prst="line">
            <a:avLst/>
          </a:prstGeom>
          <a:noFill/>
          <a:ln w="16510">
            <a:solidFill>
              <a:srgbClr val="3D6B5F"/>
            </a:solidFill>
            <a:prstDash val="solid"/>
          </a:ln>
        </p:spPr>
      </p:sp>
      <p:sp>
        <p:nvSpPr>
          <p:cNvPr id="4" name="Shape 2"/>
          <p:cNvSpPr/>
          <p:nvPr/>
        </p:nvSpPr>
        <p:spPr>
          <a:xfrm>
            <a:off x="11009376" y="1453896"/>
            <a:ext cx="201168" cy="201168"/>
          </a:xfrm>
          <a:prstGeom prst="ellipse">
            <a:avLst/>
          </a:prstGeom>
          <a:solidFill>
            <a:srgbClr val="4FB39E"/>
          </a:solidFill>
          <a:ln w="12700">
            <a:solidFill>
              <a:srgbClr val="4FB39E"/>
            </a:solidFill>
            <a:prstDash val="solid"/>
          </a:ln>
        </p:spPr>
      </p:sp>
      <p:sp>
        <p:nvSpPr>
          <p:cNvPr id="5" name="Shape 3"/>
          <p:cNvSpPr/>
          <p:nvPr/>
        </p:nvSpPr>
        <p:spPr>
          <a:xfrm flipV="1">
            <a:off x="8686800" y="2487168"/>
            <a:ext cx="2423160" cy="941832"/>
          </a:xfrm>
          <a:prstGeom prst="line">
            <a:avLst/>
          </a:prstGeom>
          <a:noFill/>
          <a:ln w="16510">
            <a:solidFill>
              <a:srgbClr val="3D6B5F"/>
            </a:solidFill>
            <a:prstDash val="solid"/>
          </a:ln>
        </p:spPr>
      </p:sp>
      <p:sp>
        <p:nvSpPr>
          <p:cNvPr id="6" name="Shape 4"/>
          <p:cNvSpPr/>
          <p:nvPr/>
        </p:nvSpPr>
        <p:spPr>
          <a:xfrm>
            <a:off x="11009376" y="2386584"/>
            <a:ext cx="201168" cy="201168"/>
          </a:xfrm>
          <a:prstGeom prst="ellipse">
            <a:avLst/>
          </a:prstGeom>
          <a:solidFill>
            <a:srgbClr val="0F3A31"/>
          </a:solidFill>
          <a:ln w="12700">
            <a:solidFill>
              <a:srgbClr val="0F3A31"/>
            </a:solidFill>
            <a:prstDash val="solid"/>
          </a:ln>
        </p:spPr>
      </p:sp>
      <p:sp>
        <p:nvSpPr>
          <p:cNvPr id="7" name="Shape 5"/>
          <p:cNvSpPr/>
          <p:nvPr/>
        </p:nvSpPr>
        <p:spPr>
          <a:xfrm>
            <a:off x="8686800" y="3429000"/>
            <a:ext cx="2423160" cy="0"/>
          </a:xfrm>
          <a:prstGeom prst="line">
            <a:avLst/>
          </a:prstGeom>
          <a:noFill/>
          <a:ln w="16510">
            <a:solidFill>
              <a:srgbClr val="3D6B5F"/>
            </a:solidFill>
            <a:prstDash val="solid"/>
          </a:ln>
        </p:spPr>
      </p:sp>
      <p:sp>
        <p:nvSpPr>
          <p:cNvPr id="8" name="Shape 6"/>
          <p:cNvSpPr/>
          <p:nvPr/>
        </p:nvSpPr>
        <p:spPr>
          <a:xfrm>
            <a:off x="11009376" y="3328416"/>
            <a:ext cx="201168" cy="201168"/>
          </a:xfrm>
          <a:prstGeom prst="ellipse">
            <a:avLst/>
          </a:prstGeom>
          <a:solidFill>
            <a:srgbClr val="C29C55"/>
          </a:solidFill>
          <a:ln w="12700">
            <a:solidFill>
              <a:srgbClr val="C29C55"/>
            </a:solidFill>
            <a:prstDash val="solid"/>
          </a:ln>
        </p:spPr>
      </p:sp>
      <p:sp>
        <p:nvSpPr>
          <p:cNvPr id="9" name="Shape 7"/>
          <p:cNvSpPr/>
          <p:nvPr/>
        </p:nvSpPr>
        <p:spPr>
          <a:xfrm>
            <a:off x="8686800" y="3429000"/>
            <a:ext cx="2423160" cy="941832"/>
          </a:xfrm>
          <a:prstGeom prst="line">
            <a:avLst/>
          </a:prstGeom>
          <a:noFill/>
          <a:ln w="16510">
            <a:solidFill>
              <a:srgbClr val="3D6B5F"/>
            </a:solidFill>
            <a:prstDash val="solid"/>
          </a:ln>
        </p:spPr>
      </p:sp>
      <p:sp>
        <p:nvSpPr>
          <p:cNvPr id="10" name="Shape 8"/>
          <p:cNvSpPr/>
          <p:nvPr/>
        </p:nvSpPr>
        <p:spPr>
          <a:xfrm>
            <a:off x="11009376" y="4270248"/>
            <a:ext cx="201168" cy="201168"/>
          </a:xfrm>
          <a:prstGeom prst="ellipse">
            <a:avLst/>
          </a:prstGeom>
          <a:solidFill>
            <a:srgbClr val="0F3A31"/>
          </a:solidFill>
          <a:ln w="12700">
            <a:solidFill>
              <a:srgbClr val="0F3A31"/>
            </a:solidFill>
            <a:prstDash val="solid"/>
          </a:ln>
        </p:spPr>
      </p:sp>
      <p:sp>
        <p:nvSpPr>
          <p:cNvPr id="11" name="Shape 9"/>
          <p:cNvSpPr/>
          <p:nvPr/>
        </p:nvSpPr>
        <p:spPr>
          <a:xfrm>
            <a:off x="8686800" y="3429000"/>
            <a:ext cx="2423160" cy="1874520"/>
          </a:xfrm>
          <a:prstGeom prst="line">
            <a:avLst/>
          </a:prstGeom>
          <a:noFill/>
          <a:ln w="16510">
            <a:solidFill>
              <a:srgbClr val="3D6B5F"/>
            </a:solidFill>
            <a:prstDash val="solid"/>
          </a:ln>
        </p:spPr>
      </p:sp>
      <p:sp>
        <p:nvSpPr>
          <p:cNvPr id="12" name="Shape 10"/>
          <p:cNvSpPr/>
          <p:nvPr/>
        </p:nvSpPr>
        <p:spPr>
          <a:xfrm>
            <a:off x="11009376" y="5202936"/>
            <a:ext cx="201168" cy="201168"/>
          </a:xfrm>
          <a:prstGeom prst="ellipse">
            <a:avLst/>
          </a:prstGeom>
          <a:solidFill>
            <a:srgbClr val="4FB39E"/>
          </a:solidFill>
          <a:ln w="12700">
            <a:solidFill>
              <a:srgbClr val="4FB39E"/>
            </a:solidFill>
            <a:prstDash val="solid"/>
          </a:ln>
        </p:spPr>
      </p:sp>
      <p:sp>
        <p:nvSpPr>
          <p:cNvPr id="13" name="Shape 11"/>
          <p:cNvSpPr/>
          <p:nvPr/>
        </p:nvSpPr>
        <p:spPr>
          <a:xfrm>
            <a:off x="7863840" y="3017520"/>
            <a:ext cx="822960" cy="822960"/>
          </a:xfrm>
          <a:prstGeom prst="ellipse">
            <a:avLst/>
          </a:prstGeom>
          <a:solidFill>
            <a:srgbClr val="2B776D"/>
          </a:solidFill>
          <a:ln w="12700">
            <a:solidFill>
              <a:srgbClr val="2B776D"/>
            </a:solidFill>
            <a:prstDash val="solid"/>
          </a:ln>
        </p:spPr>
      </p:sp>
      <p:pic>
        <p:nvPicPr>
          <p:cNvPr id="14" name="Image 0" descr="/home/claude/evidenceops/icons/gitbranch_white.png">    </p:cNvPr>
          <p:cNvPicPr>
            <a:picLocks noChangeAspect="1"/>
          </p:cNvPicPr>
          <p:nvPr/>
        </p:nvPicPr>
        <p:blipFill>
          <a:blip r:embed="rId1"/>
          <a:stretch>
            <a:fillRect/>
          </a:stretch>
        </p:blipFill>
        <p:spPr>
          <a:xfrm>
            <a:off x="8053121" y="3206801"/>
            <a:ext cx="444398" cy="444398"/>
          </a:xfrm>
          <a:prstGeom prst="rect">
            <a:avLst/>
          </a:prstGeom>
        </p:spPr>
      </p:pic>
      <p:sp>
        <p:nvSpPr>
          <p:cNvPr id="15" name="Text 12"/>
          <p:cNvSpPr/>
          <p:nvPr/>
        </p:nvSpPr>
        <p:spPr>
          <a:xfrm>
            <a:off x="685800" y="1783080"/>
            <a:ext cx="5943600" cy="365760"/>
          </a:xfrm>
          <a:prstGeom prst="rect">
            <a:avLst/>
          </a:prstGeom>
          <a:noFill/>
          <a:ln/>
        </p:spPr>
        <p:txBody>
          <a:bodyPr wrap="square" lIns="0" tIns="0" rIns="0" bIns="0" rtlCol="0" anchor="ctr"/>
          <a:lstStyle/>
          <a:p>
            <a:pPr algn="l" indent="0" marL="0">
              <a:buNone/>
            </a:pPr>
            <a:r>
              <a:rPr lang="en-US" sz="1400" spc="200" kern="0" dirty="0">
                <a:solidFill>
                  <a:srgbClr val="C29C55"/>
                </a:solidFill>
                <a:latin typeface="Calibri" pitchFamily="34" charset="0"/>
                <a:ea typeface="Calibri" pitchFamily="34" charset="-122"/>
                <a:cs typeface="Calibri" pitchFamily="34" charset="-120"/>
              </a:rPr>
              <a:t>Engineering deep dive</a:t>
            </a:r>
            <a:endParaRPr lang="en-US" sz="1400" dirty="0"/>
          </a:p>
        </p:txBody>
      </p:sp>
      <p:sp>
        <p:nvSpPr>
          <p:cNvPr id="16" name="Text 13"/>
          <p:cNvSpPr/>
          <p:nvPr/>
        </p:nvSpPr>
        <p:spPr>
          <a:xfrm>
            <a:off x="640080" y="2148840"/>
            <a:ext cx="6400800" cy="960120"/>
          </a:xfrm>
          <a:prstGeom prst="rect">
            <a:avLst/>
          </a:prstGeom>
          <a:noFill/>
          <a:ln/>
        </p:spPr>
        <p:txBody>
          <a:bodyPr wrap="square" lIns="0" tIns="0" rIns="0" bIns="0" rtlCol="0" anchor="ctr"/>
          <a:lstStyle/>
          <a:p>
            <a:pPr algn="l" indent="0" marL="0">
              <a:buNone/>
            </a:pPr>
            <a:r>
              <a:rPr lang="en-US" sz="5600" b="1" dirty="0">
                <a:solidFill>
                  <a:srgbClr val="F2F7F4"/>
                </a:solidFill>
                <a:latin typeface="Calibri" pitchFamily="34" charset="0"/>
                <a:ea typeface="Calibri" pitchFamily="34" charset="-122"/>
                <a:cs typeface="Calibri" pitchFamily="34" charset="-120"/>
              </a:rPr>
              <a:t>EvidenceOps</a:t>
            </a:r>
            <a:endParaRPr lang="en-US" sz="5600" dirty="0"/>
          </a:p>
        </p:txBody>
      </p:sp>
      <p:sp>
        <p:nvSpPr>
          <p:cNvPr id="17" name="Text 14"/>
          <p:cNvSpPr/>
          <p:nvPr/>
        </p:nvSpPr>
        <p:spPr>
          <a:xfrm>
            <a:off x="685800" y="3200400"/>
            <a:ext cx="6035040" cy="868680"/>
          </a:xfrm>
          <a:prstGeom prst="rect">
            <a:avLst/>
          </a:prstGeom>
          <a:noFill/>
          <a:ln/>
        </p:spPr>
        <p:txBody>
          <a:bodyPr wrap="square" lIns="0" tIns="0" rIns="0" bIns="0" rtlCol="0" anchor="t"/>
          <a:lstStyle/>
          <a:p>
            <a:pPr algn="l" indent="0" marL="0">
              <a:buNone/>
            </a:pPr>
            <a:r>
              <a:rPr lang="en-US" sz="1750" dirty="0">
                <a:solidFill>
                  <a:srgbClr val="CFE0DA"/>
                </a:solidFill>
                <a:latin typeface="Calibri" pitchFamily="34" charset="0"/>
                <a:ea typeface="Calibri" pitchFamily="34" charset="-122"/>
                <a:cs typeface="Calibri" pitchFamily="34" charset="-120"/>
              </a:rPr>
              <a:t>Architecture evolution of an AI research orchestration system</a:t>
            </a:r>
            <a:endParaRPr lang="en-US" sz="1750" dirty="0"/>
          </a:p>
        </p:txBody>
      </p:sp>
      <p:sp>
        <p:nvSpPr>
          <p:cNvPr id="18" name="Shape 15"/>
          <p:cNvSpPr/>
          <p:nvPr/>
        </p:nvSpPr>
        <p:spPr>
          <a:xfrm>
            <a:off x="713232" y="4224528"/>
            <a:ext cx="822960" cy="36576"/>
          </a:xfrm>
          <a:prstGeom prst="rect">
            <a:avLst/>
          </a:prstGeom>
          <a:solidFill>
            <a:srgbClr val="C29C55"/>
          </a:solidFill>
          <a:ln w="12700">
            <a:solidFill>
              <a:srgbClr val="C29C55"/>
            </a:solidFill>
            <a:prstDash val="solid"/>
          </a:ln>
        </p:spPr>
      </p:sp>
      <p:sp>
        <p:nvSpPr>
          <p:cNvPr id="19" name="Text 16"/>
          <p:cNvSpPr/>
          <p:nvPr/>
        </p:nvSpPr>
        <p:spPr>
          <a:xfrm>
            <a:off x="685800" y="4407408"/>
            <a:ext cx="6035040" cy="365760"/>
          </a:xfrm>
          <a:prstGeom prst="rect">
            <a:avLst/>
          </a:prstGeom>
          <a:noFill/>
          <a:ln/>
        </p:spPr>
        <p:txBody>
          <a:bodyPr wrap="square" lIns="0" tIns="0" rIns="0" bIns="0" rtlCol="0" anchor="ctr"/>
          <a:lstStyle/>
          <a:p>
            <a:pPr algn="l" indent="0" marL="0">
              <a:buNone/>
            </a:pPr>
            <a:r>
              <a:rPr lang="en-US" sz="1200" dirty="0">
                <a:solidFill>
                  <a:srgbClr val="9DB5AD"/>
                </a:solidFill>
                <a:latin typeface="Calibri" pitchFamily="34" charset="0"/>
                <a:ea typeface="Calibri" pitchFamily="34" charset="-122"/>
                <a:cs typeface="Calibri" pitchFamily="34" charset="-120"/>
              </a:rPr>
              <a:t>Naif  ·  MSc Public Fund Investment Management, PIF Academy  ·  July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What EvidenceOps does</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One pipeline: evidence in, an approved report out.</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2</a:t>
            </a:r>
            <a:endParaRPr lang="en-US" sz="850" dirty="0"/>
          </a:p>
        </p:txBody>
      </p:sp>
      <p:sp>
        <p:nvSpPr>
          <p:cNvPr id="10" name="Text 7"/>
          <p:cNvSpPr/>
          <p:nvPr/>
        </p:nvSpPr>
        <p:spPr>
          <a:xfrm>
            <a:off x="548640" y="1143000"/>
            <a:ext cx="11064240" cy="685800"/>
          </a:xfrm>
          <a:prstGeom prst="rect">
            <a:avLst/>
          </a:prstGeom>
          <a:noFill/>
          <a:ln/>
        </p:spPr>
        <p:txBody>
          <a:bodyPr wrap="square" lIns="0" tIns="0" rIns="0" bIns="0" rtlCol="0" anchor="t"/>
          <a:lstStyle/>
          <a:p>
            <a:pPr algn="l" indent="0" marL="0">
              <a:buNone/>
            </a:pPr>
            <a:r>
              <a:rPr lang="en-US" sz="1300" dirty="0">
                <a:solidFill>
                  <a:srgbClr val="CFE0DA"/>
                </a:solidFill>
                <a:latin typeface="Calibri" pitchFamily="34" charset="0"/>
                <a:ea typeface="Calibri" pitchFamily="34" charset="-122"/>
                <a:cs typeface="Calibri" pitchFamily="34" charset="-120"/>
              </a:rPr>
              <a:t>EvidenceOps answers AI governance, risk and compliance questions from an indexed evidence base. Retrieval-augmented generation produces a draft, and a person decides whether that draft becomes a saved report.</a:t>
            </a:r>
            <a:endParaRPr lang="en-US" sz="1300" dirty="0"/>
          </a:p>
        </p:txBody>
      </p:sp>
      <p:sp>
        <p:nvSpPr>
          <p:cNvPr id="11" name="Shape 8"/>
          <p:cNvSpPr/>
          <p:nvPr/>
        </p:nvSpPr>
        <p:spPr>
          <a:xfrm>
            <a:off x="548640" y="2880360"/>
            <a:ext cx="1207008" cy="777240"/>
          </a:xfrm>
          <a:prstGeom prst="roundRect">
            <a:avLst>
              <a:gd name="adj" fmla="val 8235"/>
            </a:avLst>
          </a:prstGeom>
          <a:solidFill>
            <a:srgbClr val="0F3A31"/>
          </a:solidFill>
          <a:ln w="13970">
            <a:solidFill>
              <a:srgbClr val="1D4A3F"/>
            </a:solidFill>
            <a:prstDash val="solid"/>
          </a:ln>
        </p:spPr>
      </p:sp>
      <p:sp>
        <p:nvSpPr>
          <p:cNvPr id="12" name="Text 9"/>
          <p:cNvSpPr/>
          <p:nvPr/>
        </p:nvSpPr>
        <p:spPr>
          <a:xfrm>
            <a:off x="548640" y="2880360"/>
            <a:ext cx="1207008" cy="777240"/>
          </a:xfrm>
          <a:prstGeom prst="rect">
            <a:avLst/>
          </a:prstGeom>
          <a:noFill/>
          <a:ln/>
        </p:spPr>
        <p:txBody>
          <a:bodyPr wrap="square" lIns="381" tIns="381" rIns="381" bIns="381" rtlCol="0" anchor="ctr"/>
          <a:lstStyle/>
          <a:p>
            <a:pPr algn="ctr" indent="0" marL="0">
              <a:buNone/>
            </a:pPr>
            <a:r>
              <a:rPr lang="en-US" sz="1050" dirty="0">
                <a:solidFill>
                  <a:srgbClr val="F2F7F4"/>
                </a:solidFill>
                <a:latin typeface="Calibri" pitchFamily="34" charset="0"/>
                <a:ea typeface="Calibri" pitchFamily="34" charset="-122"/>
                <a:cs typeface="Calibri" pitchFamily="34" charset="-120"/>
              </a:rPr>
              <a:t>User</a:t>
            </a:r>
            <a:endParaRPr lang="en-US" sz="1050" dirty="0"/>
          </a:p>
        </p:txBody>
      </p:sp>
      <p:sp>
        <p:nvSpPr>
          <p:cNvPr id="13" name="Shape 10"/>
          <p:cNvSpPr/>
          <p:nvPr/>
        </p:nvSpPr>
        <p:spPr>
          <a:xfrm>
            <a:off x="1773936" y="3268980"/>
            <a:ext cx="164592" cy="0"/>
          </a:xfrm>
          <a:prstGeom prst="line">
            <a:avLst/>
          </a:prstGeom>
          <a:noFill/>
          <a:ln w="20320">
            <a:solidFill>
              <a:srgbClr val="6F8F85"/>
            </a:solidFill>
            <a:prstDash val="solid"/>
            <a:tailEnd type="triangle"/>
          </a:ln>
        </p:spPr>
      </p:sp>
      <p:sp>
        <p:nvSpPr>
          <p:cNvPr id="14" name="Shape 11"/>
          <p:cNvSpPr/>
          <p:nvPr/>
        </p:nvSpPr>
        <p:spPr>
          <a:xfrm>
            <a:off x="1956816" y="2880360"/>
            <a:ext cx="1207008" cy="777240"/>
          </a:xfrm>
          <a:prstGeom prst="roundRect">
            <a:avLst>
              <a:gd name="adj" fmla="val 8235"/>
            </a:avLst>
          </a:prstGeom>
          <a:solidFill>
            <a:srgbClr val="4FB39E"/>
          </a:solidFill>
          <a:ln w="12700">
            <a:solidFill>
              <a:srgbClr val="4FB39E"/>
            </a:solidFill>
            <a:prstDash val="solid"/>
          </a:ln>
        </p:spPr>
      </p:sp>
      <p:sp>
        <p:nvSpPr>
          <p:cNvPr id="15" name="Text 12"/>
          <p:cNvSpPr/>
          <p:nvPr/>
        </p:nvSpPr>
        <p:spPr>
          <a:xfrm>
            <a:off x="1956816" y="2880360"/>
            <a:ext cx="1207008" cy="777240"/>
          </a:xfrm>
          <a:prstGeom prst="rect">
            <a:avLst/>
          </a:prstGeom>
          <a:noFill/>
          <a:ln/>
        </p:spPr>
        <p:txBody>
          <a:bodyPr wrap="square" lIns="381" tIns="381" rIns="381" bIns="381" rtlCol="0" anchor="ctr"/>
          <a:lstStyle/>
          <a:p>
            <a:pPr algn="ctr" indent="0" marL="0">
              <a:buNone/>
            </a:pPr>
            <a:r>
              <a:rPr lang="en-US" sz="1050" b="1" dirty="0">
                <a:solidFill>
                  <a:srgbClr val="06211B"/>
                </a:solidFill>
                <a:latin typeface="Calibri" pitchFamily="34" charset="0"/>
                <a:ea typeface="Calibri" pitchFamily="34" charset="-122"/>
                <a:cs typeface="Calibri" pitchFamily="34" charset="-120"/>
              </a:rPr>
              <a:t>Orchestrator</a:t>
            </a:r>
            <a:endParaRPr lang="en-US" sz="1050" dirty="0"/>
          </a:p>
        </p:txBody>
      </p:sp>
      <p:sp>
        <p:nvSpPr>
          <p:cNvPr id="16" name="Shape 13"/>
          <p:cNvSpPr/>
          <p:nvPr/>
        </p:nvSpPr>
        <p:spPr>
          <a:xfrm>
            <a:off x="3182112" y="3268980"/>
            <a:ext cx="164592" cy="0"/>
          </a:xfrm>
          <a:prstGeom prst="line">
            <a:avLst/>
          </a:prstGeom>
          <a:noFill/>
          <a:ln w="20320">
            <a:solidFill>
              <a:srgbClr val="6F8F85"/>
            </a:solidFill>
            <a:prstDash val="solid"/>
            <a:tailEnd type="triangle"/>
          </a:ln>
        </p:spPr>
      </p:sp>
      <p:sp>
        <p:nvSpPr>
          <p:cNvPr id="17" name="Shape 14"/>
          <p:cNvSpPr/>
          <p:nvPr/>
        </p:nvSpPr>
        <p:spPr>
          <a:xfrm>
            <a:off x="3364992" y="2880360"/>
            <a:ext cx="1207008" cy="777240"/>
          </a:xfrm>
          <a:prstGeom prst="roundRect">
            <a:avLst>
              <a:gd name="adj" fmla="val 8235"/>
            </a:avLst>
          </a:prstGeom>
          <a:solidFill>
            <a:srgbClr val="C29C55"/>
          </a:solidFill>
          <a:ln w="12700">
            <a:solidFill>
              <a:srgbClr val="C29C55"/>
            </a:solidFill>
            <a:prstDash val="solid"/>
          </a:ln>
        </p:spPr>
      </p:sp>
      <p:sp>
        <p:nvSpPr>
          <p:cNvPr id="18" name="Text 15"/>
          <p:cNvSpPr/>
          <p:nvPr/>
        </p:nvSpPr>
        <p:spPr>
          <a:xfrm>
            <a:off x="3364992" y="2880360"/>
            <a:ext cx="1207008" cy="777240"/>
          </a:xfrm>
          <a:prstGeom prst="rect">
            <a:avLst/>
          </a:prstGeom>
          <a:noFill/>
          <a:ln/>
        </p:spPr>
        <p:txBody>
          <a:bodyPr wrap="square" lIns="381" tIns="381" rIns="381" bIns="381" rtlCol="0" anchor="ctr"/>
          <a:lstStyle/>
          <a:p>
            <a:pPr algn="ctr" indent="0" marL="0">
              <a:buNone/>
            </a:pPr>
            <a:r>
              <a:rPr lang="en-US" sz="1050" b="1" dirty="0">
                <a:solidFill>
                  <a:srgbClr val="06211B"/>
                </a:solidFill>
                <a:latin typeface="Calibri" pitchFamily="34" charset="0"/>
                <a:ea typeface="Calibri" pitchFamily="34" charset="-122"/>
                <a:cs typeface="Calibri" pitchFamily="34" charset="-120"/>
              </a:rPr>
              <a:t>Route decision</a:t>
            </a:r>
            <a:endParaRPr lang="en-US" sz="1050" dirty="0"/>
          </a:p>
        </p:txBody>
      </p:sp>
      <p:sp>
        <p:nvSpPr>
          <p:cNvPr id="19" name="Shape 16"/>
          <p:cNvSpPr/>
          <p:nvPr/>
        </p:nvSpPr>
        <p:spPr>
          <a:xfrm>
            <a:off x="4590288" y="3268980"/>
            <a:ext cx="164592" cy="0"/>
          </a:xfrm>
          <a:prstGeom prst="line">
            <a:avLst/>
          </a:prstGeom>
          <a:noFill/>
          <a:ln w="20320">
            <a:solidFill>
              <a:srgbClr val="6F8F85"/>
            </a:solidFill>
            <a:prstDash val="solid"/>
            <a:tailEnd type="triangle"/>
          </a:ln>
        </p:spPr>
      </p:sp>
      <p:sp>
        <p:nvSpPr>
          <p:cNvPr id="20" name="Shape 17"/>
          <p:cNvSpPr/>
          <p:nvPr/>
        </p:nvSpPr>
        <p:spPr>
          <a:xfrm>
            <a:off x="4773168" y="2880360"/>
            <a:ext cx="1207008" cy="777240"/>
          </a:xfrm>
          <a:prstGeom prst="roundRect">
            <a:avLst>
              <a:gd name="adj" fmla="val 8235"/>
            </a:avLst>
          </a:prstGeom>
          <a:solidFill>
            <a:srgbClr val="2B776D"/>
          </a:solidFill>
          <a:ln w="12700">
            <a:solidFill>
              <a:srgbClr val="2B776D"/>
            </a:solidFill>
            <a:prstDash val="solid"/>
          </a:ln>
        </p:spPr>
      </p:sp>
      <p:sp>
        <p:nvSpPr>
          <p:cNvPr id="21" name="Text 18"/>
          <p:cNvSpPr/>
          <p:nvPr/>
        </p:nvSpPr>
        <p:spPr>
          <a:xfrm>
            <a:off x="4773168" y="2880360"/>
            <a:ext cx="1207008" cy="777240"/>
          </a:xfrm>
          <a:prstGeom prst="rect">
            <a:avLst/>
          </a:prstGeom>
          <a:noFill/>
          <a:ln/>
        </p:spPr>
        <p:txBody>
          <a:bodyPr wrap="square" lIns="381" tIns="381" rIns="381" bIns="381"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Knowledge retrieval</a:t>
            </a:r>
            <a:endParaRPr lang="en-US" sz="1050" dirty="0"/>
          </a:p>
        </p:txBody>
      </p:sp>
      <p:sp>
        <p:nvSpPr>
          <p:cNvPr id="22" name="Shape 19"/>
          <p:cNvSpPr/>
          <p:nvPr/>
        </p:nvSpPr>
        <p:spPr>
          <a:xfrm>
            <a:off x="5998464" y="3268980"/>
            <a:ext cx="164592" cy="0"/>
          </a:xfrm>
          <a:prstGeom prst="line">
            <a:avLst/>
          </a:prstGeom>
          <a:noFill/>
          <a:ln w="20320">
            <a:solidFill>
              <a:srgbClr val="6F8F85"/>
            </a:solidFill>
            <a:prstDash val="solid"/>
            <a:tailEnd type="triangle"/>
          </a:ln>
        </p:spPr>
      </p:sp>
      <p:sp>
        <p:nvSpPr>
          <p:cNvPr id="23" name="Shape 20"/>
          <p:cNvSpPr/>
          <p:nvPr/>
        </p:nvSpPr>
        <p:spPr>
          <a:xfrm>
            <a:off x="6181344" y="2880360"/>
            <a:ext cx="1207008" cy="777240"/>
          </a:xfrm>
          <a:prstGeom prst="roundRect">
            <a:avLst>
              <a:gd name="adj" fmla="val 8235"/>
            </a:avLst>
          </a:prstGeom>
          <a:solidFill>
            <a:srgbClr val="2B776D"/>
          </a:solidFill>
          <a:ln w="12700">
            <a:solidFill>
              <a:srgbClr val="2B776D"/>
            </a:solidFill>
            <a:prstDash val="solid"/>
          </a:ln>
        </p:spPr>
      </p:sp>
      <p:sp>
        <p:nvSpPr>
          <p:cNvPr id="24" name="Text 21"/>
          <p:cNvSpPr/>
          <p:nvPr/>
        </p:nvSpPr>
        <p:spPr>
          <a:xfrm>
            <a:off x="6181344" y="2880360"/>
            <a:ext cx="1207008" cy="777240"/>
          </a:xfrm>
          <a:prstGeom prst="rect">
            <a:avLst/>
          </a:prstGeom>
          <a:noFill/>
          <a:ln/>
        </p:spPr>
        <p:txBody>
          <a:bodyPr wrap="square" lIns="381" tIns="381" rIns="381" bIns="381"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LLM synthesis</a:t>
            </a:r>
            <a:endParaRPr lang="en-US" sz="1050" dirty="0"/>
          </a:p>
        </p:txBody>
      </p:sp>
      <p:sp>
        <p:nvSpPr>
          <p:cNvPr id="25" name="Shape 22"/>
          <p:cNvSpPr/>
          <p:nvPr/>
        </p:nvSpPr>
        <p:spPr>
          <a:xfrm>
            <a:off x="7406640" y="3268980"/>
            <a:ext cx="164592" cy="0"/>
          </a:xfrm>
          <a:prstGeom prst="line">
            <a:avLst/>
          </a:prstGeom>
          <a:noFill/>
          <a:ln w="20320">
            <a:solidFill>
              <a:srgbClr val="6F8F85"/>
            </a:solidFill>
            <a:prstDash val="solid"/>
            <a:tailEnd type="triangle"/>
          </a:ln>
        </p:spPr>
      </p:sp>
      <p:sp>
        <p:nvSpPr>
          <p:cNvPr id="26" name="Shape 23"/>
          <p:cNvSpPr/>
          <p:nvPr/>
        </p:nvSpPr>
        <p:spPr>
          <a:xfrm>
            <a:off x="7589520" y="2880360"/>
            <a:ext cx="1207008" cy="777240"/>
          </a:xfrm>
          <a:prstGeom prst="roundRect">
            <a:avLst>
              <a:gd name="adj" fmla="val 8235"/>
            </a:avLst>
          </a:prstGeom>
          <a:solidFill>
            <a:srgbClr val="0F3A31"/>
          </a:solidFill>
          <a:ln w="13970">
            <a:solidFill>
              <a:srgbClr val="1D4A3F"/>
            </a:solidFill>
            <a:prstDash val="solid"/>
          </a:ln>
        </p:spPr>
      </p:sp>
      <p:sp>
        <p:nvSpPr>
          <p:cNvPr id="27" name="Text 24"/>
          <p:cNvSpPr/>
          <p:nvPr/>
        </p:nvSpPr>
        <p:spPr>
          <a:xfrm>
            <a:off x="7589520" y="2880360"/>
            <a:ext cx="1207008" cy="777240"/>
          </a:xfrm>
          <a:prstGeom prst="rect">
            <a:avLst/>
          </a:prstGeom>
          <a:noFill/>
          <a:ln/>
        </p:spPr>
        <p:txBody>
          <a:bodyPr wrap="square" lIns="381" tIns="381" rIns="381" bIns="381" rtlCol="0" anchor="ctr"/>
          <a:lstStyle/>
          <a:p>
            <a:pPr algn="ctr" indent="0" marL="0">
              <a:buNone/>
            </a:pPr>
            <a:r>
              <a:rPr lang="en-US" sz="1050" dirty="0">
                <a:solidFill>
                  <a:srgbClr val="F2F7F4"/>
                </a:solidFill>
                <a:latin typeface="Calibri" pitchFamily="34" charset="0"/>
                <a:ea typeface="Calibri" pitchFamily="34" charset="-122"/>
                <a:cs typeface="Calibri" pitchFamily="34" charset="-120"/>
              </a:rPr>
              <a:t>Draft report</a:t>
            </a:r>
            <a:endParaRPr lang="en-US" sz="1050" dirty="0"/>
          </a:p>
        </p:txBody>
      </p:sp>
      <p:sp>
        <p:nvSpPr>
          <p:cNvPr id="28" name="Shape 25"/>
          <p:cNvSpPr/>
          <p:nvPr/>
        </p:nvSpPr>
        <p:spPr>
          <a:xfrm>
            <a:off x="8814816" y="3268980"/>
            <a:ext cx="164592" cy="0"/>
          </a:xfrm>
          <a:prstGeom prst="line">
            <a:avLst/>
          </a:prstGeom>
          <a:noFill/>
          <a:ln w="20320">
            <a:solidFill>
              <a:srgbClr val="6F8F85"/>
            </a:solidFill>
            <a:prstDash val="solid"/>
            <a:tailEnd type="triangle"/>
          </a:ln>
        </p:spPr>
      </p:sp>
      <p:sp>
        <p:nvSpPr>
          <p:cNvPr id="29" name="Shape 26"/>
          <p:cNvSpPr/>
          <p:nvPr/>
        </p:nvSpPr>
        <p:spPr>
          <a:xfrm>
            <a:off x="8997696" y="2880360"/>
            <a:ext cx="1207008" cy="777240"/>
          </a:xfrm>
          <a:prstGeom prst="roundRect">
            <a:avLst>
              <a:gd name="adj" fmla="val 8235"/>
            </a:avLst>
          </a:prstGeom>
          <a:solidFill>
            <a:srgbClr val="C29C55"/>
          </a:solidFill>
          <a:ln w="12700">
            <a:solidFill>
              <a:srgbClr val="C29C55"/>
            </a:solidFill>
            <a:prstDash val="solid"/>
          </a:ln>
        </p:spPr>
      </p:sp>
      <p:sp>
        <p:nvSpPr>
          <p:cNvPr id="30" name="Text 27"/>
          <p:cNvSpPr/>
          <p:nvPr/>
        </p:nvSpPr>
        <p:spPr>
          <a:xfrm>
            <a:off x="8997696" y="2880360"/>
            <a:ext cx="1207008" cy="777240"/>
          </a:xfrm>
          <a:prstGeom prst="rect">
            <a:avLst/>
          </a:prstGeom>
          <a:noFill/>
          <a:ln/>
        </p:spPr>
        <p:txBody>
          <a:bodyPr wrap="square" lIns="381" tIns="381" rIns="381" bIns="381" rtlCol="0" anchor="ctr"/>
          <a:lstStyle/>
          <a:p>
            <a:pPr algn="ctr" indent="0" marL="0">
              <a:buNone/>
            </a:pPr>
            <a:r>
              <a:rPr lang="en-US" sz="1050" b="1" dirty="0">
                <a:solidFill>
                  <a:srgbClr val="06211B"/>
                </a:solidFill>
                <a:latin typeface="Calibri" pitchFamily="34" charset="0"/>
                <a:ea typeface="Calibri" pitchFamily="34" charset="-122"/>
                <a:cs typeface="Calibri" pitchFamily="34" charset="-120"/>
              </a:rPr>
              <a:t>Human approval</a:t>
            </a:r>
            <a:endParaRPr lang="en-US" sz="1050" dirty="0"/>
          </a:p>
        </p:txBody>
      </p:sp>
      <p:sp>
        <p:nvSpPr>
          <p:cNvPr id="31" name="Shape 28"/>
          <p:cNvSpPr/>
          <p:nvPr/>
        </p:nvSpPr>
        <p:spPr>
          <a:xfrm>
            <a:off x="10222992" y="3268980"/>
            <a:ext cx="164592" cy="0"/>
          </a:xfrm>
          <a:prstGeom prst="line">
            <a:avLst/>
          </a:prstGeom>
          <a:noFill/>
          <a:ln w="20320">
            <a:solidFill>
              <a:srgbClr val="6F8F85"/>
            </a:solidFill>
            <a:prstDash val="solid"/>
            <a:tailEnd type="triangle"/>
          </a:ln>
        </p:spPr>
      </p:sp>
      <p:sp>
        <p:nvSpPr>
          <p:cNvPr id="32" name="Shape 29"/>
          <p:cNvSpPr/>
          <p:nvPr/>
        </p:nvSpPr>
        <p:spPr>
          <a:xfrm>
            <a:off x="10405872" y="2880360"/>
            <a:ext cx="1207008" cy="777240"/>
          </a:xfrm>
          <a:prstGeom prst="roundRect">
            <a:avLst>
              <a:gd name="adj" fmla="val 8235"/>
            </a:avLst>
          </a:prstGeom>
          <a:solidFill>
            <a:srgbClr val="4FB39E"/>
          </a:solidFill>
          <a:ln w="12700">
            <a:solidFill>
              <a:srgbClr val="4FB39E"/>
            </a:solidFill>
            <a:prstDash val="solid"/>
          </a:ln>
        </p:spPr>
      </p:sp>
      <p:sp>
        <p:nvSpPr>
          <p:cNvPr id="33" name="Text 30"/>
          <p:cNvSpPr/>
          <p:nvPr/>
        </p:nvSpPr>
        <p:spPr>
          <a:xfrm>
            <a:off x="10405872" y="2880360"/>
            <a:ext cx="1207008" cy="777240"/>
          </a:xfrm>
          <a:prstGeom prst="rect">
            <a:avLst/>
          </a:prstGeom>
          <a:noFill/>
          <a:ln/>
        </p:spPr>
        <p:txBody>
          <a:bodyPr wrap="square" lIns="381" tIns="381" rIns="381" bIns="381" rtlCol="0" anchor="ctr"/>
          <a:lstStyle/>
          <a:p>
            <a:pPr algn="ctr" indent="0" marL="0">
              <a:buNone/>
            </a:pPr>
            <a:r>
              <a:rPr lang="en-US" sz="1050" b="1" dirty="0">
                <a:solidFill>
                  <a:srgbClr val="06211B"/>
                </a:solidFill>
                <a:latin typeface="Calibri" pitchFamily="34" charset="0"/>
                <a:ea typeface="Calibri" pitchFamily="34" charset="-122"/>
                <a:cs typeface="Calibri" pitchFamily="34" charset="-120"/>
              </a:rPr>
              <a:t>Save report</a:t>
            </a:r>
            <a:endParaRPr lang="en-US" sz="1050" dirty="0"/>
          </a:p>
        </p:txBody>
      </p:sp>
      <p:sp>
        <p:nvSpPr>
          <p:cNvPr id="34" name="Shape 31"/>
          <p:cNvSpPr/>
          <p:nvPr/>
        </p:nvSpPr>
        <p:spPr>
          <a:xfrm>
            <a:off x="4773168" y="3977640"/>
            <a:ext cx="4023360" cy="0"/>
          </a:xfrm>
          <a:prstGeom prst="line">
            <a:avLst/>
          </a:prstGeom>
          <a:noFill/>
          <a:ln w="15240">
            <a:solidFill>
              <a:srgbClr val="4FB39E"/>
            </a:solidFill>
            <a:prstDash val="solid"/>
          </a:ln>
        </p:spPr>
      </p:sp>
      <p:sp>
        <p:nvSpPr>
          <p:cNvPr id="35" name="Text 32"/>
          <p:cNvSpPr/>
          <p:nvPr/>
        </p:nvSpPr>
        <p:spPr>
          <a:xfrm>
            <a:off x="4773168" y="4041648"/>
            <a:ext cx="4023360" cy="274320"/>
          </a:xfrm>
          <a:prstGeom prst="rect">
            <a:avLst/>
          </a:prstGeom>
          <a:noFill/>
          <a:ln/>
        </p:spPr>
        <p:txBody>
          <a:bodyPr wrap="square" lIns="0" tIns="0" rIns="0" bIns="0" rtlCol="0" anchor="t"/>
          <a:lstStyle/>
          <a:p>
            <a:pPr algn="ctr" indent="0" marL="0">
              <a:buNone/>
            </a:pPr>
            <a:r>
              <a:rPr lang="en-US" sz="1050" dirty="0">
                <a:solidFill>
                  <a:srgbClr val="4FB39E"/>
                </a:solidFill>
                <a:latin typeface="Calibri" pitchFamily="34" charset="0"/>
                <a:ea typeface="Calibri" pitchFamily="34" charset="-122"/>
                <a:cs typeface="Calibri" pitchFamily="34" charset="-120"/>
              </a:rPr>
              <a:t>how the answer is produced</a:t>
            </a:r>
            <a:endParaRPr lang="en-US" sz="1050" dirty="0"/>
          </a:p>
        </p:txBody>
      </p:sp>
      <p:sp>
        <p:nvSpPr>
          <p:cNvPr id="36" name="Shape 33"/>
          <p:cNvSpPr/>
          <p:nvPr/>
        </p:nvSpPr>
        <p:spPr>
          <a:xfrm>
            <a:off x="8997696" y="3977640"/>
            <a:ext cx="2615184" cy="0"/>
          </a:xfrm>
          <a:prstGeom prst="line">
            <a:avLst/>
          </a:prstGeom>
          <a:noFill/>
          <a:ln w="15240">
            <a:solidFill>
              <a:srgbClr val="C29C55"/>
            </a:solidFill>
            <a:prstDash val="solid"/>
          </a:ln>
        </p:spPr>
      </p:sp>
      <p:sp>
        <p:nvSpPr>
          <p:cNvPr id="37" name="Text 34"/>
          <p:cNvSpPr/>
          <p:nvPr/>
        </p:nvSpPr>
        <p:spPr>
          <a:xfrm>
            <a:off x="8997696" y="4041648"/>
            <a:ext cx="2615184" cy="274320"/>
          </a:xfrm>
          <a:prstGeom prst="rect">
            <a:avLst/>
          </a:prstGeom>
          <a:noFill/>
          <a:ln/>
        </p:spPr>
        <p:txBody>
          <a:bodyPr wrap="square" lIns="0" tIns="0" rIns="0" bIns="0" rtlCol="0" anchor="t"/>
          <a:lstStyle/>
          <a:p>
            <a:pPr algn="ctr" indent="0" marL="0">
              <a:buNone/>
            </a:pPr>
            <a:r>
              <a:rPr lang="en-US" sz="1050" dirty="0">
                <a:solidFill>
                  <a:srgbClr val="E3CB9A"/>
                </a:solidFill>
                <a:latin typeface="Calibri" pitchFamily="34" charset="0"/>
                <a:ea typeface="Calibri" pitchFamily="34" charset="-122"/>
                <a:cs typeface="Calibri" pitchFamily="34" charset="-120"/>
              </a:rPr>
              <a:t>how it is governed</a:t>
            </a:r>
            <a:endParaRPr lang="en-US" sz="1050" dirty="0"/>
          </a:p>
        </p:txBody>
      </p:sp>
      <p:sp>
        <p:nvSpPr>
          <p:cNvPr id="38" name="Text 35"/>
          <p:cNvSpPr/>
          <p:nvPr/>
        </p:nvSpPr>
        <p:spPr>
          <a:xfrm>
            <a:off x="548640" y="4800600"/>
            <a:ext cx="11064240" cy="548640"/>
          </a:xfrm>
          <a:prstGeom prst="rect">
            <a:avLst/>
          </a:prstGeom>
          <a:noFill/>
          <a:ln/>
        </p:spPr>
        <p:txBody>
          <a:bodyPr wrap="square" lIns="0" tIns="0" rIns="0" bIns="0" rtlCol="0" anchor="t"/>
          <a:lstStyle/>
          <a:p>
            <a:pPr algn="l" indent="0" marL="0">
              <a:buNone/>
            </a:pPr>
            <a:r>
              <a:rPr lang="en-US" sz="1200" dirty="0">
                <a:solidFill>
                  <a:srgbClr val="9DB5AD"/>
                </a:solidFill>
                <a:latin typeface="Calibri" pitchFamily="34" charset="0"/>
                <a:ea typeface="Calibri" pitchFamily="34" charset="-122"/>
                <a:cs typeface="Calibri" pitchFamily="34" charset="-120"/>
              </a:rPr>
              <a:t>Today's changes all live in the highlighted middle: how an answer gets produced. The governance stages on the right are untouched.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The seven components</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Each part has one job; the orchestrator decides which of them run.</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3</a:t>
            </a:r>
            <a:endParaRPr lang="en-US" sz="850" dirty="0"/>
          </a:p>
        </p:txBody>
      </p:sp>
      <p:sp>
        <p:nvSpPr>
          <p:cNvPr id="10" name="Shape 7"/>
          <p:cNvSpPr/>
          <p:nvPr/>
        </p:nvSpPr>
        <p:spPr>
          <a:xfrm>
            <a:off x="521208" y="1325880"/>
            <a:ext cx="2697480" cy="1737360"/>
          </a:xfrm>
          <a:prstGeom prst="roundRect">
            <a:avLst>
              <a:gd name="adj" fmla="val 4211"/>
            </a:avLst>
          </a:prstGeom>
          <a:solidFill>
            <a:srgbClr val="0B2E27"/>
          </a:solidFill>
          <a:ln w="12700">
            <a:solidFill>
              <a:srgbClr val="1D4A3F"/>
            </a:solidFill>
            <a:prstDash val="solid"/>
          </a:ln>
        </p:spPr>
      </p:sp>
      <p:sp>
        <p:nvSpPr>
          <p:cNvPr id="11" name="Shape 8"/>
          <p:cNvSpPr/>
          <p:nvPr/>
        </p:nvSpPr>
        <p:spPr>
          <a:xfrm>
            <a:off x="667512" y="1490472"/>
            <a:ext cx="475488" cy="475488"/>
          </a:xfrm>
          <a:prstGeom prst="ellipse">
            <a:avLst/>
          </a:prstGeom>
          <a:solidFill>
            <a:srgbClr val="2B776D"/>
          </a:solidFill>
          <a:ln w="12700">
            <a:solidFill>
              <a:srgbClr val="2B776D"/>
            </a:solidFill>
            <a:prstDash val="solid"/>
          </a:ln>
        </p:spPr>
      </p:sp>
      <p:pic>
        <p:nvPicPr>
          <p:cNvPr id="12" name="Image 1" descr="/home/claude/evidenceops/icons/settings_white.png">    </p:cNvPr>
          <p:cNvPicPr>
            <a:picLocks noChangeAspect="1"/>
          </p:cNvPicPr>
          <p:nvPr/>
        </p:nvPicPr>
        <p:blipFill>
          <a:blip r:embed="rId2"/>
          <a:stretch>
            <a:fillRect/>
          </a:stretch>
        </p:blipFill>
        <p:spPr>
          <a:xfrm>
            <a:off x="776874" y="1599834"/>
            <a:ext cx="256764" cy="256764"/>
          </a:xfrm>
          <a:prstGeom prst="rect">
            <a:avLst/>
          </a:prstGeom>
        </p:spPr>
      </p:pic>
      <p:sp>
        <p:nvSpPr>
          <p:cNvPr id="13" name="Text 9"/>
          <p:cNvSpPr/>
          <p:nvPr/>
        </p:nvSpPr>
        <p:spPr>
          <a:xfrm>
            <a:off x="1234440" y="1490472"/>
            <a:ext cx="1874520" cy="475488"/>
          </a:xfrm>
          <a:prstGeom prst="rect">
            <a:avLst/>
          </a:prstGeom>
          <a:noFill/>
          <a:ln/>
        </p:spPr>
        <p:txBody>
          <a:bodyPr wrap="square" lIns="0" tIns="0" rIns="0" bIns="0" rtlCol="0" anchor="ctr"/>
          <a:lstStyle/>
          <a:p>
            <a:pPr algn="l" indent="0" marL="0">
              <a:buNone/>
            </a:pPr>
            <a:r>
              <a:rPr lang="en-US" sz="1300" b="1" dirty="0">
                <a:solidFill>
                  <a:srgbClr val="F2F7F4"/>
                </a:solidFill>
                <a:latin typeface="Calibri" pitchFamily="34" charset="0"/>
                <a:ea typeface="Calibri" pitchFamily="34" charset="-122"/>
                <a:cs typeface="Calibri" pitchFamily="34" charset="-120"/>
              </a:rPr>
              <a:t>Orchestrator</a:t>
            </a:r>
            <a:endParaRPr lang="en-US" sz="1300" dirty="0"/>
          </a:p>
        </p:txBody>
      </p:sp>
      <p:sp>
        <p:nvSpPr>
          <p:cNvPr id="14" name="Text 10"/>
          <p:cNvSpPr/>
          <p:nvPr/>
        </p:nvSpPr>
        <p:spPr>
          <a:xfrm>
            <a:off x="749808" y="2103120"/>
            <a:ext cx="2240280" cy="868680"/>
          </a:xfrm>
          <a:prstGeom prst="rect">
            <a:avLst/>
          </a:prstGeom>
          <a:noFill/>
          <a:ln/>
        </p:spPr>
        <p:txBody>
          <a:bodyPr wrap="square" lIns="0" tIns="0" rIns="0" bIns="0" rtlCol="0" anchor="t"/>
          <a:lstStyle/>
          <a:p>
            <a:pPr algn="l" indent="0" marL="0">
              <a:buNone/>
            </a:pPr>
            <a:r>
              <a:rPr lang="en-US" sz="1050" dirty="0">
                <a:solidFill>
                  <a:srgbClr val="9DB5AD"/>
                </a:solidFill>
                <a:latin typeface="Calibri" pitchFamily="34" charset="0"/>
                <a:ea typeface="Calibri" pitchFamily="34" charset="-122"/>
                <a:cs typeface="Calibri" pitchFamily="34" charset="-120"/>
              </a:rPr>
              <a:t>Owns the request and picks the execution path</a:t>
            </a:r>
            <a:endParaRPr lang="en-US" sz="1050" dirty="0"/>
          </a:p>
        </p:txBody>
      </p:sp>
      <p:sp>
        <p:nvSpPr>
          <p:cNvPr id="15" name="Shape 11"/>
          <p:cNvSpPr/>
          <p:nvPr/>
        </p:nvSpPr>
        <p:spPr>
          <a:xfrm>
            <a:off x="3337560" y="1325880"/>
            <a:ext cx="2697480" cy="1737360"/>
          </a:xfrm>
          <a:prstGeom prst="roundRect">
            <a:avLst>
              <a:gd name="adj" fmla="val 4211"/>
            </a:avLst>
          </a:prstGeom>
          <a:solidFill>
            <a:srgbClr val="0B2E27"/>
          </a:solidFill>
          <a:ln w="12700">
            <a:solidFill>
              <a:srgbClr val="1D4A3F"/>
            </a:solidFill>
            <a:prstDash val="solid"/>
          </a:ln>
        </p:spPr>
      </p:sp>
      <p:sp>
        <p:nvSpPr>
          <p:cNvPr id="16" name="Shape 12"/>
          <p:cNvSpPr/>
          <p:nvPr/>
        </p:nvSpPr>
        <p:spPr>
          <a:xfrm>
            <a:off x="3483864" y="1490472"/>
            <a:ext cx="475488" cy="475488"/>
          </a:xfrm>
          <a:prstGeom prst="ellipse">
            <a:avLst/>
          </a:prstGeom>
          <a:solidFill>
            <a:srgbClr val="2B776D"/>
          </a:solidFill>
          <a:ln w="12700">
            <a:solidFill>
              <a:srgbClr val="2B776D"/>
            </a:solidFill>
            <a:prstDash val="solid"/>
          </a:ln>
        </p:spPr>
      </p:sp>
      <p:pic>
        <p:nvPicPr>
          <p:cNvPr id="17" name="Image 2" descr="/home/claude/evidenceops/icons/cpu_white.png">    </p:cNvPr>
          <p:cNvPicPr>
            <a:picLocks noChangeAspect="1"/>
          </p:cNvPicPr>
          <p:nvPr/>
        </p:nvPicPr>
        <p:blipFill>
          <a:blip r:embed="rId3"/>
          <a:stretch>
            <a:fillRect/>
          </a:stretch>
        </p:blipFill>
        <p:spPr>
          <a:xfrm>
            <a:off x="3593226" y="1599834"/>
            <a:ext cx="256764" cy="256764"/>
          </a:xfrm>
          <a:prstGeom prst="rect">
            <a:avLst/>
          </a:prstGeom>
        </p:spPr>
      </p:pic>
      <p:sp>
        <p:nvSpPr>
          <p:cNvPr id="18" name="Text 13"/>
          <p:cNvSpPr/>
          <p:nvPr/>
        </p:nvSpPr>
        <p:spPr>
          <a:xfrm>
            <a:off x="4050792" y="1490472"/>
            <a:ext cx="1874520" cy="475488"/>
          </a:xfrm>
          <a:prstGeom prst="rect">
            <a:avLst/>
          </a:prstGeom>
          <a:noFill/>
          <a:ln/>
        </p:spPr>
        <p:txBody>
          <a:bodyPr wrap="square" lIns="0" tIns="0" rIns="0" bIns="0" rtlCol="0" anchor="ctr"/>
          <a:lstStyle/>
          <a:p>
            <a:pPr algn="l" indent="0" marL="0">
              <a:buNone/>
            </a:pPr>
            <a:r>
              <a:rPr lang="en-US" sz="1300" b="1" dirty="0">
                <a:solidFill>
                  <a:srgbClr val="F2F7F4"/>
                </a:solidFill>
                <a:latin typeface="Calibri" pitchFamily="34" charset="0"/>
                <a:ea typeface="Calibri" pitchFamily="34" charset="-122"/>
                <a:cs typeface="Calibri" pitchFamily="34" charset="-120"/>
              </a:rPr>
              <a:t>FunctionAgent</a:t>
            </a:r>
            <a:endParaRPr lang="en-US" sz="1300" dirty="0"/>
          </a:p>
        </p:txBody>
      </p:sp>
      <p:sp>
        <p:nvSpPr>
          <p:cNvPr id="19" name="Text 14"/>
          <p:cNvSpPr/>
          <p:nvPr/>
        </p:nvSpPr>
        <p:spPr>
          <a:xfrm>
            <a:off x="3566160" y="2103120"/>
            <a:ext cx="2240280" cy="868680"/>
          </a:xfrm>
          <a:prstGeom prst="rect">
            <a:avLst/>
          </a:prstGeom>
          <a:noFill/>
          <a:ln/>
        </p:spPr>
        <p:txBody>
          <a:bodyPr wrap="square" lIns="0" tIns="0" rIns="0" bIns="0" rtlCol="0" anchor="t"/>
          <a:lstStyle/>
          <a:p>
            <a:pPr algn="l" indent="0" marL="0">
              <a:buNone/>
            </a:pPr>
            <a:r>
              <a:rPr lang="en-US" sz="1050" dirty="0">
                <a:solidFill>
                  <a:srgbClr val="9DB5AD"/>
                </a:solidFill>
                <a:latin typeface="Calibri" pitchFamily="34" charset="0"/>
                <a:ea typeface="Calibri" pitchFamily="34" charset="-122"/>
                <a:cs typeface="Calibri" pitchFamily="34" charset="-120"/>
              </a:rPr>
              <a:t>Plans, searches and reasons for open-ended research</a:t>
            </a:r>
            <a:endParaRPr lang="en-US" sz="1050" dirty="0"/>
          </a:p>
        </p:txBody>
      </p:sp>
      <p:sp>
        <p:nvSpPr>
          <p:cNvPr id="20" name="Shape 15"/>
          <p:cNvSpPr/>
          <p:nvPr/>
        </p:nvSpPr>
        <p:spPr>
          <a:xfrm>
            <a:off x="6153912" y="1325880"/>
            <a:ext cx="2697480" cy="1737360"/>
          </a:xfrm>
          <a:prstGeom prst="roundRect">
            <a:avLst>
              <a:gd name="adj" fmla="val 4211"/>
            </a:avLst>
          </a:prstGeom>
          <a:solidFill>
            <a:srgbClr val="0B2E27"/>
          </a:solidFill>
          <a:ln w="12700">
            <a:solidFill>
              <a:srgbClr val="1D4A3F"/>
            </a:solidFill>
            <a:prstDash val="solid"/>
          </a:ln>
        </p:spPr>
      </p:sp>
      <p:sp>
        <p:nvSpPr>
          <p:cNvPr id="21" name="Shape 16"/>
          <p:cNvSpPr/>
          <p:nvPr/>
        </p:nvSpPr>
        <p:spPr>
          <a:xfrm>
            <a:off x="6300216" y="1490472"/>
            <a:ext cx="475488" cy="475488"/>
          </a:xfrm>
          <a:prstGeom prst="ellipse">
            <a:avLst/>
          </a:prstGeom>
          <a:solidFill>
            <a:srgbClr val="2B776D"/>
          </a:solidFill>
          <a:ln w="12700">
            <a:solidFill>
              <a:srgbClr val="2B776D"/>
            </a:solidFill>
            <a:prstDash val="solid"/>
          </a:ln>
        </p:spPr>
      </p:sp>
      <p:pic>
        <p:nvPicPr>
          <p:cNvPr id="22" name="Image 3" descr="/home/claude/evidenceops/icons/search_white.png">    </p:cNvPr>
          <p:cNvPicPr>
            <a:picLocks noChangeAspect="1"/>
          </p:cNvPicPr>
          <p:nvPr/>
        </p:nvPicPr>
        <p:blipFill>
          <a:blip r:embed="rId4"/>
          <a:stretch>
            <a:fillRect/>
          </a:stretch>
        </p:blipFill>
        <p:spPr>
          <a:xfrm>
            <a:off x="6409578" y="1599834"/>
            <a:ext cx="256764" cy="256764"/>
          </a:xfrm>
          <a:prstGeom prst="rect">
            <a:avLst/>
          </a:prstGeom>
        </p:spPr>
      </p:pic>
      <p:sp>
        <p:nvSpPr>
          <p:cNvPr id="23" name="Text 17"/>
          <p:cNvSpPr/>
          <p:nvPr/>
        </p:nvSpPr>
        <p:spPr>
          <a:xfrm>
            <a:off x="6867144" y="1490472"/>
            <a:ext cx="1874520" cy="475488"/>
          </a:xfrm>
          <a:prstGeom prst="rect">
            <a:avLst/>
          </a:prstGeom>
          <a:noFill/>
          <a:ln/>
        </p:spPr>
        <p:txBody>
          <a:bodyPr wrap="square" lIns="0" tIns="0" rIns="0" bIns="0" rtlCol="0" anchor="ctr"/>
          <a:lstStyle/>
          <a:p>
            <a:pPr algn="l" indent="0" marL="0">
              <a:buNone/>
            </a:pPr>
            <a:r>
              <a:rPr lang="en-US" sz="1300" b="1" dirty="0">
                <a:solidFill>
                  <a:srgbClr val="F2F7F4"/>
                </a:solidFill>
                <a:latin typeface="Calibri" pitchFamily="34" charset="0"/>
                <a:ea typeface="Calibri" pitchFamily="34" charset="-122"/>
                <a:cs typeface="Calibri" pitchFamily="34" charset="-120"/>
              </a:rPr>
              <a:t>Knowledge base search</a:t>
            </a:r>
            <a:endParaRPr lang="en-US" sz="1300" dirty="0"/>
          </a:p>
        </p:txBody>
      </p:sp>
      <p:sp>
        <p:nvSpPr>
          <p:cNvPr id="24" name="Text 18"/>
          <p:cNvSpPr/>
          <p:nvPr/>
        </p:nvSpPr>
        <p:spPr>
          <a:xfrm>
            <a:off x="6382512" y="2103120"/>
            <a:ext cx="2240280" cy="868680"/>
          </a:xfrm>
          <a:prstGeom prst="rect">
            <a:avLst/>
          </a:prstGeom>
          <a:noFill/>
          <a:ln/>
        </p:spPr>
        <p:txBody>
          <a:bodyPr wrap="square" lIns="0" tIns="0" rIns="0" bIns="0" rtlCol="0" anchor="t"/>
          <a:lstStyle/>
          <a:p>
            <a:pPr algn="l" indent="0" marL="0">
              <a:buNone/>
            </a:pPr>
            <a:r>
              <a:rPr lang="en-US" sz="1050" dirty="0">
                <a:solidFill>
                  <a:srgbClr val="9DB5AD"/>
                </a:solidFill>
                <a:latin typeface="Calibri" pitchFamily="34" charset="0"/>
                <a:ea typeface="Calibri" pitchFamily="34" charset="-122"/>
                <a:cs typeface="Calibri" pitchFamily="34" charset="-120"/>
              </a:rPr>
              <a:t>Retrieves passages from the indexed evidence</a:t>
            </a:r>
            <a:endParaRPr lang="en-US" sz="1050" dirty="0"/>
          </a:p>
        </p:txBody>
      </p:sp>
      <p:sp>
        <p:nvSpPr>
          <p:cNvPr id="25" name="Shape 19"/>
          <p:cNvSpPr/>
          <p:nvPr/>
        </p:nvSpPr>
        <p:spPr>
          <a:xfrm>
            <a:off x="8970264" y="1325880"/>
            <a:ext cx="2697480" cy="1737360"/>
          </a:xfrm>
          <a:prstGeom prst="roundRect">
            <a:avLst>
              <a:gd name="adj" fmla="val 4211"/>
            </a:avLst>
          </a:prstGeom>
          <a:solidFill>
            <a:srgbClr val="0B2E27"/>
          </a:solidFill>
          <a:ln w="12700">
            <a:solidFill>
              <a:srgbClr val="1D4A3F"/>
            </a:solidFill>
            <a:prstDash val="solid"/>
          </a:ln>
        </p:spPr>
      </p:sp>
      <p:sp>
        <p:nvSpPr>
          <p:cNvPr id="26" name="Shape 20"/>
          <p:cNvSpPr/>
          <p:nvPr/>
        </p:nvSpPr>
        <p:spPr>
          <a:xfrm>
            <a:off x="9116568" y="1490472"/>
            <a:ext cx="475488" cy="475488"/>
          </a:xfrm>
          <a:prstGeom prst="ellipse">
            <a:avLst/>
          </a:prstGeom>
          <a:solidFill>
            <a:srgbClr val="2B776D"/>
          </a:solidFill>
          <a:ln w="12700">
            <a:solidFill>
              <a:srgbClr val="2B776D"/>
            </a:solidFill>
            <a:prstDash val="solid"/>
          </a:ln>
        </p:spPr>
      </p:sp>
      <p:pic>
        <p:nvPicPr>
          <p:cNvPr id="27" name="Image 4" descr="/home/claude/evidenceops/icons/layers_white.png">    </p:cNvPr>
          <p:cNvPicPr>
            <a:picLocks noChangeAspect="1"/>
          </p:cNvPicPr>
          <p:nvPr/>
        </p:nvPicPr>
        <p:blipFill>
          <a:blip r:embed="rId5"/>
          <a:stretch>
            <a:fillRect/>
          </a:stretch>
        </p:blipFill>
        <p:spPr>
          <a:xfrm>
            <a:off x="9225930" y="1599834"/>
            <a:ext cx="256764" cy="256764"/>
          </a:xfrm>
          <a:prstGeom prst="rect">
            <a:avLst/>
          </a:prstGeom>
        </p:spPr>
      </p:pic>
      <p:sp>
        <p:nvSpPr>
          <p:cNvPr id="28" name="Text 21"/>
          <p:cNvSpPr/>
          <p:nvPr/>
        </p:nvSpPr>
        <p:spPr>
          <a:xfrm>
            <a:off x="9683496" y="1490472"/>
            <a:ext cx="1874520" cy="475488"/>
          </a:xfrm>
          <a:prstGeom prst="rect">
            <a:avLst/>
          </a:prstGeom>
          <a:noFill/>
          <a:ln/>
        </p:spPr>
        <p:txBody>
          <a:bodyPr wrap="square" lIns="0" tIns="0" rIns="0" bIns="0" rtlCol="0" anchor="ctr"/>
          <a:lstStyle/>
          <a:p>
            <a:pPr algn="l" indent="0" marL="0">
              <a:buNone/>
            </a:pPr>
            <a:r>
              <a:rPr lang="en-US" sz="1300" b="1" dirty="0">
                <a:solidFill>
                  <a:srgbClr val="F2F7F4"/>
                </a:solidFill>
                <a:latin typeface="Calibri" pitchFamily="34" charset="0"/>
                <a:ea typeface="Calibri" pitchFamily="34" charset="-122"/>
                <a:cs typeface="Calibri" pitchFamily="34" charset="-120"/>
              </a:rPr>
              <a:t>Parallel retrieval</a:t>
            </a:r>
            <a:endParaRPr lang="en-US" sz="1300" dirty="0"/>
          </a:p>
        </p:txBody>
      </p:sp>
      <p:sp>
        <p:nvSpPr>
          <p:cNvPr id="29" name="Text 22"/>
          <p:cNvSpPr/>
          <p:nvPr/>
        </p:nvSpPr>
        <p:spPr>
          <a:xfrm>
            <a:off x="9198864" y="2103120"/>
            <a:ext cx="2240280" cy="868680"/>
          </a:xfrm>
          <a:prstGeom prst="rect">
            <a:avLst/>
          </a:prstGeom>
          <a:noFill/>
          <a:ln/>
        </p:spPr>
        <p:txBody>
          <a:bodyPr wrap="square" lIns="0" tIns="0" rIns="0" bIns="0" rtlCol="0" anchor="t"/>
          <a:lstStyle/>
          <a:p>
            <a:pPr algn="l" indent="0" marL="0">
              <a:buNone/>
            </a:pPr>
            <a:r>
              <a:rPr lang="en-US" sz="1050" dirty="0">
                <a:solidFill>
                  <a:srgbClr val="9DB5AD"/>
                </a:solidFill>
                <a:latin typeface="Calibri" pitchFamily="34" charset="0"/>
                <a:ea typeface="Calibri" pitchFamily="34" charset="-122"/>
                <a:cs typeface="Calibri" pitchFamily="34" charset="-120"/>
              </a:rPr>
              <a:t>Runs several searches at the same time</a:t>
            </a:r>
            <a:endParaRPr lang="en-US" sz="1050" dirty="0"/>
          </a:p>
        </p:txBody>
      </p:sp>
      <p:sp>
        <p:nvSpPr>
          <p:cNvPr id="30" name="Shape 23"/>
          <p:cNvSpPr/>
          <p:nvPr/>
        </p:nvSpPr>
        <p:spPr>
          <a:xfrm>
            <a:off x="1929384" y="3383280"/>
            <a:ext cx="2697480" cy="1737360"/>
          </a:xfrm>
          <a:prstGeom prst="roundRect">
            <a:avLst>
              <a:gd name="adj" fmla="val 4211"/>
            </a:avLst>
          </a:prstGeom>
          <a:solidFill>
            <a:srgbClr val="0B2E27"/>
          </a:solidFill>
          <a:ln w="12700">
            <a:solidFill>
              <a:srgbClr val="1D4A3F"/>
            </a:solidFill>
            <a:prstDash val="solid"/>
          </a:ln>
        </p:spPr>
      </p:sp>
      <p:sp>
        <p:nvSpPr>
          <p:cNvPr id="31" name="Shape 24"/>
          <p:cNvSpPr/>
          <p:nvPr/>
        </p:nvSpPr>
        <p:spPr>
          <a:xfrm>
            <a:off x="2075688" y="3547872"/>
            <a:ext cx="475488" cy="475488"/>
          </a:xfrm>
          <a:prstGeom prst="ellipse">
            <a:avLst/>
          </a:prstGeom>
          <a:solidFill>
            <a:srgbClr val="2B776D"/>
          </a:solidFill>
          <a:ln w="12700">
            <a:solidFill>
              <a:srgbClr val="2B776D"/>
            </a:solidFill>
            <a:prstDash val="solid"/>
          </a:ln>
        </p:spPr>
      </p:sp>
      <p:pic>
        <p:nvPicPr>
          <p:cNvPr id="32" name="Image 5" descr="/home/claude/evidenceops/icons/filetext_white.png">    </p:cNvPr>
          <p:cNvPicPr>
            <a:picLocks noChangeAspect="1"/>
          </p:cNvPicPr>
          <p:nvPr/>
        </p:nvPicPr>
        <p:blipFill>
          <a:blip r:embed="rId6"/>
          <a:stretch>
            <a:fillRect/>
          </a:stretch>
        </p:blipFill>
        <p:spPr>
          <a:xfrm>
            <a:off x="2185050" y="3657234"/>
            <a:ext cx="256764" cy="256764"/>
          </a:xfrm>
          <a:prstGeom prst="rect">
            <a:avLst/>
          </a:prstGeom>
        </p:spPr>
      </p:pic>
      <p:sp>
        <p:nvSpPr>
          <p:cNvPr id="33" name="Text 25"/>
          <p:cNvSpPr/>
          <p:nvPr/>
        </p:nvSpPr>
        <p:spPr>
          <a:xfrm>
            <a:off x="2642616" y="3547872"/>
            <a:ext cx="1874520" cy="475488"/>
          </a:xfrm>
          <a:prstGeom prst="rect">
            <a:avLst/>
          </a:prstGeom>
          <a:noFill/>
          <a:ln/>
        </p:spPr>
        <p:txBody>
          <a:bodyPr wrap="square" lIns="0" tIns="0" rIns="0" bIns="0" rtlCol="0" anchor="ctr"/>
          <a:lstStyle/>
          <a:p>
            <a:pPr algn="l" indent="0" marL="0">
              <a:buNone/>
            </a:pPr>
            <a:r>
              <a:rPr lang="en-US" sz="1300" b="1" dirty="0">
                <a:solidFill>
                  <a:srgbClr val="F2F7F4"/>
                </a:solidFill>
                <a:latin typeface="Calibri" pitchFamily="34" charset="0"/>
                <a:ea typeface="Calibri" pitchFamily="34" charset="-122"/>
                <a:cs typeface="Calibri" pitchFamily="34" charset="-120"/>
              </a:rPr>
              <a:t>LLM synthesis</a:t>
            </a:r>
            <a:endParaRPr lang="en-US" sz="1300" dirty="0"/>
          </a:p>
        </p:txBody>
      </p:sp>
      <p:sp>
        <p:nvSpPr>
          <p:cNvPr id="34" name="Text 26"/>
          <p:cNvSpPr/>
          <p:nvPr/>
        </p:nvSpPr>
        <p:spPr>
          <a:xfrm>
            <a:off x="2157984" y="4160520"/>
            <a:ext cx="2240280" cy="868680"/>
          </a:xfrm>
          <a:prstGeom prst="rect">
            <a:avLst/>
          </a:prstGeom>
          <a:noFill/>
          <a:ln/>
        </p:spPr>
        <p:txBody>
          <a:bodyPr wrap="square" lIns="0" tIns="0" rIns="0" bIns="0" rtlCol="0" anchor="t"/>
          <a:lstStyle/>
          <a:p>
            <a:pPr algn="l" indent="0" marL="0">
              <a:buNone/>
            </a:pPr>
            <a:r>
              <a:rPr lang="en-US" sz="1050" dirty="0">
                <a:solidFill>
                  <a:srgbClr val="9DB5AD"/>
                </a:solidFill>
                <a:latin typeface="Calibri" pitchFamily="34" charset="0"/>
                <a:ea typeface="Calibri" pitchFamily="34" charset="-122"/>
                <a:cs typeface="Calibri" pitchFamily="34" charset="-120"/>
              </a:rPr>
              <a:t>Writes the draft from retrieved passages</a:t>
            </a:r>
            <a:endParaRPr lang="en-US" sz="1050" dirty="0"/>
          </a:p>
        </p:txBody>
      </p:sp>
      <p:sp>
        <p:nvSpPr>
          <p:cNvPr id="35" name="Shape 27"/>
          <p:cNvSpPr/>
          <p:nvPr/>
        </p:nvSpPr>
        <p:spPr>
          <a:xfrm>
            <a:off x="4745736" y="3383280"/>
            <a:ext cx="2697480" cy="1737360"/>
          </a:xfrm>
          <a:prstGeom prst="roundRect">
            <a:avLst>
              <a:gd name="adj" fmla="val 4211"/>
            </a:avLst>
          </a:prstGeom>
          <a:solidFill>
            <a:srgbClr val="0B2E27"/>
          </a:solidFill>
          <a:ln w="12700">
            <a:solidFill>
              <a:srgbClr val="1D4A3F"/>
            </a:solidFill>
            <a:prstDash val="solid"/>
          </a:ln>
        </p:spPr>
      </p:sp>
      <p:sp>
        <p:nvSpPr>
          <p:cNvPr id="36" name="Shape 28"/>
          <p:cNvSpPr/>
          <p:nvPr/>
        </p:nvSpPr>
        <p:spPr>
          <a:xfrm>
            <a:off x="4892040" y="3547872"/>
            <a:ext cx="475488" cy="475488"/>
          </a:xfrm>
          <a:prstGeom prst="ellipse">
            <a:avLst/>
          </a:prstGeom>
          <a:solidFill>
            <a:srgbClr val="2B776D"/>
          </a:solidFill>
          <a:ln w="12700">
            <a:solidFill>
              <a:srgbClr val="2B776D"/>
            </a:solidFill>
            <a:prstDash val="solid"/>
          </a:ln>
        </p:spPr>
      </p:sp>
      <p:pic>
        <p:nvPicPr>
          <p:cNvPr id="37" name="Image 6" descr="/home/claude/evidenceops/icons/usercheck_white.png">    </p:cNvPr>
          <p:cNvPicPr>
            <a:picLocks noChangeAspect="1"/>
          </p:cNvPicPr>
          <p:nvPr/>
        </p:nvPicPr>
        <p:blipFill>
          <a:blip r:embed="rId7"/>
          <a:stretch>
            <a:fillRect/>
          </a:stretch>
        </p:blipFill>
        <p:spPr>
          <a:xfrm>
            <a:off x="5001402" y="3657234"/>
            <a:ext cx="256764" cy="256764"/>
          </a:xfrm>
          <a:prstGeom prst="rect">
            <a:avLst/>
          </a:prstGeom>
        </p:spPr>
      </p:pic>
      <p:sp>
        <p:nvSpPr>
          <p:cNvPr id="38" name="Text 29"/>
          <p:cNvSpPr/>
          <p:nvPr/>
        </p:nvSpPr>
        <p:spPr>
          <a:xfrm>
            <a:off x="5458968" y="3547872"/>
            <a:ext cx="1874520" cy="475488"/>
          </a:xfrm>
          <a:prstGeom prst="rect">
            <a:avLst/>
          </a:prstGeom>
          <a:noFill/>
          <a:ln/>
        </p:spPr>
        <p:txBody>
          <a:bodyPr wrap="square" lIns="0" tIns="0" rIns="0" bIns="0" rtlCol="0" anchor="ctr"/>
          <a:lstStyle/>
          <a:p>
            <a:pPr algn="l" indent="0" marL="0">
              <a:buNone/>
            </a:pPr>
            <a:r>
              <a:rPr lang="en-US" sz="1300" b="1" dirty="0">
                <a:solidFill>
                  <a:srgbClr val="F2F7F4"/>
                </a:solidFill>
                <a:latin typeface="Calibri" pitchFamily="34" charset="0"/>
                <a:ea typeface="Calibri" pitchFamily="34" charset="-122"/>
                <a:cs typeface="Calibri" pitchFamily="34" charset="-120"/>
              </a:rPr>
              <a:t>Report approval</a:t>
            </a:r>
            <a:endParaRPr lang="en-US" sz="1300" dirty="0"/>
          </a:p>
        </p:txBody>
      </p:sp>
      <p:sp>
        <p:nvSpPr>
          <p:cNvPr id="39" name="Text 30"/>
          <p:cNvSpPr/>
          <p:nvPr/>
        </p:nvSpPr>
        <p:spPr>
          <a:xfrm>
            <a:off x="4974336" y="4160520"/>
            <a:ext cx="2240280" cy="868680"/>
          </a:xfrm>
          <a:prstGeom prst="rect">
            <a:avLst/>
          </a:prstGeom>
          <a:noFill/>
          <a:ln/>
        </p:spPr>
        <p:txBody>
          <a:bodyPr wrap="square" lIns="0" tIns="0" rIns="0" bIns="0" rtlCol="0" anchor="t"/>
          <a:lstStyle/>
          <a:p>
            <a:pPr algn="l" indent="0" marL="0">
              <a:buNone/>
            </a:pPr>
            <a:r>
              <a:rPr lang="en-US" sz="1050" dirty="0">
                <a:solidFill>
                  <a:srgbClr val="9DB5AD"/>
                </a:solidFill>
                <a:latin typeface="Calibri" pitchFamily="34" charset="0"/>
                <a:ea typeface="Calibri" pitchFamily="34" charset="-122"/>
                <a:cs typeface="Calibri" pitchFamily="34" charset="-120"/>
              </a:rPr>
              <a:t>A person reviews and explicitly approves</a:t>
            </a:r>
            <a:endParaRPr lang="en-US" sz="1050" dirty="0"/>
          </a:p>
        </p:txBody>
      </p:sp>
      <p:sp>
        <p:nvSpPr>
          <p:cNvPr id="40" name="Shape 31"/>
          <p:cNvSpPr/>
          <p:nvPr/>
        </p:nvSpPr>
        <p:spPr>
          <a:xfrm>
            <a:off x="7562088" y="3383280"/>
            <a:ext cx="2697480" cy="1737360"/>
          </a:xfrm>
          <a:prstGeom prst="roundRect">
            <a:avLst>
              <a:gd name="adj" fmla="val 4211"/>
            </a:avLst>
          </a:prstGeom>
          <a:solidFill>
            <a:srgbClr val="0B2E27"/>
          </a:solidFill>
          <a:ln w="12700">
            <a:solidFill>
              <a:srgbClr val="1D4A3F"/>
            </a:solidFill>
            <a:prstDash val="solid"/>
          </a:ln>
        </p:spPr>
      </p:sp>
      <p:sp>
        <p:nvSpPr>
          <p:cNvPr id="41" name="Shape 32"/>
          <p:cNvSpPr/>
          <p:nvPr/>
        </p:nvSpPr>
        <p:spPr>
          <a:xfrm>
            <a:off x="7708392" y="3547872"/>
            <a:ext cx="475488" cy="475488"/>
          </a:xfrm>
          <a:prstGeom prst="ellipse">
            <a:avLst/>
          </a:prstGeom>
          <a:solidFill>
            <a:srgbClr val="2B776D"/>
          </a:solidFill>
          <a:ln w="12700">
            <a:solidFill>
              <a:srgbClr val="2B776D"/>
            </a:solidFill>
            <a:prstDash val="solid"/>
          </a:ln>
        </p:spPr>
      </p:sp>
      <p:pic>
        <p:nvPicPr>
          <p:cNvPr id="42" name="Image 7" descr="/home/claude/evidenceops/icons/database_white.png">    </p:cNvPr>
          <p:cNvPicPr>
            <a:picLocks noChangeAspect="1"/>
          </p:cNvPicPr>
          <p:nvPr/>
        </p:nvPicPr>
        <p:blipFill>
          <a:blip r:embed="rId8"/>
          <a:stretch>
            <a:fillRect/>
          </a:stretch>
        </p:blipFill>
        <p:spPr>
          <a:xfrm>
            <a:off x="7817754" y="3657234"/>
            <a:ext cx="256764" cy="256764"/>
          </a:xfrm>
          <a:prstGeom prst="rect">
            <a:avLst/>
          </a:prstGeom>
        </p:spPr>
      </p:pic>
      <p:sp>
        <p:nvSpPr>
          <p:cNvPr id="43" name="Text 33"/>
          <p:cNvSpPr/>
          <p:nvPr/>
        </p:nvSpPr>
        <p:spPr>
          <a:xfrm>
            <a:off x="8275320" y="3547872"/>
            <a:ext cx="1874520" cy="475488"/>
          </a:xfrm>
          <a:prstGeom prst="rect">
            <a:avLst/>
          </a:prstGeom>
          <a:noFill/>
          <a:ln/>
        </p:spPr>
        <p:txBody>
          <a:bodyPr wrap="square" lIns="0" tIns="0" rIns="0" bIns="0" rtlCol="0" anchor="ctr"/>
          <a:lstStyle/>
          <a:p>
            <a:pPr algn="l" indent="0" marL="0">
              <a:buNone/>
            </a:pPr>
            <a:r>
              <a:rPr lang="en-US" sz="1300" b="1" dirty="0">
                <a:solidFill>
                  <a:srgbClr val="F2F7F4"/>
                </a:solidFill>
                <a:latin typeface="Calibri" pitchFamily="34" charset="0"/>
                <a:ea typeface="Calibri" pitchFamily="34" charset="-122"/>
                <a:cs typeface="Calibri" pitchFamily="34" charset="-120"/>
              </a:rPr>
              <a:t>Save report</a:t>
            </a:r>
            <a:endParaRPr lang="en-US" sz="1300" dirty="0"/>
          </a:p>
        </p:txBody>
      </p:sp>
      <p:sp>
        <p:nvSpPr>
          <p:cNvPr id="44" name="Text 34"/>
          <p:cNvSpPr/>
          <p:nvPr/>
        </p:nvSpPr>
        <p:spPr>
          <a:xfrm>
            <a:off x="7790688" y="4160520"/>
            <a:ext cx="2240280" cy="868680"/>
          </a:xfrm>
          <a:prstGeom prst="rect">
            <a:avLst/>
          </a:prstGeom>
          <a:noFill/>
          <a:ln/>
        </p:spPr>
        <p:txBody>
          <a:bodyPr wrap="square" lIns="0" tIns="0" rIns="0" bIns="0" rtlCol="0" anchor="t"/>
          <a:lstStyle/>
          <a:p>
            <a:pPr algn="l" indent="0" marL="0">
              <a:buNone/>
            </a:pPr>
            <a:r>
              <a:rPr lang="en-US" sz="1050" dirty="0">
                <a:solidFill>
                  <a:srgbClr val="9DB5AD"/>
                </a:solidFill>
                <a:latin typeface="Calibri" pitchFamily="34" charset="0"/>
                <a:ea typeface="Calibri" pitchFamily="34" charset="-122"/>
                <a:cs typeface="Calibri" pitchFamily="34" charset="-120"/>
              </a:rPr>
              <a:t>Persists the approved draft with its audit trail</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The problem: every question became an agent run</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Uniform routing made the simplest questions pay the highest price.</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4</a:t>
            </a:r>
            <a:endParaRPr lang="en-US" sz="850" dirty="0"/>
          </a:p>
        </p:txBody>
      </p:sp>
      <p:sp>
        <p:nvSpPr>
          <p:cNvPr id="10" name="Text 7"/>
          <p:cNvSpPr/>
          <p:nvPr/>
        </p:nvSpPr>
        <p:spPr>
          <a:xfrm>
            <a:off x="548640" y="1097280"/>
            <a:ext cx="11064240" cy="365760"/>
          </a:xfrm>
          <a:prstGeom prst="rect">
            <a:avLst/>
          </a:prstGeom>
          <a:noFill/>
          <a:ln/>
        </p:spPr>
        <p:txBody>
          <a:bodyPr wrap="square" lIns="0" tIns="0" rIns="0" bIns="0" rtlCol="0" anchor="t"/>
          <a:lstStyle/>
          <a:p>
            <a:pPr algn="l" indent="0" marL="0">
              <a:buNone/>
            </a:pPr>
            <a:r>
              <a:rPr lang="en-US" sz="1300" dirty="0">
                <a:solidFill>
                  <a:srgbClr val="CFE0DA"/>
                </a:solidFill>
                <a:latin typeface="Calibri" pitchFamily="34" charset="0"/>
                <a:ea typeface="Calibri" pitchFamily="34" charset="-122"/>
                <a:cs typeface="Calibri" pitchFamily="34" charset="-120"/>
              </a:rPr>
              <a:t>The original orchestrator sent every request to the FunctionAgent, whatever its shape.</a:t>
            </a:r>
            <a:endParaRPr lang="en-US" sz="1300" dirty="0"/>
          </a:p>
        </p:txBody>
      </p:sp>
      <p:sp>
        <p:nvSpPr>
          <p:cNvPr id="11" name="Shape 8"/>
          <p:cNvSpPr/>
          <p:nvPr/>
        </p:nvSpPr>
        <p:spPr>
          <a:xfrm>
            <a:off x="548640" y="1691640"/>
            <a:ext cx="4160520" cy="603504"/>
          </a:xfrm>
          <a:prstGeom prst="roundRect">
            <a:avLst>
              <a:gd name="adj" fmla="val 13636"/>
            </a:avLst>
          </a:prstGeom>
          <a:solidFill>
            <a:srgbClr val="0B2E27"/>
          </a:solidFill>
          <a:ln w="12700">
            <a:solidFill>
              <a:srgbClr val="1D4A3F"/>
            </a:solidFill>
            <a:prstDash val="solid"/>
          </a:ln>
        </p:spPr>
      </p:sp>
      <p:sp>
        <p:nvSpPr>
          <p:cNvPr id="12" name="Text 9"/>
          <p:cNvSpPr/>
          <p:nvPr/>
        </p:nvSpPr>
        <p:spPr>
          <a:xfrm>
            <a:off x="621792" y="1691640"/>
            <a:ext cx="4014216" cy="603504"/>
          </a:xfrm>
          <a:prstGeom prst="rect">
            <a:avLst/>
          </a:prstGeom>
          <a:noFill/>
          <a:ln/>
        </p:spPr>
        <p:txBody>
          <a:bodyPr wrap="square" lIns="635" tIns="635" rIns="635" bIns="635" rtlCol="0" anchor="ctr"/>
          <a:lstStyle/>
          <a:p>
            <a:pPr algn="l" indent="0" marL="0">
              <a:buNone/>
            </a:pPr>
            <a:r>
              <a:rPr lang="en-US" sz="1000" dirty="0">
                <a:solidFill>
                  <a:srgbClr val="E3CB9A"/>
                </a:solidFill>
                <a:latin typeface="Courier New" pitchFamily="34" charset="0"/>
                <a:ea typeface="Courier New" pitchFamily="34" charset="-122"/>
                <a:cs typeface="Courier New" pitchFamily="34" charset="-120"/>
              </a:rPr>
              <a:t>“Who are you?”</a:t>
            </a:r>
            <a:endParaRPr lang="en-US" sz="1000" dirty="0"/>
          </a:p>
        </p:txBody>
      </p:sp>
      <p:sp>
        <p:nvSpPr>
          <p:cNvPr id="13" name="Text 10"/>
          <p:cNvSpPr/>
          <p:nvPr/>
        </p:nvSpPr>
        <p:spPr>
          <a:xfrm>
            <a:off x="548640" y="2295144"/>
            <a:ext cx="4160520" cy="256032"/>
          </a:xfrm>
          <a:prstGeom prst="rect">
            <a:avLst/>
          </a:prstGeom>
          <a:noFill/>
          <a:ln/>
        </p:spPr>
        <p:txBody>
          <a:bodyPr wrap="square" lIns="0" tIns="0" rIns="0" bIns="0" rtlCol="0" anchor="t"/>
          <a:lstStyle/>
          <a:p>
            <a:pPr algn="l" indent="0" marL="0">
              <a:buNone/>
            </a:pPr>
            <a:r>
              <a:rPr lang="en-US" sz="950" dirty="0">
                <a:solidFill>
                  <a:srgbClr val="9DB5AD"/>
                </a:solidFill>
                <a:latin typeface="Calibri" pitchFamily="34" charset="0"/>
                <a:ea typeface="Calibri" pitchFamily="34" charset="-122"/>
                <a:cs typeface="Calibri" pitchFamily="34" charset="-120"/>
              </a:rPr>
              <a:t>identity</a:t>
            </a:r>
            <a:endParaRPr lang="en-US" sz="950" dirty="0"/>
          </a:p>
        </p:txBody>
      </p:sp>
      <p:sp>
        <p:nvSpPr>
          <p:cNvPr id="14" name="Shape 11"/>
          <p:cNvSpPr/>
          <p:nvPr/>
        </p:nvSpPr>
        <p:spPr>
          <a:xfrm>
            <a:off x="4800600" y="1993392"/>
            <a:ext cx="1234440" cy="1005840"/>
          </a:xfrm>
          <a:prstGeom prst="line">
            <a:avLst/>
          </a:prstGeom>
          <a:noFill/>
          <a:ln w="17780">
            <a:solidFill>
              <a:srgbClr val="6F8F85"/>
            </a:solidFill>
            <a:prstDash val="solid"/>
            <a:tailEnd type="triangle"/>
          </a:ln>
        </p:spPr>
      </p:sp>
      <p:sp>
        <p:nvSpPr>
          <p:cNvPr id="15" name="Shape 12"/>
          <p:cNvSpPr/>
          <p:nvPr/>
        </p:nvSpPr>
        <p:spPr>
          <a:xfrm>
            <a:off x="548640" y="2606040"/>
            <a:ext cx="4160520" cy="603504"/>
          </a:xfrm>
          <a:prstGeom prst="roundRect">
            <a:avLst>
              <a:gd name="adj" fmla="val 13636"/>
            </a:avLst>
          </a:prstGeom>
          <a:solidFill>
            <a:srgbClr val="0B2E27"/>
          </a:solidFill>
          <a:ln w="12700">
            <a:solidFill>
              <a:srgbClr val="1D4A3F"/>
            </a:solidFill>
            <a:prstDash val="solid"/>
          </a:ln>
        </p:spPr>
      </p:sp>
      <p:sp>
        <p:nvSpPr>
          <p:cNvPr id="16" name="Text 13"/>
          <p:cNvSpPr/>
          <p:nvPr/>
        </p:nvSpPr>
        <p:spPr>
          <a:xfrm>
            <a:off x="621792" y="2606040"/>
            <a:ext cx="4014216" cy="603504"/>
          </a:xfrm>
          <a:prstGeom prst="rect">
            <a:avLst/>
          </a:prstGeom>
          <a:noFill/>
          <a:ln/>
        </p:spPr>
        <p:txBody>
          <a:bodyPr wrap="square" lIns="635" tIns="635" rIns="635" bIns="635" rtlCol="0" anchor="ctr"/>
          <a:lstStyle/>
          <a:p>
            <a:pPr algn="l" indent="0" marL="0">
              <a:buNone/>
            </a:pPr>
            <a:r>
              <a:rPr lang="en-US" sz="1000" dirty="0">
                <a:solidFill>
                  <a:srgbClr val="E3CB9A"/>
                </a:solidFill>
                <a:latin typeface="Courier New" pitchFamily="34" charset="0"/>
                <a:ea typeface="Courier New" pitchFamily="34" charset="-122"/>
                <a:cs typeface="Courier New" pitchFamily="34" charset="-120"/>
              </a:rPr>
              <a:t>“Explain OWASP LLM Top 10”</a:t>
            </a:r>
            <a:endParaRPr lang="en-US" sz="1000" dirty="0"/>
          </a:p>
        </p:txBody>
      </p:sp>
      <p:sp>
        <p:nvSpPr>
          <p:cNvPr id="17" name="Text 14"/>
          <p:cNvSpPr/>
          <p:nvPr/>
        </p:nvSpPr>
        <p:spPr>
          <a:xfrm>
            <a:off x="548640" y="3209544"/>
            <a:ext cx="4160520" cy="256032"/>
          </a:xfrm>
          <a:prstGeom prst="rect">
            <a:avLst/>
          </a:prstGeom>
          <a:noFill/>
          <a:ln/>
        </p:spPr>
        <p:txBody>
          <a:bodyPr wrap="square" lIns="0" tIns="0" rIns="0" bIns="0" rtlCol="0" anchor="t"/>
          <a:lstStyle/>
          <a:p>
            <a:pPr algn="l" indent="0" marL="0">
              <a:buNone/>
            </a:pPr>
            <a:r>
              <a:rPr lang="en-US" sz="950" dirty="0">
                <a:solidFill>
                  <a:srgbClr val="9DB5AD"/>
                </a:solidFill>
                <a:latin typeface="Calibri" pitchFamily="34" charset="0"/>
                <a:ea typeface="Calibri" pitchFamily="34" charset="-122"/>
                <a:cs typeface="Calibri" pitchFamily="34" charset="-120"/>
              </a:rPr>
              <a:t>simple lookup</a:t>
            </a:r>
            <a:endParaRPr lang="en-US" sz="950" dirty="0"/>
          </a:p>
        </p:txBody>
      </p:sp>
      <p:sp>
        <p:nvSpPr>
          <p:cNvPr id="18" name="Shape 15"/>
          <p:cNvSpPr/>
          <p:nvPr/>
        </p:nvSpPr>
        <p:spPr>
          <a:xfrm>
            <a:off x="4800600" y="2907792"/>
            <a:ext cx="1234440" cy="91440"/>
          </a:xfrm>
          <a:prstGeom prst="line">
            <a:avLst/>
          </a:prstGeom>
          <a:noFill/>
          <a:ln w="17780">
            <a:solidFill>
              <a:srgbClr val="6F8F85"/>
            </a:solidFill>
            <a:prstDash val="solid"/>
            <a:tailEnd type="triangle"/>
          </a:ln>
        </p:spPr>
      </p:sp>
      <p:sp>
        <p:nvSpPr>
          <p:cNvPr id="19" name="Shape 16"/>
          <p:cNvSpPr/>
          <p:nvPr/>
        </p:nvSpPr>
        <p:spPr>
          <a:xfrm>
            <a:off x="548640" y="3520440"/>
            <a:ext cx="4160520" cy="603504"/>
          </a:xfrm>
          <a:prstGeom prst="roundRect">
            <a:avLst>
              <a:gd name="adj" fmla="val 13636"/>
            </a:avLst>
          </a:prstGeom>
          <a:solidFill>
            <a:srgbClr val="0B2E27"/>
          </a:solidFill>
          <a:ln w="12700">
            <a:solidFill>
              <a:srgbClr val="1D4A3F"/>
            </a:solidFill>
            <a:prstDash val="solid"/>
          </a:ln>
        </p:spPr>
      </p:sp>
      <p:sp>
        <p:nvSpPr>
          <p:cNvPr id="20" name="Text 17"/>
          <p:cNvSpPr/>
          <p:nvPr/>
        </p:nvSpPr>
        <p:spPr>
          <a:xfrm>
            <a:off x="621792" y="3520440"/>
            <a:ext cx="4014216" cy="603504"/>
          </a:xfrm>
          <a:prstGeom prst="rect">
            <a:avLst/>
          </a:prstGeom>
          <a:noFill/>
          <a:ln/>
        </p:spPr>
        <p:txBody>
          <a:bodyPr wrap="square" lIns="635" tIns="635" rIns="635" bIns="635" rtlCol="0" anchor="ctr"/>
          <a:lstStyle/>
          <a:p>
            <a:pPr algn="l" indent="0" marL="0">
              <a:buNone/>
            </a:pPr>
            <a:r>
              <a:rPr lang="en-US" sz="1000" dirty="0">
                <a:solidFill>
                  <a:srgbClr val="E3CB9A"/>
                </a:solidFill>
                <a:latin typeface="Courier New" pitchFamily="34" charset="0"/>
                <a:ea typeface="Courier New" pitchFamily="34" charset="-122"/>
                <a:cs typeface="Courier New" pitchFamily="34" charset="-120"/>
              </a:rPr>
              <a:t>“How should an organization build an AI governance program?”</a:t>
            </a:r>
            <a:endParaRPr lang="en-US" sz="1000" dirty="0"/>
          </a:p>
        </p:txBody>
      </p:sp>
      <p:sp>
        <p:nvSpPr>
          <p:cNvPr id="21" name="Text 18"/>
          <p:cNvSpPr/>
          <p:nvPr/>
        </p:nvSpPr>
        <p:spPr>
          <a:xfrm>
            <a:off x="548640" y="4123944"/>
            <a:ext cx="4160520" cy="256032"/>
          </a:xfrm>
          <a:prstGeom prst="rect">
            <a:avLst/>
          </a:prstGeom>
          <a:noFill/>
          <a:ln/>
        </p:spPr>
        <p:txBody>
          <a:bodyPr wrap="square" lIns="0" tIns="0" rIns="0" bIns="0" rtlCol="0" anchor="t"/>
          <a:lstStyle/>
          <a:p>
            <a:pPr algn="l" indent="0" marL="0">
              <a:buNone/>
            </a:pPr>
            <a:r>
              <a:rPr lang="en-US" sz="950" dirty="0">
                <a:solidFill>
                  <a:srgbClr val="9DB5AD"/>
                </a:solidFill>
                <a:latin typeface="Calibri" pitchFamily="34" charset="0"/>
                <a:ea typeface="Calibri" pitchFamily="34" charset="-122"/>
                <a:cs typeface="Calibri" pitchFamily="34" charset="-120"/>
              </a:rPr>
              <a:t>open-ended</a:t>
            </a:r>
            <a:endParaRPr lang="en-US" sz="950" dirty="0"/>
          </a:p>
        </p:txBody>
      </p:sp>
      <p:sp>
        <p:nvSpPr>
          <p:cNvPr id="22" name="Shape 19"/>
          <p:cNvSpPr/>
          <p:nvPr/>
        </p:nvSpPr>
        <p:spPr>
          <a:xfrm flipV="1">
            <a:off x="4800600" y="2999232"/>
            <a:ext cx="1234440" cy="822960"/>
          </a:xfrm>
          <a:prstGeom prst="line">
            <a:avLst/>
          </a:prstGeom>
          <a:noFill/>
          <a:ln w="17780">
            <a:solidFill>
              <a:srgbClr val="6F8F85"/>
            </a:solidFill>
            <a:prstDash val="solid"/>
            <a:tailEnd type="triangle"/>
          </a:ln>
        </p:spPr>
      </p:sp>
      <p:sp>
        <p:nvSpPr>
          <p:cNvPr id="23" name="Shape 20"/>
          <p:cNvSpPr/>
          <p:nvPr/>
        </p:nvSpPr>
        <p:spPr>
          <a:xfrm>
            <a:off x="6126480" y="2468880"/>
            <a:ext cx="2286000" cy="1051560"/>
          </a:xfrm>
          <a:prstGeom prst="roundRect">
            <a:avLst>
              <a:gd name="adj" fmla="val 6087"/>
            </a:avLst>
          </a:prstGeom>
          <a:solidFill>
            <a:srgbClr val="2B776D"/>
          </a:solidFill>
          <a:ln w="12700">
            <a:solidFill>
              <a:srgbClr val="2B776D"/>
            </a:solidFill>
            <a:prstDash val="solid"/>
          </a:ln>
        </p:spPr>
      </p:sp>
      <p:sp>
        <p:nvSpPr>
          <p:cNvPr id="24" name="Text 21"/>
          <p:cNvSpPr/>
          <p:nvPr/>
        </p:nvSpPr>
        <p:spPr>
          <a:xfrm>
            <a:off x="6126480" y="2468880"/>
            <a:ext cx="2286000" cy="1051560"/>
          </a:xfrm>
          <a:prstGeom prst="rect">
            <a:avLst/>
          </a:prstGeom>
          <a:noFill/>
          <a:ln/>
        </p:spPr>
        <p:txBody>
          <a:bodyPr wrap="square" lIns="381" tIns="381" rIns="381" bIns="381"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FunctionAgent</a:t>
            </a:r>
            <a:endParaRPr lang="en-US" sz="1300" dirty="0"/>
          </a:p>
        </p:txBody>
      </p:sp>
      <p:sp>
        <p:nvSpPr>
          <p:cNvPr id="25" name="Shape 22"/>
          <p:cNvSpPr/>
          <p:nvPr/>
        </p:nvSpPr>
        <p:spPr>
          <a:xfrm>
            <a:off x="9326880" y="2468880"/>
            <a:ext cx="2286000" cy="1051560"/>
          </a:xfrm>
          <a:prstGeom prst="roundRect">
            <a:avLst>
              <a:gd name="adj" fmla="val 6087"/>
            </a:avLst>
          </a:prstGeom>
          <a:solidFill>
            <a:srgbClr val="0F3A31"/>
          </a:solidFill>
          <a:ln w="13970">
            <a:solidFill>
              <a:srgbClr val="1D4A3F"/>
            </a:solidFill>
            <a:prstDash val="solid"/>
          </a:ln>
        </p:spPr>
      </p:sp>
      <p:sp>
        <p:nvSpPr>
          <p:cNvPr id="26" name="Text 23"/>
          <p:cNvSpPr/>
          <p:nvPr/>
        </p:nvSpPr>
        <p:spPr>
          <a:xfrm>
            <a:off x="9326880" y="2468880"/>
            <a:ext cx="2286000" cy="1051560"/>
          </a:xfrm>
          <a:prstGeom prst="rect">
            <a:avLst/>
          </a:prstGeom>
          <a:noFill/>
          <a:ln/>
        </p:spPr>
        <p:txBody>
          <a:bodyPr wrap="square" lIns="381" tIns="381" rIns="381" bIns="381" rtlCol="0" anchor="ctr"/>
          <a:lstStyle/>
          <a:p>
            <a:pPr algn="ctr" indent="0" marL="0">
              <a:buNone/>
            </a:pPr>
            <a:r>
              <a:rPr lang="en-US" sz="1200" dirty="0">
                <a:solidFill>
                  <a:srgbClr val="F2F7F4"/>
                </a:solidFill>
                <a:latin typeface="Calibri" pitchFamily="34" charset="0"/>
                <a:ea typeface="Calibri" pitchFamily="34" charset="-122"/>
                <a:cs typeface="Calibri" pitchFamily="34" charset="-120"/>
              </a:rPr>
              <a:t>Knowledge base</a:t>
            </a:r>
            <a:endParaRPr lang="en-US" sz="1200" dirty="0"/>
          </a:p>
        </p:txBody>
      </p:sp>
      <p:sp>
        <p:nvSpPr>
          <p:cNvPr id="27" name="Shape 24"/>
          <p:cNvSpPr/>
          <p:nvPr/>
        </p:nvSpPr>
        <p:spPr>
          <a:xfrm>
            <a:off x="8485632" y="2788920"/>
            <a:ext cx="768096" cy="0"/>
          </a:xfrm>
          <a:prstGeom prst="line">
            <a:avLst/>
          </a:prstGeom>
          <a:noFill/>
          <a:ln w="21590">
            <a:solidFill>
              <a:srgbClr val="C29C55"/>
            </a:solidFill>
            <a:prstDash val="solid"/>
            <a:tailEnd type="triangle"/>
          </a:ln>
        </p:spPr>
      </p:sp>
      <p:sp>
        <p:nvSpPr>
          <p:cNvPr id="28" name="Shape 25"/>
          <p:cNvSpPr/>
          <p:nvPr/>
        </p:nvSpPr>
        <p:spPr>
          <a:xfrm flipH="1">
            <a:off x="8485632" y="3200400"/>
            <a:ext cx="768096" cy="0"/>
          </a:xfrm>
          <a:prstGeom prst="line">
            <a:avLst/>
          </a:prstGeom>
          <a:noFill/>
          <a:ln w="21590">
            <a:solidFill>
              <a:srgbClr val="C29C55"/>
            </a:solidFill>
            <a:prstDash val="solid"/>
            <a:tailEnd type="triangle"/>
          </a:ln>
        </p:spPr>
      </p:sp>
      <p:sp>
        <p:nvSpPr>
          <p:cNvPr id="29" name="Text 26"/>
          <p:cNvSpPr/>
          <p:nvPr/>
        </p:nvSpPr>
        <p:spPr>
          <a:xfrm>
            <a:off x="8229600" y="3611880"/>
            <a:ext cx="3657600" cy="274320"/>
          </a:xfrm>
          <a:prstGeom prst="rect">
            <a:avLst/>
          </a:prstGeom>
          <a:noFill/>
          <a:ln/>
        </p:spPr>
        <p:txBody>
          <a:bodyPr wrap="square" lIns="0" tIns="0" rIns="0" bIns="0" rtlCol="0" anchor="t"/>
          <a:lstStyle/>
          <a:p>
            <a:pPr algn="ctr" indent="0" marL="0">
              <a:buNone/>
            </a:pPr>
            <a:r>
              <a:rPr lang="en-US" sz="1050" dirty="0">
                <a:solidFill>
                  <a:srgbClr val="E3CB9A"/>
                </a:solidFill>
                <a:latin typeface="Calibri" pitchFamily="34" charset="0"/>
                <a:ea typeface="Calibri" pitchFamily="34" charset="-122"/>
                <a:cs typeface="Calibri" pitchFamily="34" charset="-120"/>
              </a:rPr>
              <a:t>3-4 searches per question</a:t>
            </a:r>
            <a:endParaRPr lang="en-US" sz="1050" dirty="0"/>
          </a:p>
        </p:txBody>
      </p:sp>
      <p:sp>
        <p:nvSpPr>
          <p:cNvPr id="30" name="Shape 27"/>
          <p:cNvSpPr/>
          <p:nvPr/>
        </p:nvSpPr>
        <p:spPr>
          <a:xfrm>
            <a:off x="548640" y="4892040"/>
            <a:ext cx="2688336" cy="566928"/>
          </a:xfrm>
          <a:prstGeom prst="roundRect">
            <a:avLst>
              <a:gd name="adj" fmla="val 12903"/>
            </a:avLst>
          </a:prstGeom>
          <a:solidFill>
            <a:srgbClr val="0B2E27"/>
          </a:solidFill>
          <a:ln w="12700">
            <a:solidFill>
              <a:srgbClr val="1D4A3F"/>
            </a:solidFill>
            <a:prstDash val="solid"/>
          </a:ln>
        </p:spPr>
      </p:sp>
      <p:pic>
        <p:nvPicPr>
          <p:cNvPr id="31" name="Image 1" descr="/home/claude/evidenceops/icons/clock_gold.png">    </p:cNvPr>
          <p:cNvPicPr>
            <a:picLocks noChangeAspect="1"/>
          </p:cNvPicPr>
          <p:nvPr/>
        </p:nvPicPr>
        <p:blipFill>
          <a:blip r:embed="rId2"/>
          <a:stretch>
            <a:fillRect/>
          </a:stretch>
        </p:blipFill>
        <p:spPr>
          <a:xfrm>
            <a:off x="713232" y="5029200"/>
            <a:ext cx="292608" cy="292608"/>
          </a:xfrm>
          <a:prstGeom prst="rect">
            <a:avLst/>
          </a:prstGeom>
        </p:spPr>
      </p:pic>
      <p:sp>
        <p:nvSpPr>
          <p:cNvPr id="32" name="Text 28"/>
          <p:cNvSpPr/>
          <p:nvPr/>
        </p:nvSpPr>
        <p:spPr>
          <a:xfrm>
            <a:off x="1097280" y="4892040"/>
            <a:ext cx="2103120" cy="566928"/>
          </a:xfrm>
          <a:prstGeom prst="rect">
            <a:avLst/>
          </a:prstGeom>
          <a:noFill/>
          <a:ln/>
        </p:spPr>
        <p:txBody>
          <a:bodyPr wrap="square" lIns="0" tIns="0" rIns="0" bIns="0" rtlCol="0" anchor="ctr"/>
          <a:lstStyle/>
          <a:p>
            <a:pPr algn="l" indent="0" marL="0">
              <a:buNone/>
            </a:pPr>
            <a:r>
              <a:rPr lang="en-US" sz="1050" dirty="0">
                <a:solidFill>
                  <a:srgbClr val="F2F7F4"/>
                </a:solidFill>
                <a:latin typeface="Calibri" pitchFamily="34" charset="0"/>
                <a:ea typeface="Calibri" pitchFamily="34" charset="-122"/>
                <a:cs typeface="Calibri" pitchFamily="34" charset="-120"/>
              </a:rPr>
              <a:t>30 to 50 s per answer</a:t>
            </a:r>
            <a:endParaRPr lang="en-US" sz="1050" dirty="0"/>
          </a:p>
        </p:txBody>
      </p:sp>
      <p:sp>
        <p:nvSpPr>
          <p:cNvPr id="33" name="Shape 29"/>
          <p:cNvSpPr/>
          <p:nvPr/>
        </p:nvSpPr>
        <p:spPr>
          <a:xfrm>
            <a:off x="3355848" y="4892040"/>
            <a:ext cx="2688336" cy="566928"/>
          </a:xfrm>
          <a:prstGeom prst="roundRect">
            <a:avLst>
              <a:gd name="adj" fmla="val 12903"/>
            </a:avLst>
          </a:prstGeom>
          <a:solidFill>
            <a:srgbClr val="0B2E27"/>
          </a:solidFill>
          <a:ln w="12700">
            <a:solidFill>
              <a:srgbClr val="1D4A3F"/>
            </a:solidFill>
            <a:prstDash val="solid"/>
          </a:ln>
        </p:spPr>
      </p:sp>
      <p:pic>
        <p:nvPicPr>
          <p:cNvPr id="34" name="Image 2" descr="/home/claude/evidenceops/icons/repeat_gold.png">    </p:cNvPr>
          <p:cNvPicPr>
            <a:picLocks noChangeAspect="1"/>
          </p:cNvPicPr>
          <p:nvPr/>
        </p:nvPicPr>
        <p:blipFill>
          <a:blip r:embed="rId3"/>
          <a:stretch>
            <a:fillRect/>
          </a:stretch>
        </p:blipFill>
        <p:spPr>
          <a:xfrm>
            <a:off x="3520440" y="5029200"/>
            <a:ext cx="292608" cy="292608"/>
          </a:xfrm>
          <a:prstGeom prst="rect">
            <a:avLst/>
          </a:prstGeom>
        </p:spPr>
      </p:pic>
      <p:sp>
        <p:nvSpPr>
          <p:cNvPr id="35" name="Text 30"/>
          <p:cNvSpPr/>
          <p:nvPr/>
        </p:nvSpPr>
        <p:spPr>
          <a:xfrm>
            <a:off x="3904488" y="4892040"/>
            <a:ext cx="2103120" cy="566928"/>
          </a:xfrm>
          <a:prstGeom prst="rect">
            <a:avLst/>
          </a:prstGeom>
          <a:noFill/>
          <a:ln/>
        </p:spPr>
        <p:txBody>
          <a:bodyPr wrap="square" lIns="0" tIns="0" rIns="0" bIns="0" rtlCol="0" anchor="ctr"/>
          <a:lstStyle/>
          <a:p>
            <a:pPr algn="l" indent="0" marL="0">
              <a:buNone/>
            </a:pPr>
            <a:r>
              <a:rPr lang="en-US" sz="1050" dirty="0">
                <a:solidFill>
                  <a:srgbClr val="F2F7F4"/>
                </a:solidFill>
                <a:latin typeface="Calibri" pitchFamily="34" charset="0"/>
                <a:ea typeface="Calibri" pitchFamily="34" charset="-122"/>
                <a:cs typeface="Calibri" pitchFamily="34" charset="-120"/>
              </a:rPr>
              <a:t>Repeated planning</a:t>
            </a:r>
            <a:endParaRPr lang="en-US" sz="1050" dirty="0"/>
          </a:p>
        </p:txBody>
      </p:sp>
      <p:sp>
        <p:nvSpPr>
          <p:cNvPr id="36" name="Shape 31"/>
          <p:cNvSpPr/>
          <p:nvPr/>
        </p:nvSpPr>
        <p:spPr>
          <a:xfrm>
            <a:off x="6163056" y="4892040"/>
            <a:ext cx="2688336" cy="566928"/>
          </a:xfrm>
          <a:prstGeom prst="roundRect">
            <a:avLst>
              <a:gd name="adj" fmla="val 12903"/>
            </a:avLst>
          </a:prstGeom>
          <a:solidFill>
            <a:srgbClr val="0B2E27"/>
          </a:solidFill>
          <a:ln w="12700">
            <a:solidFill>
              <a:srgbClr val="1D4A3F"/>
            </a:solidFill>
            <a:prstDash val="solid"/>
          </a:ln>
        </p:spPr>
      </p:sp>
      <p:pic>
        <p:nvPicPr>
          <p:cNvPr id="37" name="Image 3" descr="/home/claude/evidenceops/icons/search_gold.png">    </p:cNvPr>
          <p:cNvPicPr>
            <a:picLocks noChangeAspect="1"/>
          </p:cNvPicPr>
          <p:nvPr/>
        </p:nvPicPr>
        <p:blipFill>
          <a:blip r:embed="rId4"/>
          <a:stretch>
            <a:fillRect/>
          </a:stretch>
        </p:blipFill>
        <p:spPr>
          <a:xfrm>
            <a:off x="6327648" y="5029200"/>
            <a:ext cx="292608" cy="292608"/>
          </a:xfrm>
          <a:prstGeom prst="rect">
            <a:avLst/>
          </a:prstGeom>
        </p:spPr>
      </p:pic>
      <p:sp>
        <p:nvSpPr>
          <p:cNvPr id="38" name="Text 32"/>
          <p:cNvSpPr/>
          <p:nvPr/>
        </p:nvSpPr>
        <p:spPr>
          <a:xfrm>
            <a:off x="6711696" y="4892040"/>
            <a:ext cx="2103120" cy="566928"/>
          </a:xfrm>
          <a:prstGeom prst="rect">
            <a:avLst/>
          </a:prstGeom>
          <a:noFill/>
          <a:ln/>
        </p:spPr>
        <p:txBody>
          <a:bodyPr wrap="square" lIns="0" tIns="0" rIns="0" bIns="0" rtlCol="0" anchor="ctr"/>
          <a:lstStyle/>
          <a:p>
            <a:pPr algn="l" indent="0" marL="0">
              <a:buNone/>
            </a:pPr>
            <a:r>
              <a:rPr lang="en-US" sz="1050" dirty="0">
                <a:solidFill>
                  <a:srgbClr val="F2F7F4"/>
                </a:solidFill>
                <a:latin typeface="Calibri" pitchFamily="34" charset="0"/>
                <a:ea typeface="Calibri" pitchFamily="34" charset="-122"/>
                <a:cs typeface="Calibri" pitchFamily="34" charset="-120"/>
              </a:rPr>
              <a:t>3-4 retrievals each</a:t>
            </a:r>
            <a:endParaRPr lang="en-US" sz="1050" dirty="0"/>
          </a:p>
        </p:txBody>
      </p:sp>
      <p:sp>
        <p:nvSpPr>
          <p:cNvPr id="39" name="Shape 33"/>
          <p:cNvSpPr/>
          <p:nvPr/>
        </p:nvSpPr>
        <p:spPr>
          <a:xfrm>
            <a:off x="8970264" y="4892040"/>
            <a:ext cx="2688336" cy="566928"/>
          </a:xfrm>
          <a:prstGeom prst="roundRect">
            <a:avLst>
              <a:gd name="adj" fmla="val 12903"/>
            </a:avLst>
          </a:prstGeom>
          <a:solidFill>
            <a:srgbClr val="0B2E27"/>
          </a:solidFill>
          <a:ln w="12700">
            <a:solidFill>
              <a:srgbClr val="1D4A3F"/>
            </a:solidFill>
            <a:prstDash val="solid"/>
          </a:ln>
        </p:spPr>
      </p:sp>
      <p:pic>
        <p:nvPicPr>
          <p:cNvPr id="40" name="Image 4" descr="/home/claude/evidenceops/icons/barchart_gold.png">    </p:cNvPr>
          <p:cNvPicPr>
            <a:picLocks noChangeAspect="1"/>
          </p:cNvPicPr>
          <p:nvPr/>
        </p:nvPicPr>
        <p:blipFill>
          <a:blip r:embed="rId5"/>
          <a:stretch>
            <a:fillRect/>
          </a:stretch>
        </p:blipFill>
        <p:spPr>
          <a:xfrm>
            <a:off x="9134856" y="5029200"/>
            <a:ext cx="292608" cy="292608"/>
          </a:xfrm>
          <a:prstGeom prst="rect">
            <a:avLst/>
          </a:prstGeom>
        </p:spPr>
      </p:pic>
      <p:sp>
        <p:nvSpPr>
          <p:cNvPr id="41" name="Text 34"/>
          <p:cNvSpPr/>
          <p:nvPr/>
        </p:nvSpPr>
        <p:spPr>
          <a:xfrm>
            <a:off x="9518904" y="4892040"/>
            <a:ext cx="2103120" cy="566928"/>
          </a:xfrm>
          <a:prstGeom prst="rect">
            <a:avLst/>
          </a:prstGeom>
          <a:noFill/>
          <a:ln/>
        </p:spPr>
        <p:txBody>
          <a:bodyPr wrap="square" lIns="0" tIns="0" rIns="0" bIns="0" rtlCol="0" anchor="ctr"/>
          <a:lstStyle/>
          <a:p>
            <a:pPr algn="l" indent="0" marL="0">
              <a:buNone/>
            </a:pPr>
            <a:r>
              <a:rPr lang="en-US" sz="1050" dirty="0">
                <a:solidFill>
                  <a:srgbClr val="F2F7F4"/>
                </a:solidFill>
                <a:latin typeface="Calibri" pitchFamily="34" charset="0"/>
                <a:ea typeface="Calibri" pitchFamily="34" charset="-122"/>
                <a:cs typeface="Calibri" pitchFamily="34" charset="-120"/>
              </a:rPr>
              <a:t>Token cost to match</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Inside one old run</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An agent loop is the wrong tool for a lookup.</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5</a:t>
            </a:r>
            <a:endParaRPr lang="en-US" sz="850" dirty="0"/>
          </a:p>
        </p:txBody>
      </p:sp>
      <p:sp>
        <p:nvSpPr>
          <p:cNvPr id="10" name="Text 7"/>
          <p:cNvSpPr/>
          <p:nvPr/>
        </p:nvSpPr>
        <p:spPr>
          <a:xfrm>
            <a:off x="548640" y="1188720"/>
            <a:ext cx="777240" cy="502920"/>
          </a:xfrm>
          <a:prstGeom prst="rect">
            <a:avLst/>
          </a:prstGeom>
          <a:noFill/>
          <a:ln/>
        </p:spPr>
        <p:txBody>
          <a:bodyPr wrap="square" lIns="0" tIns="0" rIns="0" bIns="0" rtlCol="0" anchor="ctr"/>
          <a:lstStyle/>
          <a:p>
            <a:pPr algn="l" indent="0" marL="0">
              <a:buNone/>
            </a:pPr>
            <a:r>
              <a:rPr lang="en-US" sz="1100" dirty="0">
                <a:solidFill>
                  <a:srgbClr val="9DB5AD"/>
                </a:solidFill>
                <a:latin typeface="Calibri" pitchFamily="34" charset="0"/>
                <a:ea typeface="Calibri" pitchFamily="34" charset="-122"/>
                <a:cs typeface="Calibri" pitchFamily="34" charset="-120"/>
              </a:rPr>
              <a:t>Query</a:t>
            </a:r>
            <a:endParaRPr lang="en-US" sz="1100" dirty="0"/>
          </a:p>
        </p:txBody>
      </p:sp>
      <p:sp>
        <p:nvSpPr>
          <p:cNvPr id="11" name="Shape 8"/>
          <p:cNvSpPr/>
          <p:nvPr/>
        </p:nvSpPr>
        <p:spPr>
          <a:xfrm>
            <a:off x="1325880" y="1188720"/>
            <a:ext cx="3657600" cy="502920"/>
          </a:xfrm>
          <a:prstGeom prst="roundRect">
            <a:avLst>
              <a:gd name="adj" fmla="val 16364"/>
            </a:avLst>
          </a:prstGeom>
          <a:solidFill>
            <a:srgbClr val="0B2E27"/>
          </a:solidFill>
          <a:ln w="12700">
            <a:solidFill>
              <a:srgbClr val="1D4A3F"/>
            </a:solidFill>
            <a:prstDash val="solid"/>
          </a:ln>
        </p:spPr>
      </p:sp>
      <p:sp>
        <p:nvSpPr>
          <p:cNvPr id="12" name="Text 9"/>
          <p:cNvSpPr/>
          <p:nvPr/>
        </p:nvSpPr>
        <p:spPr>
          <a:xfrm>
            <a:off x="1399032" y="1188720"/>
            <a:ext cx="3511296" cy="502920"/>
          </a:xfrm>
          <a:prstGeom prst="rect">
            <a:avLst/>
          </a:prstGeom>
          <a:noFill/>
          <a:ln/>
        </p:spPr>
        <p:txBody>
          <a:bodyPr wrap="square" lIns="635" tIns="635" rIns="635" bIns="635" rtlCol="0" anchor="ctr"/>
          <a:lstStyle/>
          <a:p>
            <a:pPr algn="l" indent="0" marL="0">
              <a:buNone/>
            </a:pPr>
            <a:r>
              <a:rPr lang="en-US" sz="1050" dirty="0">
                <a:solidFill>
                  <a:srgbClr val="E3CB9A"/>
                </a:solidFill>
                <a:latin typeface="Courier New" pitchFamily="34" charset="0"/>
                <a:ea typeface="Courier New" pitchFamily="34" charset="-122"/>
                <a:cs typeface="Courier New" pitchFamily="34" charset="-120"/>
              </a:rPr>
              <a:t>Explain OWASP LLM Top 10</a:t>
            </a:r>
            <a:endParaRPr lang="en-US" sz="1050" dirty="0"/>
          </a:p>
        </p:txBody>
      </p:sp>
      <p:sp>
        <p:nvSpPr>
          <p:cNvPr id="13" name="Shape 10"/>
          <p:cNvSpPr/>
          <p:nvPr/>
        </p:nvSpPr>
        <p:spPr>
          <a:xfrm>
            <a:off x="548640" y="2331720"/>
            <a:ext cx="1207008" cy="731520"/>
          </a:xfrm>
          <a:prstGeom prst="roundRect">
            <a:avLst>
              <a:gd name="adj" fmla="val 8750"/>
            </a:avLst>
          </a:prstGeom>
          <a:solidFill>
            <a:srgbClr val="2B776D"/>
          </a:solidFill>
          <a:ln w="12700">
            <a:solidFill>
              <a:srgbClr val="2B776D"/>
            </a:solidFill>
            <a:prstDash val="solid"/>
          </a:ln>
        </p:spPr>
      </p:sp>
      <p:sp>
        <p:nvSpPr>
          <p:cNvPr id="14" name="Text 11"/>
          <p:cNvSpPr/>
          <p:nvPr/>
        </p:nvSpPr>
        <p:spPr>
          <a:xfrm>
            <a:off x="548640" y="2331720"/>
            <a:ext cx="1207008" cy="731520"/>
          </a:xfrm>
          <a:prstGeom prst="rect">
            <a:avLst/>
          </a:prstGeom>
          <a:noFill/>
          <a:ln/>
        </p:spPr>
        <p:txBody>
          <a:bodyPr wrap="square" lIns="381" tIns="381" rIns="381" bIns="381"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FunctionAgent</a:t>
            </a:r>
            <a:endParaRPr lang="en-US" sz="1050" dirty="0"/>
          </a:p>
        </p:txBody>
      </p:sp>
      <p:sp>
        <p:nvSpPr>
          <p:cNvPr id="15" name="Shape 12"/>
          <p:cNvSpPr/>
          <p:nvPr/>
        </p:nvSpPr>
        <p:spPr>
          <a:xfrm>
            <a:off x="1773936" y="2697480"/>
            <a:ext cx="164592" cy="0"/>
          </a:xfrm>
          <a:prstGeom prst="line">
            <a:avLst/>
          </a:prstGeom>
          <a:noFill/>
          <a:ln w="20320">
            <a:solidFill>
              <a:srgbClr val="6F8F85"/>
            </a:solidFill>
            <a:prstDash val="solid"/>
            <a:tailEnd type="triangle"/>
          </a:ln>
        </p:spPr>
      </p:sp>
      <p:sp>
        <p:nvSpPr>
          <p:cNvPr id="16" name="Shape 13"/>
          <p:cNvSpPr/>
          <p:nvPr/>
        </p:nvSpPr>
        <p:spPr>
          <a:xfrm>
            <a:off x="1956816" y="2331720"/>
            <a:ext cx="1207008" cy="731520"/>
          </a:xfrm>
          <a:prstGeom prst="roundRect">
            <a:avLst>
              <a:gd name="adj" fmla="val 8750"/>
            </a:avLst>
          </a:prstGeom>
          <a:solidFill>
            <a:srgbClr val="C29C55"/>
          </a:solidFill>
          <a:ln w="12700">
            <a:solidFill>
              <a:srgbClr val="C29C55"/>
            </a:solidFill>
            <a:prstDash val="solid"/>
          </a:ln>
        </p:spPr>
      </p:sp>
      <p:sp>
        <p:nvSpPr>
          <p:cNvPr id="17" name="Text 14"/>
          <p:cNvSpPr/>
          <p:nvPr/>
        </p:nvSpPr>
        <p:spPr>
          <a:xfrm>
            <a:off x="1956816" y="2331720"/>
            <a:ext cx="1207008" cy="731520"/>
          </a:xfrm>
          <a:prstGeom prst="rect">
            <a:avLst/>
          </a:prstGeom>
          <a:noFill/>
          <a:ln/>
        </p:spPr>
        <p:txBody>
          <a:bodyPr wrap="square" lIns="381" tIns="381" rIns="381" bIns="381" rtlCol="0" anchor="ctr"/>
          <a:lstStyle/>
          <a:p>
            <a:pPr algn="ctr" indent="0" marL="0">
              <a:buNone/>
            </a:pPr>
            <a:r>
              <a:rPr lang="en-US" sz="1050" b="1" dirty="0">
                <a:solidFill>
                  <a:srgbClr val="06211B"/>
                </a:solidFill>
                <a:latin typeface="Calibri" pitchFamily="34" charset="0"/>
                <a:ea typeface="Calibri" pitchFamily="34" charset="-122"/>
                <a:cs typeface="Calibri" pitchFamily="34" charset="-120"/>
              </a:rPr>
              <a:t>Search</a:t>
            </a:r>
            <a:endParaRPr lang="en-US" sz="1050" dirty="0"/>
          </a:p>
        </p:txBody>
      </p:sp>
      <p:sp>
        <p:nvSpPr>
          <p:cNvPr id="18" name="Shape 15"/>
          <p:cNvSpPr/>
          <p:nvPr/>
        </p:nvSpPr>
        <p:spPr>
          <a:xfrm>
            <a:off x="3182112" y="2697480"/>
            <a:ext cx="164592" cy="0"/>
          </a:xfrm>
          <a:prstGeom prst="line">
            <a:avLst/>
          </a:prstGeom>
          <a:noFill/>
          <a:ln w="20320">
            <a:solidFill>
              <a:srgbClr val="6F8F85"/>
            </a:solidFill>
            <a:prstDash val="solid"/>
            <a:tailEnd type="triangle"/>
          </a:ln>
        </p:spPr>
      </p:sp>
      <p:sp>
        <p:nvSpPr>
          <p:cNvPr id="19" name="Shape 16"/>
          <p:cNvSpPr/>
          <p:nvPr/>
        </p:nvSpPr>
        <p:spPr>
          <a:xfrm>
            <a:off x="3364992" y="2331720"/>
            <a:ext cx="1207008" cy="731520"/>
          </a:xfrm>
          <a:prstGeom prst="roundRect">
            <a:avLst>
              <a:gd name="adj" fmla="val 8750"/>
            </a:avLst>
          </a:prstGeom>
          <a:solidFill>
            <a:srgbClr val="0F3A31"/>
          </a:solidFill>
          <a:ln w="13970">
            <a:solidFill>
              <a:srgbClr val="1D4A3F"/>
            </a:solidFill>
            <a:prstDash val="solid"/>
          </a:ln>
        </p:spPr>
      </p:sp>
      <p:sp>
        <p:nvSpPr>
          <p:cNvPr id="20" name="Text 17"/>
          <p:cNvSpPr/>
          <p:nvPr/>
        </p:nvSpPr>
        <p:spPr>
          <a:xfrm>
            <a:off x="3364992" y="2331720"/>
            <a:ext cx="1207008" cy="731520"/>
          </a:xfrm>
          <a:prstGeom prst="rect">
            <a:avLst/>
          </a:prstGeom>
          <a:noFill/>
          <a:ln/>
        </p:spPr>
        <p:txBody>
          <a:bodyPr wrap="square" lIns="381" tIns="381" rIns="381" bIns="381" rtlCol="0" anchor="ctr"/>
          <a:lstStyle/>
          <a:p>
            <a:pPr algn="ctr" indent="0" marL="0">
              <a:buNone/>
            </a:pPr>
            <a:r>
              <a:rPr lang="en-US" sz="1050" dirty="0">
                <a:solidFill>
                  <a:srgbClr val="F2F7F4"/>
                </a:solidFill>
                <a:latin typeface="Calibri" pitchFamily="34" charset="0"/>
                <a:ea typeface="Calibri" pitchFamily="34" charset="-122"/>
                <a:cs typeface="Calibri" pitchFamily="34" charset="-120"/>
              </a:rPr>
              <a:t>Reason</a:t>
            </a:r>
            <a:endParaRPr lang="en-US" sz="1050" dirty="0"/>
          </a:p>
        </p:txBody>
      </p:sp>
      <p:sp>
        <p:nvSpPr>
          <p:cNvPr id="21" name="Shape 18"/>
          <p:cNvSpPr/>
          <p:nvPr/>
        </p:nvSpPr>
        <p:spPr>
          <a:xfrm>
            <a:off x="4590288" y="2697480"/>
            <a:ext cx="164592" cy="0"/>
          </a:xfrm>
          <a:prstGeom prst="line">
            <a:avLst/>
          </a:prstGeom>
          <a:noFill/>
          <a:ln w="20320">
            <a:solidFill>
              <a:srgbClr val="6F8F85"/>
            </a:solidFill>
            <a:prstDash val="solid"/>
            <a:tailEnd type="triangle"/>
          </a:ln>
        </p:spPr>
      </p:sp>
      <p:sp>
        <p:nvSpPr>
          <p:cNvPr id="22" name="Shape 19"/>
          <p:cNvSpPr/>
          <p:nvPr/>
        </p:nvSpPr>
        <p:spPr>
          <a:xfrm>
            <a:off x="4773168" y="2331720"/>
            <a:ext cx="1207008" cy="731520"/>
          </a:xfrm>
          <a:prstGeom prst="roundRect">
            <a:avLst>
              <a:gd name="adj" fmla="val 8750"/>
            </a:avLst>
          </a:prstGeom>
          <a:solidFill>
            <a:srgbClr val="C29C55"/>
          </a:solidFill>
          <a:ln w="12700">
            <a:solidFill>
              <a:srgbClr val="C29C55"/>
            </a:solidFill>
            <a:prstDash val="solid"/>
          </a:ln>
        </p:spPr>
      </p:sp>
      <p:sp>
        <p:nvSpPr>
          <p:cNvPr id="23" name="Text 20"/>
          <p:cNvSpPr/>
          <p:nvPr/>
        </p:nvSpPr>
        <p:spPr>
          <a:xfrm>
            <a:off x="4773168" y="2331720"/>
            <a:ext cx="1207008" cy="731520"/>
          </a:xfrm>
          <a:prstGeom prst="rect">
            <a:avLst/>
          </a:prstGeom>
          <a:noFill/>
          <a:ln/>
        </p:spPr>
        <p:txBody>
          <a:bodyPr wrap="square" lIns="381" tIns="381" rIns="381" bIns="381" rtlCol="0" anchor="ctr"/>
          <a:lstStyle/>
          <a:p>
            <a:pPr algn="ctr" indent="0" marL="0">
              <a:buNone/>
            </a:pPr>
            <a:r>
              <a:rPr lang="en-US" sz="1050" b="1" dirty="0">
                <a:solidFill>
                  <a:srgbClr val="06211B"/>
                </a:solidFill>
                <a:latin typeface="Calibri" pitchFamily="34" charset="0"/>
                <a:ea typeface="Calibri" pitchFamily="34" charset="-122"/>
                <a:cs typeface="Calibri" pitchFamily="34" charset="-120"/>
              </a:rPr>
              <a:t>Search</a:t>
            </a:r>
            <a:endParaRPr lang="en-US" sz="1050" dirty="0"/>
          </a:p>
        </p:txBody>
      </p:sp>
      <p:sp>
        <p:nvSpPr>
          <p:cNvPr id="24" name="Shape 21"/>
          <p:cNvSpPr/>
          <p:nvPr/>
        </p:nvSpPr>
        <p:spPr>
          <a:xfrm>
            <a:off x="5998464" y="2697480"/>
            <a:ext cx="164592" cy="0"/>
          </a:xfrm>
          <a:prstGeom prst="line">
            <a:avLst/>
          </a:prstGeom>
          <a:noFill/>
          <a:ln w="20320">
            <a:solidFill>
              <a:srgbClr val="6F8F85"/>
            </a:solidFill>
            <a:prstDash val="solid"/>
            <a:tailEnd type="triangle"/>
          </a:ln>
        </p:spPr>
      </p:sp>
      <p:sp>
        <p:nvSpPr>
          <p:cNvPr id="25" name="Shape 22"/>
          <p:cNvSpPr/>
          <p:nvPr/>
        </p:nvSpPr>
        <p:spPr>
          <a:xfrm>
            <a:off x="6181344" y="2331720"/>
            <a:ext cx="1207008" cy="731520"/>
          </a:xfrm>
          <a:prstGeom prst="roundRect">
            <a:avLst>
              <a:gd name="adj" fmla="val 8750"/>
            </a:avLst>
          </a:prstGeom>
          <a:solidFill>
            <a:srgbClr val="0F3A31"/>
          </a:solidFill>
          <a:ln w="13970">
            <a:solidFill>
              <a:srgbClr val="1D4A3F"/>
            </a:solidFill>
            <a:prstDash val="solid"/>
          </a:ln>
        </p:spPr>
      </p:sp>
      <p:sp>
        <p:nvSpPr>
          <p:cNvPr id="26" name="Text 23"/>
          <p:cNvSpPr/>
          <p:nvPr/>
        </p:nvSpPr>
        <p:spPr>
          <a:xfrm>
            <a:off x="6181344" y="2331720"/>
            <a:ext cx="1207008" cy="731520"/>
          </a:xfrm>
          <a:prstGeom prst="rect">
            <a:avLst/>
          </a:prstGeom>
          <a:noFill/>
          <a:ln/>
        </p:spPr>
        <p:txBody>
          <a:bodyPr wrap="square" lIns="381" tIns="381" rIns="381" bIns="381" rtlCol="0" anchor="ctr"/>
          <a:lstStyle/>
          <a:p>
            <a:pPr algn="ctr" indent="0" marL="0">
              <a:buNone/>
            </a:pPr>
            <a:r>
              <a:rPr lang="en-US" sz="1050" dirty="0">
                <a:solidFill>
                  <a:srgbClr val="F2F7F4"/>
                </a:solidFill>
                <a:latin typeface="Calibri" pitchFamily="34" charset="0"/>
                <a:ea typeface="Calibri" pitchFamily="34" charset="-122"/>
                <a:cs typeface="Calibri" pitchFamily="34" charset="-120"/>
              </a:rPr>
              <a:t>Reason</a:t>
            </a:r>
            <a:endParaRPr lang="en-US" sz="1050" dirty="0"/>
          </a:p>
        </p:txBody>
      </p:sp>
      <p:sp>
        <p:nvSpPr>
          <p:cNvPr id="27" name="Shape 24"/>
          <p:cNvSpPr/>
          <p:nvPr/>
        </p:nvSpPr>
        <p:spPr>
          <a:xfrm>
            <a:off x="7406640" y="2697480"/>
            <a:ext cx="164592" cy="0"/>
          </a:xfrm>
          <a:prstGeom prst="line">
            <a:avLst/>
          </a:prstGeom>
          <a:noFill/>
          <a:ln w="20320">
            <a:solidFill>
              <a:srgbClr val="6F8F85"/>
            </a:solidFill>
            <a:prstDash val="solid"/>
            <a:tailEnd type="triangle"/>
          </a:ln>
        </p:spPr>
      </p:sp>
      <p:sp>
        <p:nvSpPr>
          <p:cNvPr id="28" name="Shape 25"/>
          <p:cNvSpPr/>
          <p:nvPr/>
        </p:nvSpPr>
        <p:spPr>
          <a:xfrm>
            <a:off x="7589520" y="2331720"/>
            <a:ext cx="1207008" cy="731520"/>
          </a:xfrm>
          <a:prstGeom prst="roundRect">
            <a:avLst>
              <a:gd name="adj" fmla="val 8750"/>
            </a:avLst>
          </a:prstGeom>
          <a:solidFill>
            <a:srgbClr val="C29C55"/>
          </a:solidFill>
          <a:ln w="12700">
            <a:solidFill>
              <a:srgbClr val="C29C55"/>
            </a:solidFill>
            <a:prstDash val="solid"/>
          </a:ln>
        </p:spPr>
      </p:sp>
      <p:sp>
        <p:nvSpPr>
          <p:cNvPr id="29" name="Text 26"/>
          <p:cNvSpPr/>
          <p:nvPr/>
        </p:nvSpPr>
        <p:spPr>
          <a:xfrm>
            <a:off x="7589520" y="2331720"/>
            <a:ext cx="1207008" cy="731520"/>
          </a:xfrm>
          <a:prstGeom prst="rect">
            <a:avLst/>
          </a:prstGeom>
          <a:noFill/>
          <a:ln/>
        </p:spPr>
        <p:txBody>
          <a:bodyPr wrap="square" lIns="381" tIns="381" rIns="381" bIns="381" rtlCol="0" anchor="ctr"/>
          <a:lstStyle/>
          <a:p>
            <a:pPr algn="ctr" indent="0" marL="0">
              <a:buNone/>
            </a:pPr>
            <a:r>
              <a:rPr lang="en-US" sz="1050" b="1" dirty="0">
                <a:solidFill>
                  <a:srgbClr val="06211B"/>
                </a:solidFill>
                <a:latin typeface="Calibri" pitchFamily="34" charset="0"/>
                <a:ea typeface="Calibri" pitchFamily="34" charset="-122"/>
                <a:cs typeface="Calibri" pitchFamily="34" charset="-120"/>
              </a:rPr>
              <a:t>Search</a:t>
            </a:r>
            <a:endParaRPr lang="en-US" sz="1050" dirty="0"/>
          </a:p>
        </p:txBody>
      </p:sp>
      <p:sp>
        <p:nvSpPr>
          <p:cNvPr id="30" name="Shape 27"/>
          <p:cNvSpPr/>
          <p:nvPr/>
        </p:nvSpPr>
        <p:spPr>
          <a:xfrm>
            <a:off x="8814816" y="2697480"/>
            <a:ext cx="164592" cy="0"/>
          </a:xfrm>
          <a:prstGeom prst="line">
            <a:avLst/>
          </a:prstGeom>
          <a:noFill/>
          <a:ln w="20320">
            <a:solidFill>
              <a:srgbClr val="6F8F85"/>
            </a:solidFill>
            <a:prstDash val="solid"/>
            <a:tailEnd type="triangle"/>
          </a:ln>
        </p:spPr>
      </p:sp>
      <p:sp>
        <p:nvSpPr>
          <p:cNvPr id="31" name="Shape 28"/>
          <p:cNvSpPr/>
          <p:nvPr/>
        </p:nvSpPr>
        <p:spPr>
          <a:xfrm>
            <a:off x="8997696" y="2331720"/>
            <a:ext cx="1207008" cy="731520"/>
          </a:xfrm>
          <a:prstGeom prst="roundRect">
            <a:avLst>
              <a:gd name="adj" fmla="val 8750"/>
            </a:avLst>
          </a:prstGeom>
          <a:solidFill>
            <a:srgbClr val="0F3A31"/>
          </a:solidFill>
          <a:ln w="13970">
            <a:solidFill>
              <a:srgbClr val="1D4A3F"/>
            </a:solidFill>
            <a:prstDash val="solid"/>
          </a:ln>
        </p:spPr>
      </p:sp>
      <p:sp>
        <p:nvSpPr>
          <p:cNvPr id="32" name="Text 29"/>
          <p:cNvSpPr/>
          <p:nvPr/>
        </p:nvSpPr>
        <p:spPr>
          <a:xfrm>
            <a:off x="8997696" y="2331720"/>
            <a:ext cx="1207008" cy="731520"/>
          </a:xfrm>
          <a:prstGeom prst="rect">
            <a:avLst/>
          </a:prstGeom>
          <a:noFill/>
          <a:ln/>
        </p:spPr>
        <p:txBody>
          <a:bodyPr wrap="square" lIns="381" tIns="381" rIns="381" bIns="381" rtlCol="0" anchor="ctr"/>
          <a:lstStyle/>
          <a:p>
            <a:pPr algn="ctr" indent="0" marL="0">
              <a:buNone/>
            </a:pPr>
            <a:r>
              <a:rPr lang="en-US" sz="1050" dirty="0">
                <a:solidFill>
                  <a:srgbClr val="F2F7F4"/>
                </a:solidFill>
                <a:latin typeface="Calibri" pitchFamily="34" charset="0"/>
                <a:ea typeface="Calibri" pitchFamily="34" charset="-122"/>
                <a:cs typeface="Calibri" pitchFamily="34" charset="-120"/>
              </a:rPr>
              <a:t>Reason</a:t>
            </a:r>
            <a:endParaRPr lang="en-US" sz="1050" dirty="0"/>
          </a:p>
        </p:txBody>
      </p:sp>
      <p:sp>
        <p:nvSpPr>
          <p:cNvPr id="33" name="Shape 30"/>
          <p:cNvSpPr/>
          <p:nvPr/>
        </p:nvSpPr>
        <p:spPr>
          <a:xfrm>
            <a:off x="10222992" y="2697480"/>
            <a:ext cx="164592" cy="0"/>
          </a:xfrm>
          <a:prstGeom prst="line">
            <a:avLst/>
          </a:prstGeom>
          <a:noFill/>
          <a:ln w="20320">
            <a:solidFill>
              <a:srgbClr val="6F8F85"/>
            </a:solidFill>
            <a:prstDash val="solid"/>
            <a:tailEnd type="triangle"/>
          </a:ln>
        </p:spPr>
      </p:sp>
      <p:sp>
        <p:nvSpPr>
          <p:cNvPr id="34" name="Shape 31"/>
          <p:cNvSpPr/>
          <p:nvPr/>
        </p:nvSpPr>
        <p:spPr>
          <a:xfrm>
            <a:off x="10405872" y="2331720"/>
            <a:ext cx="1207008" cy="731520"/>
          </a:xfrm>
          <a:prstGeom prst="roundRect">
            <a:avLst>
              <a:gd name="adj" fmla="val 8750"/>
            </a:avLst>
          </a:prstGeom>
          <a:solidFill>
            <a:srgbClr val="2B776D"/>
          </a:solidFill>
          <a:ln w="12700">
            <a:solidFill>
              <a:srgbClr val="2B776D"/>
            </a:solidFill>
            <a:prstDash val="solid"/>
          </a:ln>
        </p:spPr>
      </p:sp>
      <p:sp>
        <p:nvSpPr>
          <p:cNvPr id="35" name="Text 32"/>
          <p:cNvSpPr/>
          <p:nvPr/>
        </p:nvSpPr>
        <p:spPr>
          <a:xfrm>
            <a:off x="10405872" y="2331720"/>
            <a:ext cx="1207008" cy="731520"/>
          </a:xfrm>
          <a:prstGeom prst="rect">
            <a:avLst/>
          </a:prstGeom>
          <a:noFill/>
          <a:ln/>
        </p:spPr>
        <p:txBody>
          <a:bodyPr wrap="square" lIns="381" tIns="381" rIns="381" bIns="381" rtlCol="0" anchor="ctr"/>
          <a:lstStyle/>
          <a:p>
            <a:pPr algn="ctr" indent="0" marL="0">
              <a:buNone/>
            </a:pPr>
            <a:r>
              <a:rPr lang="en-US" sz="1050" dirty="0">
                <a:solidFill>
                  <a:srgbClr val="FFFFFF"/>
                </a:solidFill>
                <a:latin typeface="Calibri" pitchFamily="34" charset="0"/>
                <a:ea typeface="Calibri" pitchFamily="34" charset="-122"/>
                <a:cs typeface="Calibri" pitchFamily="34" charset="-120"/>
              </a:rPr>
              <a:t>Final answer</a:t>
            </a:r>
            <a:endParaRPr lang="en-US" sz="1050" dirty="0"/>
          </a:p>
        </p:txBody>
      </p:sp>
      <p:sp>
        <p:nvSpPr>
          <p:cNvPr id="36" name="Shape 33"/>
          <p:cNvSpPr/>
          <p:nvPr/>
        </p:nvSpPr>
        <p:spPr>
          <a:xfrm>
            <a:off x="1956816" y="3310128"/>
            <a:ext cx="8247888" cy="0"/>
          </a:xfrm>
          <a:prstGeom prst="line">
            <a:avLst/>
          </a:prstGeom>
          <a:noFill/>
          <a:ln w="15240">
            <a:solidFill>
              <a:srgbClr val="C29C55"/>
            </a:solidFill>
            <a:prstDash val="dash"/>
          </a:ln>
        </p:spPr>
      </p:sp>
      <p:sp>
        <p:nvSpPr>
          <p:cNvPr id="37" name="Text 34"/>
          <p:cNvSpPr/>
          <p:nvPr/>
        </p:nvSpPr>
        <p:spPr>
          <a:xfrm>
            <a:off x="1956816" y="3383280"/>
            <a:ext cx="8247888" cy="292608"/>
          </a:xfrm>
          <a:prstGeom prst="rect">
            <a:avLst/>
          </a:prstGeom>
          <a:noFill/>
          <a:ln/>
        </p:spPr>
        <p:txBody>
          <a:bodyPr wrap="square" lIns="0" tIns="0" rIns="0" bIns="0" rtlCol="0" anchor="t"/>
          <a:lstStyle/>
          <a:p>
            <a:pPr algn="ctr" indent="0" marL="0">
              <a:buNone/>
            </a:pPr>
            <a:r>
              <a:rPr lang="en-US" sz="1100" dirty="0">
                <a:solidFill>
                  <a:srgbClr val="E3CB9A"/>
                </a:solidFill>
                <a:latin typeface="Calibri" pitchFamily="34" charset="0"/>
                <a:ea typeface="Calibri" pitchFamily="34" charset="-122"/>
                <a:cs typeface="Calibri" pitchFamily="34" charset="-120"/>
              </a:rPr>
              <a:t>the plan, search, reason loop ran three times for one framework question</a:t>
            </a:r>
            <a:endParaRPr lang="en-US" sz="1100" dirty="0"/>
          </a:p>
        </p:txBody>
      </p:sp>
      <p:sp>
        <p:nvSpPr>
          <p:cNvPr id="38" name="Shape 35"/>
          <p:cNvSpPr/>
          <p:nvPr/>
        </p:nvSpPr>
        <p:spPr>
          <a:xfrm>
            <a:off x="548640" y="4160520"/>
            <a:ext cx="3566160" cy="1234440"/>
          </a:xfrm>
          <a:prstGeom prst="roundRect">
            <a:avLst>
              <a:gd name="adj" fmla="val 5926"/>
            </a:avLst>
          </a:prstGeom>
          <a:solidFill>
            <a:srgbClr val="0B2E27"/>
          </a:solidFill>
          <a:ln w="12700">
            <a:solidFill>
              <a:srgbClr val="1D4A3F"/>
            </a:solidFill>
            <a:prstDash val="solid"/>
          </a:ln>
        </p:spPr>
      </p:sp>
      <p:sp>
        <p:nvSpPr>
          <p:cNvPr id="39" name="Text 36"/>
          <p:cNvSpPr/>
          <p:nvPr/>
        </p:nvSpPr>
        <p:spPr>
          <a:xfrm>
            <a:off x="685800" y="4233672"/>
            <a:ext cx="3291840" cy="678942"/>
          </a:xfrm>
          <a:prstGeom prst="rect">
            <a:avLst/>
          </a:prstGeom>
          <a:noFill/>
          <a:ln/>
        </p:spPr>
        <p:txBody>
          <a:bodyPr wrap="square" lIns="0" tIns="0" rIns="0" bIns="0" rtlCol="0" anchor="ctr"/>
          <a:lstStyle/>
          <a:p>
            <a:pPr algn="ctr" indent="0" marL="0">
              <a:buNone/>
            </a:pPr>
            <a:r>
              <a:rPr lang="en-US" sz="3000" b="1" dirty="0">
                <a:solidFill>
                  <a:srgbClr val="C29C55"/>
                </a:solidFill>
                <a:latin typeface="Calibri" pitchFamily="34" charset="0"/>
                <a:ea typeface="Calibri" pitchFamily="34" charset="-122"/>
                <a:cs typeface="Calibri" pitchFamily="34" charset="-120"/>
              </a:rPr>
              <a:t>3-4</a:t>
            </a:r>
            <a:endParaRPr lang="en-US" sz="3000" dirty="0"/>
          </a:p>
        </p:txBody>
      </p:sp>
      <p:sp>
        <p:nvSpPr>
          <p:cNvPr id="40" name="Text 37"/>
          <p:cNvSpPr/>
          <p:nvPr/>
        </p:nvSpPr>
        <p:spPr>
          <a:xfrm>
            <a:off x="685800" y="4876495"/>
            <a:ext cx="3291840" cy="469087"/>
          </a:xfrm>
          <a:prstGeom prst="rect">
            <a:avLst/>
          </a:prstGeom>
          <a:noFill/>
          <a:ln/>
        </p:spPr>
        <p:txBody>
          <a:bodyPr wrap="square" lIns="0" tIns="0" rIns="0" bIns="0" rtlCol="0" anchor="t"/>
          <a:lstStyle/>
          <a:p>
            <a:pPr algn="ctr" indent="0" marL="0">
              <a:buNone/>
            </a:pPr>
            <a:r>
              <a:rPr lang="en-US" sz="1050" dirty="0">
                <a:solidFill>
                  <a:srgbClr val="9DB5AD"/>
                </a:solidFill>
                <a:latin typeface="Calibri" pitchFamily="34" charset="0"/>
                <a:ea typeface="Calibri" pitchFamily="34" charset="-122"/>
                <a:cs typeface="Calibri" pitchFamily="34" charset="-120"/>
              </a:rPr>
              <a:t>knowledge base searches</a:t>
            </a:r>
            <a:endParaRPr lang="en-US" sz="1050" dirty="0"/>
          </a:p>
        </p:txBody>
      </p:sp>
      <p:sp>
        <p:nvSpPr>
          <p:cNvPr id="41" name="Shape 38"/>
          <p:cNvSpPr/>
          <p:nvPr/>
        </p:nvSpPr>
        <p:spPr>
          <a:xfrm>
            <a:off x="4315968" y="4160520"/>
            <a:ext cx="3566160" cy="1234440"/>
          </a:xfrm>
          <a:prstGeom prst="roundRect">
            <a:avLst>
              <a:gd name="adj" fmla="val 5926"/>
            </a:avLst>
          </a:prstGeom>
          <a:solidFill>
            <a:srgbClr val="0B2E27"/>
          </a:solidFill>
          <a:ln w="12700">
            <a:solidFill>
              <a:srgbClr val="1D4A3F"/>
            </a:solidFill>
            <a:prstDash val="solid"/>
          </a:ln>
        </p:spPr>
      </p:sp>
      <p:sp>
        <p:nvSpPr>
          <p:cNvPr id="42" name="Text 39"/>
          <p:cNvSpPr/>
          <p:nvPr/>
        </p:nvSpPr>
        <p:spPr>
          <a:xfrm>
            <a:off x="4453128" y="4233672"/>
            <a:ext cx="3291840" cy="678942"/>
          </a:xfrm>
          <a:prstGeom prst="rect">
            <a:avLst/>
          </a:prstGeom>
          <a:noFill/>
          <a:ln/>
        </p:spPr>
        <p:txBody>
          <a:bodyPr wrap="square" lIns="0" tIns="0" rIns="0" bIns="0" rtlCol="0" anchor="ctr"/>
          <a:lstStyle/>
          <a:p>
            <a:pPr algn="ctr" indent="0" marL="0">
              <a:buNone/>
            </a:pPr>
            <a:r>
              <a:rPr lang="en-US" sz="3000" b="1" dirty="0">
                <a:solidFill>
                  <a:srgbClr val="C29C55"/>
                </a:solidFill>
                <a:latin typeface="Calibri" pitchFamily="34" charset="0"/>
                <a:ea typeface="Calibri" pitchFamily="34" charset="-122"/>
                <a:cs typeface="Calibri" pitchFamily="34" charset="-120"/>
              </a:rPr>
              <a:t>30-50 s</a:t>
            </a:r>
            <a:endParaRPr lang="en-US" sz="3000" dirty="0"/>
          </a:p>
        </p:txBody>
      </p:sp>
      <p:sp>
        <p:nvSpPr>
          <p:cNvPr id="43" name="Text 40"/>
          <p:cNvSpPr/>
          <p:nvPr/>
        </p:nvSpPr>
        <p:spPr>
          <a:xfrm>
            <a:off x="4453128" y="4876495"/>
            <a:ext cx="3291840" cy="469087"/>
          </a:xfrm>
          <a:prstGeom prst="rect">
            <a:avLst/>
          </a:prstGeom>
          <a:noFill/>
          <a:ln/>
        </p:spPr>
        <p:txBody>
          <a:bodyPr wrap="square" lIns="0" tIns="0" rIns="0" bIns="0" rtlCol="0" anchor="t"/>
          <a:lstStyle/>
          <a:p>
            <a:pPr algn="ctr" indent="0" marL="0">
              <a:buNone/>
            </a:pPr>
            <a:r>
              <a:rPr lang="en-US" sz="1050" dirty="0">
                <a:solidFill>
                  <a:srgbClr val="9DB5AD"/>
                </a:solidFill>
                <a:latin typeface="Calibri" pitchFamily="34" charset="0"/>
                <a:ea typeface="Calibri" pitchFamily="34" charset="-122"/>
                <a:cs typeface="Calibri" pitchFamily="34" charset="-120"/>
              </a:rPr>
              <a:t>typical latency</a:t>
            </a:r>
            <a:endParaRPr lang="en-US" sz="1050" dirty="0"/>
          </a:p>
        </p:txBody>
      </p:sp>
      <p:sp>
        <p:nvSpPr>
          <p:cNvPr id="44" name="Shape 41"/>
          <p:cNvSpPr/>
          <p:nvPr/>
        </p:nvSpPr>
        <p:spPr>
          <a:xfrm>
            <a:off x="8083296" y="4160520"/>
            <a:ext cx="3566160" cy="1234440"/>
          </a:xfrm>
          <a:prstGeom prst="roundRect">
            <a:avLst>
              <a:gd name="adj" fmla="val 5926"/>
            </a:avLst>
          </a:prstGeom>
          <a:solidFill>
            <a:srgbClr val="0B2E27"/>
          </a:solidFill>
          <a:ln w="12700">
            <a:solidFill>
              <a:srgbClr val="1D4A3F"/>
            </a:solidFill>
            <a:prstDash val="solid"/>
          </a:ln>
        </p:spPr>
      </p:sp>
      <p:sp>
        <p:nvSpPr>
          <p:cNvPr id="45" name="Text 42"/>
          <p:cNvSpPr/>
          <p:nvPr/>
        </p:nvSpPr>
        <p:spPr>
          <a:xfrm>
            <a:off x="8220456" y="4233672"/>
            <a:ext cx="3291840" cy="678942"/>
          </a:xfrm>
          <a:prstGeom prst="rect">
            <a:avLst/>
          </a:prstGeom>
          <a:noFill/>
          <a:ln/>
        </p:spPr>
        <p:txBody>
          <a:bodyPr wrap="square" lIns="0" tIns="0" rIns="0" bIns="0" rtlCol="0" anchor="ctr"/>
          <a:lstStyle/>
          <a:p>
            <a:pPr algn="ctr" indent="0" marL="0">
              <a:buNone/>
            </a:pPr>
            <a:r>
              <a:rPr lang="en-US" sz="3000" b="1" dirty="0">
                <a:solidFill>
                  <a:srgbClr val="4FB39E"/>
                </a:solidFill>
                <a:latin typeface="Calibri" pitchFamily="34" charset="0"/>
                <a:ea typeface="Calibri" pitchFamily="34" charset="-122"/>
                <a:cs typeface="Calibri" pitchFamily="34" charset="-120"/>
              </a:rPr>
              <a:t>1</a:t>
            </a:r>
            <a:endParaRPr lang="en-US" sz="3000" dirty="0"/>
          </a:p>
        </p:txBody>
      </p:sp>
      <p:sp>
        <p:nvSpPr>
          <p:cNvPr id="46" name="Text 43"/>
          <p:cNvSpPr/>
          <p:nvPr/>
        </p:nvSpPr>
        <p:spPr>
          <a:xfrm>
            <a:off x="8220456" y="4876495"/>
            <a:ext cx="3291840" cy="469087"/>
          </a:xfrm>
          <a:prstGeom prst="rect">
            <a:avLst/>
          </a:prstGeom>
          <a:noFill/>
          <a:ln/>
        </p:spPr>
        <p:txBody>
          <a:bodyPr wrap="square" lIns="0" tIns="0" rIns="0" bIns="0" rtlCol="0" anchor="t"/>
          <a:lstStyle/>
          <a:p>
            <a:pPr algn="ctr" indent="0" marL="0">
              <a:buNone/>
            </a:pPr>
            <a:r>
              <a:rPr lang="en-US" sz="1050" dirty="0">
                <a:solidFill>
                  <a:srgbClr val="9DB5AD"/>
                </a:solidFill>
                <a:latin typeface="Calibri" pitchFamily="34" charset="0"/>
                <a:ea typeface="Calibri" pitchFamily="34" charset="-122"/>
                <a:cs typeface="Calibri" pitchFamily="34" charset="-120"/>
              </a:rPr>
              <a:t>framework actually asked about</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The fix: decide the path before building the agent</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The cheapest agent call is the one that never happens.</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6</a:t>
            </a:r>
            <a:endParaRPr lang="en-US" sz="850" dirty="0"/>
          </a:p>
        </p:txBody>
      </p:sp>
      <p:sp>
        <p:nvSpPr>
          <p:cNvPr id="10" name="Text 7"/>
          <p:cNvSpPr/>
          <p:nvPr/>
        </p:nvSpPr>
        <p:spPr>
          <a:xfrm>
            <a:off x="548640" y="1097280"/>
            <a:ext cx="11064240" cy="594360"/>
          </a:xfrm>
          <a:prstGeom prst="rect">
            <a:avLst/>
          </a:prstGeom>
          <a:noFill/>
          <a:ln/>
        </p:spPr>
        <p:txBody>
          <a:bodyPr wrap="square" lIns="0" tIns="0" rIns="0" bIns="0" rtlCol="0" anchor="t"/>
          <a:lstStyle/>
          <a:p>
            <a:pPr algn="l" indent="0" marL="0">
              <a:buNone/>
            </a:pPr>
            <a:r>
              <a:rPr lang="en-US" sz="1300" dirty="0">
                <a:solidFill>
                  <a:srgbClr val="CFE0DA"/>
                </a:solidFill>
                <a:latin typeface="Calibri" pitchFamily="34" charset="0"/>
                <a:ea typeface="Calibri" pitchFamily="34" charset="-122"/>
                <a:cs typeface="Calibri" pitchFamily="34" charset="-120"/>
              </a:rPr>
              <a:t>Routing moved into the orchestrator as a set of ordered, deterministic checks. The FunctionAgent still exists. It just stopped being the default.</a:t>
            </a:r>
            <a:endParaRPr lang="en-US" sz="1300" dirty="0"/>
          </a:p>
        </p:txBody>
      </p:sp>
      <p:sp>
        <p:nvSpPr>
          <p:cNvPr id="11" name="Shape 8"/>
          <p:cNvSpPr/>
          <p:nvPr/>
        </p:nvSpPr>
        <p:spPr>
          <a:xfrm>
            <a:off x="640080" y="3063240"/>
            <a:ext cx="2468880" cy="685800"/>
          </a:xfrm>
          <a:prstGeom prst="roundRect">
            <a:avLst>
              <a:gd name="adj" fmla="val 12000"/>
            </a:avLst>
          </a:prstGeom>
          <a:solidFill>
            <a:srgbClr val="0B2E27"/>
          </a:solidFill>
          <a:ln w="12700">
            <a:solidFill>
              <a:srgbClr val="1D4A3F"/>
            </a:solidFill>
            <a:prstDash val="solid"/>
          </a:ln>
        </p:spPr>
      </p:sp>
      <p:sp>
        <p:nvSpPr>
          <p:cNvPr id="12" name="Text 9"/>
          <p:cNvSpPr/>
          <p:nvPr/>
        </p:nvSpPr>
        <p:spPr>
          <a:xfrm>
            <a:off x="713232" y="3063240"/>
            <a:ext cx="2322576" cy="685800"/>
          </a:xfrm>
          <a:prstGeom prst="rect">
            <a:avLst/>
          </a:prstGeom>
          <a:noFill/>
          <a:ln/>
        </p:spPr>
        <p:txBody>
          <a:bodyPr wrap="square" lIns="635" tIns="635" rIns="635" bIns="635" rtlCol="0" anchor="ctr"/>
          <a:lstStyle/>
          <a:p>
            <a:pPr algn="ctr" indent="0" marL="0">
              <a:buNone/>
            </a:pPr>
            <a:r>
              <a:rPr lang="en-US" sz="1200" dirty="0">
                <a:solidFill>
                  <a:srgbClr val="F2F7F4"/>
                </a:solidFill>
                <a:latin typeface="Calibri" pitchFamily="34" charset="0"/>
                <a:ea typeface="Calibri" pitchFamily="34" charset="-122"/>
                <a:cs typeface="Calibri" pitchFamily="34" charset="-120"/>
              </a:rPr>
              <a:t>Research question</a:t>
            </a:r>
            <a:endParaRPr lang="en-US" sz="1200" dirty="0"/>
          </a:p>
        </p:txBody>
      </p:sp>
      <p:sp>
        <p:nvSpPr>
          <p:cNvPr id="13" name="Shape 10"/>
          <p:cNvSpPr/>
          <p:nvPr/>
        </p:nvSpPr>
        <p:spPr>
          <a:xfrm>
            <a:off x="3154680" y="3401568"/>
            <a:ext cx="822960" cy="0"/>
          </a:xfrm>
          <a:prstGeom prst="line">
            <a:avLst/>
          </a:prstGeom>
          <a:noFill/>
          <a:ln w="22860">
            <a:solidFill>
              <a:srgbClr val="6F8F85"/>
            </a:solidFill>
            <a:prstDash val="solid"/>
            <a:tailEnd type="triangle"/>
          </a:ln>
        </p:spPr>
      </p:sp>
      <p:sp>
        <p:nvSpPr>
          <p:cNvPr id="14" name="Shape 11"/>
          <p:cNvSpPr/>
          <p:nvPr/>
        </p:nvSpPr>
        <p:spPr>
          <a:xfrm>
            <a:off x="4046220" y="2601468"/>
            <a:ext cx="1600200" cy="1600200"/>
          </a:xfrm>
          <a:prstGeom prst="diamond">
            <a:avLst/>
          </a:prstGeom>
          <a:solidFill>
            <a:srgbClr val="C29C55"/>
          </a:solidFill>
          <a:ln w="12700">
            <a:solidFill>
              <a:srgbClr val="C29C55"/>
            </a:solidFill>
            <a:prstDash val="solid"/>
          </a:ln>
        </p:spPr>
      </p:sp>
      <p:sp>
        <p:nvSpPr>
          <p:cNvPr id="15" name="Text 12"/>
          <p:cNvSpPr/>
          <p:nvPr/>
        </p:nvSpPr>
        <p:spPr>
          <a:xfrm>
            <a:off x="3909060" y="2601468"/>
            <a:ext cx="1874520" cy="1600200"/>
          </a:xfrm>
          <a:prstGeom prst="rect">
            <a:avLst/>
          </a:prstGeom>
          <a:noFill/>
          <a:ln/>
        </p:spPr>
        <p:txBody>
          <a:bodyPr wrap="square" lIns="0" tIns="0" rIns="0" bIns="0" rtlCol="0" anchor="ctr"/>
          <a:lstStyle/>
          <a:p>
            <a:pPr algn="ctr" indent="0" marL="0">
              <a:buNone/>
            </a:pPr>
            <a:r>
              <a:rPr lang="en-US" sz="1300" b="1" dirty="0">
                <a:solidFill>
                  <a:srgbClr val="06211B"/>
                </a:solidFill>
                <a:latin typeface="Calibri" pitchFamily="34" charset="0"/>
                <a:ea typeface="Calibri" pitchFamily="34" charset="-122"/>
                <a:cs typeface="Calibri" pitchFamily="34" charset="-120"/>
              </a:rPr>
              <a:t>Router</a:t>
            </a:r>
            <a:endParaRPr lang="en-US" sz="1300" dirty="0"/>
          </a:p>
        </p:txBody>
      </p:sp>
      <p:sp>
        <p:nvSpPr>
          <p:cNvPr id="16" name="Shape 13"/>
          <p:cNvSpPr/>
          <p:nvPr/>
        </p:nvSpPr>
        <p:spPr>
          <a:xfrm flipV="1">
            <a:off x="5715000" y="1737360"/>
            <a:ext cx="1188720" cy="1664208"/>
          </a:xfrm>
          <a:prstGeom prst="line">
            <a:avLst/>
          </a:prstGeom>
          <a:noFill/>
          <a:ln w="19050">
            <a:solidFill>
              <a:srgbClr val="6F8F85"/>
            </a:solidFill>
            <a:prstDash val="solid"/>
            <a:tailEnd type="triangle"/>
          </a:ln>
        </p:spPr>
      </p:sp>
      <p:sp>
        <p:nvSpPr>
          <p:cNvPr id="17" name="Shape 14"/>
          <p:cNvSpPr/>
          <p:nvPr/>
        </p:nvSpPr>
        <p:spPr>
          <a:xfrm>
            <a:off x="6995160" y="1371600"/>
            <a:ext cx="3291840" cy="731520"/>
          </a:xfrm>
          <a:prstGeom prst="roundRect">
            <a:avLst>
              <a:gd name="adj" fmla="val 8750"/>
            </a:avLst>
          </a:prstGeom>
          <a:solidFill>
            <a:srgbClr val="4FB39E"/>
          </a:solidFill>
          <a:ln w="12700">
            <a:solidFill>
              <a:srgbClr val="4FB39E"/>
            </a:solidFill>
            <a:prstDash val="solid"/>
          </a:ln>
        </p:spPr>
      </p:sp>
      <p:sp>
        <p:nvSpPr>
          <p:cNvPr id="18" name="Text 15"/>
          <p:cNvSpPr/>
          <p:nvPr/>
        </p:nvSpPr>
        <p:spPr>
          <a:xfrm>
            <a:off x="6995160" y="1371600"/>
            <a:ext cx="3291840" cy="731520"/>
          </a:xfrm>
          <a:prstGeom prst="rect">
            <a:avLst/>
          </a:prstGeom>
          <a:noFill/>
          <a:ln/>
        </p:spPr>
        <p:txBody>
          <a:bodyPr wrap="square" lIns="381" tIns="381" rIns="381" bIns="381" rtlCol="0" anchor="ctr"/>
          <a:lstStyle/>
          <a:p>
            <a:pPr algn="ctr" indent="0" marL="0">
              <a:buNone/>
            </a:pPr>
            <a:r>
              <a:rPr lang="en-US" sz="1250" b="1" dirty="0">
                <a:solidFill>
                  <a:srgbClr val="06211B"/>
                </a:solidFill>
                <a:latin typeface="Calibri" pitchFamily="34" charset="0"/>
                <a:ea typeface="Calibri" pitchFamily="34" charset="-122"/>
                <a:cs typeface="Calibri" pitchFamily="34" charset="-120"/>
              </a:rPr>
              <a:t>Identity route</a:t>
            </a:r>
            <a:endParaRPr lang="en-US" sz="1250" dirty="0"/>
          </a:p>
        </p:txBody>
      </p:sp>
      <p:sp>
        <p:nvSpPr>
          <p:cNvPr id="19" name="Shape 16"/>
          <p:cNvSpPr/>
          <p:nvPr/>
        </p:nvSpPr>
        <p:spPr>
          <a:xfrm flipV="1">
            <a:off x="5715000" y="3063240"/>
            <a:ext cx="1188720" cy="338328"/>
          </a:xfrm>
          <a:prstGeom prst="line">
            <a:avLst/>
          </a:prstGeom>
          <a:noFill/>
          <a:ln w="19050">
            <a:solidFill>
              <a:srgbClr val="6F8F85"/>
            </a:solidFill>
            <a:prstDash val="solid"/>
            <a:tailEnd type="triangle"/>
          </a:ln>
        </p:spPr>
      </p:sp>
      <p:sp>
        <p:nvSpPr>
          <p:cNvPr id="20" name="Shape 17"/>
          <p:cNvSpPr/>
          <p:nvPr/>
        </p:nvSpPr>
        <p:spPr>
          <a:xfrm>
            <a:off x="6995160" y="2697480"/>
            <a:ext cx="3291840" cy="731520"/>
          </a:xfrm>
          <a:prstGeom prst="roundRect">
            <a:avLst>
              <a:gd name="adj" fmla="val 8750"/>
            </a:avLst>
          </a:prstGeom>
          <a:solidFill>
            <a:srgbClr val="4FB39E"/>
          </a:solidFill>
          <a:ln w="12700">
            <a:solidFill>
              <a:srgbClr val="4FB39E"/>
            </a:solidFill>
            <a:prstDash val="solid"/>
          </a:ln>
        </p:spPr>
      </p:sp>
      <p:sp>
        <p:nvSpPr>
          <p:cNvPr id="21" name="Text 18"/>
          <p:cNvSpPr/>
          <p:nvPr/>
        </p:nvSpPr>
        <p:spPr>
          <a:xfrm>
            <a:off x="6995160" y="2697480"/>
            <a:ext cx="3291840" cy="731520"/>
          </a:xfrm>
          <a:prstGeom prst="rect">
            <a:avLst/>
          </a:prstGeom>
          <a:noFill/>
          <a:ln/>
        </p:spPr>
        <p:txBody>
          <a:bodyPr wrap="square" lIns="381" tIns="381" rIns="381" bIns="381" rtlCol="0" anchor="ctr"/>
          <a:lstStyle/>
          <a:p>
            <a:pPr algn="ctr" indent="0" marL="0">
              <a:buNone/>
            </a:pPr>
            <a:r>
              <a:rPr lang="en-US" sz="1250" b="1" dirty="0">
                <a:solidFill>
                  <a:srgbClr val="06211B"/>
                </a:solidFill>
                <a:latin typeface="Calibri" pitchFamily="34" charset="0"/>
                <a:ea typeface="Calibri" pitchFamily="34" charset="-122"/>
                <a:cs typeface="Calibri" pitchFamily="34" charset="-120"/>
              </a:rPr>
              <a:t>Single topic route</a:t>
            </a:r>
            <a:endParaRPr lang="en-US" sz="1250" dirty="0"/>
          </a:p>
        </p:txBody>
      </p:sp>
      <p:sp>
        <p:nvSpPr>
          <p:cNvPr id="22" name="Shape 19"/>
          <p:cNvSpPr/>
          <p:nvPr/>
        </p:nvSpPr>
        <p:spPr>
          <a:xfrm>
            <a:off x="5715000" y="3401568"/>
            <a:ext cx="1188720" cy="987552"/>
          </a:xfrm>
          <a:prstGeom prst="line">
            <a:avLst/>
          </a:prstGeom>
          <a:noFill/>
          <a:ln w="19050">
            <a:solidFill>
              <a:srgbClr val="6F8F85"/>
            </a:solidFill>
            <a:prstDash val="solid"/>
            <a:tailEnd type="triangle"/>
          </a:ln>
        </p:spPr>
      </p:sp>
      <p:sp>
        <p:nvSpPr>
          <p:cNvPr id="23" name="Shape 20"/>
          <p:cNvSpPr/>
          <p:nvPr/>
        </p:nvSpPr>
        <p:spPr>
          <a:xfrm>
            <a:off x="6995160" y="4023360"/>
            <a:ext cx="3291840" cy="731520"/>
          </a:xfrm>
          <a:prstGeom prst="roundRect">
            <a:avLst>
              <a:gd name="adj" fmla="val 8750"/>
            </a:avLst>
          </a:prstGeom>
          <a:solidFill>
            <a:srgbClr val="4FB39E"/>
          </a:solidFill>
          <a:ln w="12700">
            <a:solidFill>
              <a:srgbClr val="4FB39E"/>
            </a:solidFill>
            <a:prstDash val="solid"/>
          </a:ln>
        </p:spPr>
      </p:sp>
      <p:sp>
        <p:nvSpPr>
          <p:cNvPr id="24" name="Text 21"/>
          <p:cNvSpPr/>
          <p:nvPr/>
        </p:nvSpPr>
        <p:spPr>
          <a:xfrm>
            <a:off x="6995160" y="4023360"/>
            <a:ext cx="3291840" cy="731520"/>
          </a:xfrm>
          <a:prstGeom prst="rect">
            <a:avLst/>
          </a:prstGeom>
          <a:noFill/>
          <a:ln/>
        </p:spPr>
        <p:txBody>
          <a:bodyPr wrap="square" lIns="381" tIns="381" rIns="381" bIns="381" rtlCol="0" anchor="ctr"/>
          <a:lstStyle/>
          <a:p>
            <a:pPr algn="ctr" indent="0" marL="0">
              <a:buNone/>
            </a:pPr>
            <a:r>
              <a:rPr lang="en-US" sz="1250" b="1" dirty="0">
                <a:solidFill>
                  <a:srgbClr val="06211B"/>
                </a:solidFill>
                <a:latin typeface="Calibri" pitchFamily="34" charset="0"/>
                <a:ea typeface="Calibri" pitchFamily="34" charset="-122"/>
                <a:cs typeface="Calibri" pitchFamily="34" charset="-120"/>
              </a:rPr>
              <a:t>Parallel comparison route</a:t>
            </a:r>
            <a:endParaRPr lang="en-US" sz="1250" dirty="0"/>
          </a:p>
        </p:txBody>
      </p:sp>
      <p:sp>
        <p:nvSpPr>
          <p:cNvPr id="25" name="Shape 22"/>
          <p:cNvSpPr/>
          <p:nvPr/>
        </p:nvSpPr>
        <p:spPr>
          <a:xfrm>
            <a:off x="5715000" y="3401568"/>
            <a:ext cx="1188720" cy="2313432"/>
          </a:xfrm>
          <a:prstGeom prst="line">
            <a:avLst/>
          </a:prstGeom>
          <a:noFill/>
          <a:ln w="19050">
            <a:solidFill>
              <a:srgbClr val="6F8F85"/>
            </a:solidFill>
            <a:prstDash val="solid"/>
            <a:tailEnd type="triangle"/>
          </a:ln>
        </p:spPr>
      </p:sp>
      <p:sp>
        <p:nvSpPr>
          <p:cNvPr id="26" name="Shape 23"/>
          <p:cNvSpPr/>
          <p:nvPr/>
        </p:nvSpPr>
        <p:spPr>
          <a:xfrm>
            <a:off x="6995160" y="5349240"/>
            <a:ext cx="3291840" cy="731520"/>
          </a:xfrm>
          <a:prstGeom prst="roundRect">
            <a:avLst>
              <a:gd name="adj" fmla="val 8750"/>
            </a:avLst>
          </a:prstGeom>
          <a:solidFill>
            <a:srgbClr val="2B776D"/>
          </a:solidFill>
          <a:ln w="12700">
            <a:solidFill>
              <a:srgbClr val="2B776D"/>
            </a:solidFill>
            <a:prstDash val="solid"/>
          </a:ln>
        </p:spPr>
      </p:sp>
      <p:sp>
        <p:nvSpPr>
          <p:cNvPr id="27" name="Text 24"/>
          <p:cNvSpPr/>
          <p:nvPr/>
        </p:nvSpPr>
        <p:spPr>
          <a:xfrm>
            <a:off x="6995160" y="5349240"/>
            <a:ext cx="3291840" cy="731520"/>
          </a:xfrm>
          <a:prstGeom prst="rect">
            <a:avLst/>
          </a:prstGeom>
          <a:noFill/>
          <a:ln/>
        </p:spPr>
        <p:txBody>
          <a:bodyPr wrap="square" lIns="381" tIns="381" rIns="381" bIns="381"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FunctionAgent route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Four live routes, one planned</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Checks run cheapest first; the agent is reached only by elimination.</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7</a:t>
            </a:r>
            <a:endParaRPr lang="en-US" sz="850" dirty="0"/>
          </a:p>
        </p:txBody>
      </p:sp>
      <p:sp>
        <p:nvSpPr>
          <p:cNvPr id="10" name="Shape 7"/>
          <p:cNvSpPr/>
          <p:nvPr/>
        </p:nvSpPr>
        <p:spPr>
          <a:xfrm>
            <a:off x="822960" y="2587752"/>
            <a:ext cx="1554480" cy="1554480"/>
          </a:xfrm>
          <a:prstGeom prst="diamond">
            <a:avLst/>
          </a:prstGeom>
          <a:solidFill>
            <a:srgbClr val="C29C55"/>
          </a:solidFill>
          <a:ln w="12700">
            <a:solidFill>
              <a:srgbClr val="C29C55"/>
            </a:solidFill>
            <a:prstDash val="solid"/>
          </a:ln>
        </p:spPr>
      </p:sp>
      <p:sp>
        <p:nvSpPr>
          <p:cNvPr id="11" name="Text 8"/>
          <p:cNvSpPr/>
          <p:nvPr/>
        </p:nvSpPr>
        <p:spPr>
          <a:xfrm>
            <a:off x="685800" y="2587752"/>
            <a:ext cx="1828800" cy="1554480"/>
          </a:xfrm>
          <a:prstGeom prst="rect">
            <a:avLst/>
          </a:prstGeom>
          <a:noFill/>
          <a:ln/>
        </p:spPr>
        <p:txBody>
          <a:bodyPr wrap="square" lIns="0" tIns="0" rIns="0" bIns="0" rtlCol="0" anchor="ctr"/>
          <a:lstStyle/>
          <a:p>
            <a:pPr algn="ctr" indent="0" marL="0">
              <a:buNone/>
            </a:pPr>
            <a:r>
              <a:rPr lang="en-US" sz="1300" b="1" dirty="0">
                <a:solidFill>
                  <a:srgbClr val="06211B"/>
                </a:solidFill>
                <a:latin typeface="Calibri" pitchFamily="34" charset="0"/>
                <a:ea typeface="Calibri" pitchFamily="34" charset="-122"/>
                <a:cs typeface="Calibri" pitchFamily="34" charset="-120"/>
              </a:rPr>
              <a:t>Router</a:t>
            </a:r>
            <a:endParaRPr lang="en-US" sz="1300" dirty="0"/>
          </a:p>
        </p:txBody>
      </p:sp>
      <p:sp>
        <p:nvSpPr>
          <p:cNvPr id="12" name="Shape 9"/>
          <p:cNvSpPr/>
          <p:nvPr/>
        </p:nvSpPr>
        <p:spPr>
          <a:xfrm flipV="1">
            <a:off x="2395728" y="1600200"/>
            <a:ext cx="850392" cy="1764792"/>
          </a:xfrm>
          <a:prstGeom prst="line">
            <a:avLst/>
          </a:prstGeom>
          <a:noFill/>
          <a:ln w="16510">
            <a:solidFill>
              <a:srgbClr val="6F8F85"/>
            </a:solidFill>
            <a:prstDash val="solid"/>
            <a:tailEnd type="triangle"/>
          </a:ln>
        </p:spPr>
      </p:sp>
      <p:sp>
        <p:nvSpPr>
          <p:cNvPr id="13" name="Shape 10"/>
          <p:cNvSpPr/>
          <p:nvPr/>
        </p:nvSpPr>
        <p:spPr>
          <a:xfrm>
            <a:off x="3337560" y="1207008"/>
            <a:ext cx="2514600" cy="786384"/>
          </a:xfrm>
          <a:prstGeom prst="roundRect">
            <a:avLst>
              <a:gd name="adj" fmla="val 8140"/>
            </a:avLst>
          </a:prstGeom>
          <a:solidFill>
            <a:srgbClr val="4FB39E"/>
          </a:solidFill>
          <a:ln w="12700">
            <a:solidFill>
              <a:srgbClr val="4FB39E"/>
            </a:solidFill>
            <a:prstDash val="solid"/>
          </a:ln>
        </p:spPr>
      </p:sp>
      <p:sp>
        <p:nvSpPr>
          <p:cNvPr id="14" name="Text 11"/>
          <p:cNvSpPr/>
          <p:nvPr/>
        </p:nvSpPr>
        <p:spPr>
          <a:xfrm>
            <a:off x="3337560" y="1207008"/>
            <a:ext cx="2514600" cy="786384"/>
          </a:xfrm>
          <a:prstGeom prst="rect">
            <a:avLst/>
          </a:prstGeom>
          <a:noFill/>
          <a:ln/>
        </p:spPr>
        <p:txBody>
          <a:bodyPr wrap="square" lIns="381" tIns="381" rIns="381" bIns="381" rtlCol="0" anchor="ctr"/>
          <a:lstStyle/>
          <a:p>
            <a:pPr algn="ctr" indent="0" marL="0">
              <a:buNone/>
            </a:pPr>
            <a:r>
              <a:rPr lang="en-US" sz="1250" b="1" dirty="0">
                <a:solidFill>
                  <a:srgbClr val="06211B"/>
                </a:solidFill>
                <a:latin typeface="Calibri" pitchFamily="34" charset="0"/>
                <a:ea typeface="Calibri" pitchFamily="34" charset="-122"/>
                <a:cs typeface="Calibri" pitchFamily="34" charset="-120"/>
              </a:rPr>
              <a:t>Identity</a:t>
            </a:r>
            <a:endParaRPr lang="en-US" sz="1250" dirty="0"/>
          </a:p>
        </p:txBody>
      </p:sp>
      <p:pic>
        <p:nvPicPr>
          <p:cNvPr id="15" name="Image 1" descr="/home/claude/evidenceops/icons/user_white.png">    </p:cNvPr>
          <p:cNvPicPr>
            <a:picLocks noChangeAspect="1"/>
          </p:cNvPicPr>
          <p:nvPr/>
        </p:nvPicPr>
        <p:blipFill>
          <a:blip r:embed="rId2"/>
          <a:stretch>
            <a:fillRect/>
          </a:stretch>
        </p:blipFill>
        <p:spPr>
          <a:xfrm>
            <a:off x="3493008" y="1481328"/>
            <a:ext cx="237744" cy="237744"/>
          </a:xfrm>
          <a:prstGeom prst="rect">
            <a:avLst/>
          </a:prstGeom>
        </p:spPr>
      </p:pic>
      <p:sp>
        <p:nvSpPr>
          <p:cNvPr id="16" name="Text 12"/>
          <p:cNvSpPr/>
          <p:nvPr/>
        </p:nvSpPr>
        <p:spPr>
          <a:xfrm>
            <a:off x="6035040" y="1207008"/>
            <a:ext cx="2926080" cy="786384"/>
          </a:xfrm>
          <a:prstGeom prst="rect">
            <a:avLst/>
          </a:prstGeom>
          <a:noFill/>
          <a:ln/>
        </p:spPr>
        <p:txBody>
          <a:bodyPr wrap="square" lIns="0" tIns="0" rIns="0" bIns="0" rtlCol="0" anchor="ctr"/>
          <a:lstStyle/>
          <a:p>
            <a:pPr algn="l" indent="0" marL="0">
              <a:buNone/>
            </a:pPr>
            <a:r>
              <a:rPr lang="en-US" sz="1100" dirty="0">
                <a:solidFill>
                  <a:srgbClr val="CFE0DA"/>
                </a:solidFill>
                <a:latin typeface="Calibri" pitchFamily="34" charset="0"/>
                <a:ea typeface="Calibri" pitchFamily="34" charset="-122"/>
                <a:cs typeface="Calibri" pitchFamily="34" charset="-120"/>
              </a:rPr>
              <a:t>Self-introduction questions</a:t>
            </a:r>
            <a:endParaRPr lang="en-US" sz="1100" dirty="0"/>
          </a:p>
        </p:txBody>
      </p:sp>
      <p:sp>
        <p:nvSpPr>
          <p:cNvPr id="17" name="Shape 13"/>
          <p:cNvSpPr/>
          <p:nvPr/>
        </p:nvSpPr>
        <p:spPr>
          <a:xfrm>
            <a:off x="9098280" y="1444752"/>
            <a:ext cx="877824" cy="329184"/>
          </a:xfrm>
          <a:prstGeom prst="roundRect">
            <a:avLst>
              <a:gd name="adj" fmla="val 44444"/>
            </a:avLst>
          </a:prstGeom>
          <a:solidFill>
            <a:srgbClr val="0F3A31"/>
          </a:solidFill>
          <a:ln w="9525">
            <a:solidFill>
              <a:srgbClr val="1D4A3F"/>
            </a:solidFill>
            <a:prstDash val="solid"/>
          </a:ln>
        </p:spPr>
      </p:sp>
      <p:sp>
        <p:nvSpPr>
          <p:cNvPr id="18" name="Text 14"/>
          <p:cNvSpPr/>
          <p:nvPr/>
        </p:nvSpPr>
        <p:spPr>
          <a:xfrm>
            <a:off x="9098280" y="1444752"/>
            <a:ext cx="877824" cy="329184"/>
          </a:xfrm>
          <a:prstGeom prst="rect">
            <a:avLst/>
          </a:prstGeom>
          <a:noFill/>
          <a:ln/>
        </p:spPr>
        <p:txBody>
          <a:bodyPr wrap="square" lIns="0" tIns="0" rIns="0" bIns="0" rtlCol="0" anchor="ctr"/>
          <a:lstStyle/>
          <a:p>
            <a:pPr algn="ctr" indent="0" marL="0">
              <a:buNone/>
            </a:pPr>
            <a:r>
              <a:rPr lang="en-US" sz="850" dirty="0">
                <a:solidFill>
                  <a:srgbClr val="4FB39E"/>
                </a:solidFill>
                <a:latin typeface="Calibri" pitchFamily="34" charset="0"/>
                <a:ea typeface="Calibri" pitchFamily="34" charset="-122"/>
                <a:cs typeface="Calibri" pitchFamily="34" charset="-120"/>
              </a:rPr>
              <a:t>0 searches</a:t>
            </a:r>
            <a:endParaRPr lang="en-US" sz="850" dirty="0"/>
          </a:p>
        </p:txBody>
      </p:sp>
      <p:sp>
        <p:nvSpPr>
          <p:cNvPr id="19" name="Shape 15"/>
          <p:cNvSpPr/>
          <p:nvPr/>
        </p:nvSpPr>
        <p:spPr>
          <a:xfrm>
            <a:off x="10049256" y="1444752"/>
            <a:ext cx="680314" cy="329184"/>
          </a:xfrm>
          <a:prstGeom prst="roundRect">
            <a:avLst>
              <a:gd name="adj" fmla="val 44444"/>
            </a:avLst>
          </a:prstGeom>
          <a:solidFill>
            <a:srgbClr val="0F3A31"/>
          </a:solidFill>
          <a:ln w="9525">
            <a:solidFill>
              <a:srgbClr val="1D4A3F"/>
            </a:solidFill>
            <a:prstDash val="solid"/>
          </a:ln>
        </p:spPr>
      </p:sp>
      <p:sp>
        <p:nvSpPr>
          <p:cNvPr id="20" name="Text 16"/>
          <p:cNvSpPr/>
          <p:nvPr/>
        </p:nvSpPr>
        <p:spPr>
          <a:xfrm>
            <a:off x="10049256" y="1444752"/>
            <a:ext cx="680314" cy="329184"/>
          </a:xfrm>
          <a:prstGeom prst="rect">
            <a:avLst/>
          </a:prstGeom>
          <a:noFill/>
          <a:ln/>
        </p:spPr>
        <p:txBody>
          <a:bodyPr wrap="square" lIns="0" tIns="0" rIns="0" bIns="0" rtlCol="0" anchor="ctr"/>
          <a:lstStyle/>
          <a:p>
            <a:pPr algn="ctr" indent="0" marL="0">
              <a:buNone/>
            </a:pPr>
            <a:r>
              <a:rPr lang="en-US" sz="850" dirty="0">
                <a:solidFill>
                  <a:srgbClr val="4FB39E"/>
                </a:solidFill>
                <a:latin typeface="Calibri" pitchFamily="34" charset="0"/>
                <a:ea typeface="Calibri" pitchFamily="34" charset="-122"/>
                <a:cs typeface="Calibri" pitchFamily="34" charset="-120"/>
              </a:rPr>
              <a:t>0 agent</a:t>
            </a:r>
            <a:endParaRPr lang="en-US" sz="850" dirty="0"/>
          </a:p>
        </p:txBody>
      </p:sp>
      <p:sp>
        <p:nvSpPr>
          <p:cNvPr id="21" name="Shape 17"/>
          <p:cNvSpPr/>
          <p:nvPr/>
        </p:nvSpPr>
        <p:spPr>
          <a:xfrm>
            <a:off x="10802722" y="1444752"/>
            <a:ext cx="680314" cy="329184"/>
          </a:xfrm>
          <a:prstGeom prst="roundRect">
            <a:avLst>
              <a:gd name="adj" fmla="val 44444"/>
            </a:avLst>
          </a:prstGeom>
          <a:solidFill>
            <a:srgbClr val="0F3A31"/>
          </a:solidFill>
          <a:ln w="9525">
            <a:solidFill>
              <a:srgbClr val="1D4A3F"/>
            </a:solidFill>
            <a:prstDash val="solid"/>
          </a:ln>
        </p:spPr>
      </p:sp>
      <p:sp>
        <p:nvSpPr>
          <p:cNvPr id="22" name="Text 18"/>
          <p:cNvSpPr/>
          <p:nvPr/>
        </p:nvSpPr>
        <p:spPr>
          <a:xfrm>
            <a:off x="10802722" y="1444752"/>
            <a:ext cx="680314" cy="329184"/>
          </a:xfrm>
          <a:prstGeom prst="rect">
            <a:avLst/>
          </a:prstGeom>
          <a:noFill/>
          <a:ln/>
        </p:spPr>
        <p:txBody>
          <a:bodyPr wrap="square" lIns="0" tIns="0" rIns="0" bIns="0" rtlCol="0" anchor="ctr"/>
          <a:lstStyle/>
          <a:p>
            <a:pPr algn="ctr" indent="0" marL="0">
              <a:buNone/>
            </a:pPr>
            <a:r>
              <a:rPr lang="en-US" sz="850" dirty="0">
                <a:solidFill>
                  <a:srgbClr val="4FB39E"/>
                </a:solidFill>
                <a:latin typeface="Calibri" pitchFamily="34" charset="0"/>
                <a:ea typeface="Calibri" pitchFamily="34" charset="-122"/>
                <a:cs typeface="Calibri" pitchFamily="34" charset="-120"/>
              </a:rPr>
              <a:t>instant</a:t>
            </a:r>
            <a:endParaRPr lang="en-US" sz="850" dirty="0"/>
          </a:p>
        </p:txBody>
      </p:sp>
      <p:sp>
        <p:nvSpPr>
          <p:cNvPr id="23" name="Shape 19"/>
          <p:cNvSpPr/>
          <p:nvPr/>
        </p:nvSpPr>
        <p:spPr>
          <a:xfrm flipV="1">
            <a:off x="2395728" y="2569464"/>
            <a:ext cx="850392" cy="795528"/>
          </a:xfrm>
          <a:prstGeom prst="line">
            <a:avLst/>
          </a:prstGeom>
          <a:noFill/>
          <a:ln w="16510">
            <a:solidFill>
              <a:srgbClr val="6F8F85"/>
            </a:solidFill>
            <a:prstDash val="dash"/>
            <a:tailEnd type="triangle"/>
          </a:ln>
        </p:spPr>
      </p:sp>
      <p:sp>
        <p:nvSpPr>
          <p:cNvPr id="24" name="Shape 20"/>
          <p:cNvSpPr/>
          <p:nvPr/>
        </p:nvSpPr>
        <p:spPr>
          <a:xfrm>
            <a:off x="3337560" y="2176272"/>
            <a:ext cx="2514600" cy="786384"/>
          </a:xfrm>
          <a:prstGeom prst="roundRect">
            <a:avLst>
              <a:gd name="adj" fmla="val 8140"/>
            </a:avLst>
          </a:prstGeom>
          <a:solidFill>
            <a:srgbClr val="06211B"/>
          </a:solidFill>
          <a:ln w="13970">
            <a:solidFill>
              <a:srgbClr val="9DB5AD"/>
            </a:solidFill>
            <a:prstDash val="dash"/>
          </a:ln>
        </p:spPr>
      </p:sp>
      <p:sp>
        <p:nvSpPr>
          <p:cNvPr id="25" name="Text 21"/>
          <p:cNvSpPr/>
          <p:nvPr/>
        </p:nvSpPr>
        <p:spPr>
          <a:xfrm>
            <a:off x="3337560" y="2176272"/>
            <a:ext cx="2514600" cy="786384"/>
          </a:xfrm>
          <a:prstGeom prst="rect">
            <a:avLst/>
          </a:prstGeom>
          <a:noFill/>
          <a:ln/>
        </p:spPr>
        <p:txBody>
          <a:bodyPr wrap="square" lIns="381" tIns="381" rIns="381" bIns="381" rtlCol="0" anchor="ctr"/>
          <a:lstStyle/>
          <a:p>
            <a:pPr algn="ctr" indent="0" marL="0">
              <a:buNone/>
            </a:pPr>
            <a:r>
              <a:rPr lang="en-US" sz="1250" dirty="0">
                <a:solidFill>
                  <a:srgbClr val="9DB5AD"/>
                </a:solidFill>
                <a:latin typeface="Calibri" pitchFamily="34" charset="0"/>
                <a:ea typeface="Calibri" pitchFamily="34" charset="-122"/>
                <a:cs typeface="Calibri" pitchFamily="34" charset="-120"/>
              </a:rPr>
              <a:t>Capabilities</a:t>
            </a:r>
            <a:endParaRPr lang="en-US" sz="1250" dirty="0"/>
          </a:p>
        </p:txBody>
      </p:sp>
      <p:pic>
        <p:nvPicPr>
          <p:cNvPr id="26" name="Image 2" descr="/home/claude/evidenceops/icons/tool_mutedk.png">    </p:cNvPr>
          <p:cNvPicPr>
            <a:picLocks noChangeAspect="1"/>
          </p:cNvPicPr>
          <p:nvPr/>
        </p:nvPicPr>
        <p:blipFill>
          <a:blip r:embed="rId3"/>
          <a:stretch>
            <a:fillRect/>
          </a:stretch>
        </p:blipFill>
        <p:spPr>
          <a:xfrm>
            <a:off x="3493008" y="2450592"/>
            <a:ext cx="237744" cy="237744"/>
          </a:xfrm>
          <a:prstGeom prst="rect">
            <a:avLst/>
          </a:prstGeom>
        </p:spPr>
      </p:pic>
      <p:sp>
        <p:nvSpPr>
          <p:cNvPr id="27" name="Text 22"/>
          <p:cNvSpPr/>
          <p:nvPr/>
        </p:nvSpPr>
        <p:spPr>
          <a:xfrm>
            <a:off x="6035040" y="2176272"/>
            <a:ext cx="2926080" cy="786384"/>
          </a:xfrm>
          <a:prstGeom prst="rect">
            <a:avLst/>
          </a:prstGeom>
          <a:noFill/>
          <a:ln/>
        </p:spPr>
        <p:txBody>
          <a:bodyPr wrap="square" lIns="0" tIns="0" rIns="0" bIns="0" rtlCol="0" anchor="ctr"/>
          <a:lstStyle/>
          <a:p>
            <a:pPr algn="l" indent="0" marL="0">
              <a:buNone/>
            </a:pPr>
            <a:r>
              <a:rPr lang="en-US" sz="1100" dirty="0">
                <a:solidFill>
                  <a:srgbClr val="CFE0DA"/>
                </a:solidFill>
                <a:latin typeface="Calibri" pitchFamily="34" charset="0"/>
                <a:ea typeface="Calibri" pitchFamily="34" charset="-122"/>
                <a:cs typeface="Calibri" pitchFamily="34" charset="-120"/>
              </a:rPr>
              <a:t>Questions about the system itself</a:t>
            </a:r>
            <a:endParaRPr lang="en-US" sz="1100" dirty="0"/>
          </a:p>
        </p:txBody>
      </p:sp>
      <p:sp>
        <p:nvSpPr>
          <p:cNvPr id="28" name="Shape 23"/>
          <p:cNvSpPr/>
          <p:nvPr/>
        </p:nvSpPr>
        <p:spPr>
          <a:xfrm>
            <a:off x="9098280" y="2414016"/>
            <a:ext cx="1009498" cy="329184"/>
          </a:xfrm>
          <a:prstGeom prst="roundRect">
            <a:avLst>
              <a:gd name="adj" fmla="val 44444"/>
            </a:avLst>
          </a:prstGeom>
          <a:solidFill>
            <a:srgbClr val="0F3A31"/>
          </a:solidFill>
          <a:ln w="9525">
            <a:solidFill>
              <a:srgbClr val="1D4A3F"/>
            </a:solidFill>
            <a:prstDash val="solid"/>
          </a:ln>
        </p:spPr>
      </p:sp>
      <p:sp>
        <p:nvSpPr>
          <p:cNvPr id="29" name="Text 24"/>
          <p:cNvSpPr/>
          <p:nvPr/>
        </p:nvSpPr>
        <p:spPr>
          <a:xfrm>
            <a:off x="9098280" y="2414016"/>
            <a:ext cx="1009498" cy="329184"/>
          </a:xfrm>
          <a:prstGeom prst="rect">
            <a:avLst/>
          </a:prstGeom>
          <a:noFill/>
          <a:ln/>
        </p:spPr>
        <p:txBody>
          <a:bodyPr wrap="square" lIns="0" tIns="0" rIns="0" bIns="0" rtlCol="0" anchor="ctr"/>
          <a:lstStyle/>
          <a:p>
            <a:pPr algn="ctr" indent="0" marL="0">
              <a:buNone/>
            </a:pPr>
            <a:r>
              <a:rPr lang="en-US" sz="850" dirty="0">
                <a:solidFill>
                  <a:srgbClr val="E3CB9A"/>
                </a:solidFill>
                <a:latin typeface="Calibri" pitchFamily="34" charset="0"/>
                <a:ea typeface="Calibri" pitchFamily="34" charset="-122"/>
                <a:cs typeface="Calibri" pitchFamily="34" charset="-120"/>
              </a:rPr>
              <a:t>planned next</a:t>
            </a:r>
            <a:endParaRPr lang="en-US" sz="850" dirty="0"/>
          </a:p>
        </p:txBody>
      </p:sp>
      <p:sp>
        <p:nvSpPr>
          <p:cNvPr id="30" name="Shape 25"/>
          <p:cNvSpPr/>
          <p:nvPr/>
        </p:nvSpPr>
        <p:spPr>
          <a:xfrm>
            <a:off x="2395728" y="3364992"/>
            <a:ext cx="850392" cy="173736"/>
          </a:xfrm>
          <a:prstGeom prst="line">
            <a:avLst/>
          </a:prstGeom>
          <a:noFill/>
          <a:ln w="16510">
            <a:solidFill>
              <a:srgbClr val="6F8F85"/>
            </a:solidFill>
            <a:prstDash val="solid"/>
            <a:tailEnd type="triangle"/>
          </a:ln>
        </p:spPr>
      </p:sp>
      <p:sp>
        <p:nvSpPr>
          <p:cNvPr id="31" name="Shape 26"/>
          <p:cNvSpPr/>
          <p:nvPr/>
        </p:nvSpPr>
        <p:spPr>
          <a:xfrm>
            <a:off x="3337560" y="3145536"/>
            <a:ext cx="2514600" cy="786384"/>
          </a:xfrm>
          <a:prstGeom prst="roundRect">
            <a:avLst>
              <a:gd name="adj" fmla="val 8140"/>
            </a:avLst>
          </a:prstGeom>
          <a:solidFill>
            <a:srgbClr val="4FB39E"/>
          </a:solidFill>
          <a:ln w="12700">
            <a:solidFill>
              <a:srgbClr val="4FB39E"/>
            </a:solidFill>
            <a:prstDash val="solid"/>
          </a:ln>
        </p:spPr>
      </p:sp>
      <p:sp>
        <p:nvSpPr>
          <p:cNvPr id="32" name="Text 27"/>
          <p:cNvSpPr/>
          <p:nvPr/>
        </p:nvSpPr>
        <p:spPr>
          <a:xfrm>
            <a:off x="3337560" y="3145536"/>
            <a:ext cx="2514600" cy="786384"/>
          </a:xfrm>
          <a:prstGeom prst="rect">
            <a:avLst/>
          </a:prstGeom>
          <a:noFill/>
          <a:ln/>
        </p:spPr>
        <p:txBody>
          <a:bodyPr wrap="square" lIns="381" tIns="381" rIns="381" bIns="381" rtlCol="0" anchor="ctr"/>
          <a:lstStyle/>
          <a:p>
            <a:pPr algn="ctr" indent="0" marL="0">
              <a:buNone/>
            </a:pPr>
            <a:r>
              <a:rPr lang="en-US" sz="1250" b="1" dirty="0">
                <a:solidFill>
                  <a:srgbClr val="06211B"/>
                </a:solidFill>
                <a:latin typeface="Calibri" pitchFamily="34" charset="0"/>
                <a:ea typeface="Calibri" pitchFamily="34" charset="-122"/>
                <a:cs typeface="Calibri" pitchFamily="34" charset="-120"/>
              </a:rPr>
              <a:t>Single topic</a:t>
            </a:r>
            <a:endParaRPr lang="en-US" sz="1250" dirty="0"/>
          </a:p>
        </p:txBody>
      </p:sp>
      <p:pic>
        <p:nvPicPr>
          <p:cNvPr id="33" name="Image 3" descr="/home/claude/evidenceops/icons/bookopen_white.png">    </p:cNvPr>
          <p:cNvPicPr>
            <a:picLocks noChangeAspect="1"/>
          </p:cNvPicPr>
          <p:nvPr/>
        </p:nvPicPr>
        <p:blipFill>
          <a:blip r:embed="rId4"/>
          <a:stretch>
            <a:fillRect/>
          </a:stretch>
        </p:blipFill>
        <p:spPr>
          <a:xfrm>
            <a:off x="3493008" y="3419856"/>
            <a:ext cx="237744" cy="237744"/>
          </a:xfrm>
          <a:prstGeom prst="rect">
            <a:avLst/>
          </a:prstGeom>
        </p:spPr>
      </p:pic>
      <p:sp>
        <p:nvSpPr>
          <p:cNvPr id="34" name="Text 28"/>
          <p:cNvSpPr/>
          <p:nvPr/>
        </p:nvSpPr>
        <p:spPr>
          <a:xfrm>
            <a:off x="6035040" y="3145536"/>
            <a:ext cx="2926080" cy="786384"/>
          </a:xfrm>
          <a:prstGeom prst="rect">
            <a:avLst/>
          </a:prstGeom>
          <a:noFill/>
          <a:ln/>
        </p:spPr>
        <p:txBody>
          <a:bodyPr wrap="square" lIns="0" tIns="0" rIns="0" bIns="0" rtlCol="0" anchor="ctr"/>
          <a:lstStyle/>
          <a:p>
            <a:pPr algn="l" indent="0" marL="0">
              <a:buNone/>
            </a:pPr>
            <a:r>
              <a:rPr lang="en-US" sz="1100" dirty="0">
                <a:solidFill>
                  <a:srgbClr val="CFE0DA"/>
                </a:solidFill>
                <a:latin typeface="Calibri" pitchFamily="34" charset="0"/>
                <a:ea typeface="Calibri" pitchFamily="34" charset="-122"/>
                <a:cs typeface="Calibri" pitchFamily="34" charset="-120"/>
              </a:rPr>
              <a:t>Exactly one known framework detected</a:t>
            </a:r>
            <a:endParaRPr lang="en-US" sz="1100" dirty="0"/>
          </a:p>
        </p:txBody>
      </p:sp>
      <p:sp>
        <p:nvSpPr>
          <p:cNvPr id="35" name="Shape 29"/>
          <p:cNvSpPr/>
          <p:nvPr/>
        </p:nvSpPr>
        <p:spPr>
          <a:xfrm>
            <a:off x="9098280" y="3383280"/>
            <a:ext cx="746150" cy="329184"/>
          </a:xfrm>
          <a:prstGeom prst="roundRect">
            <a:avLst>
              <a:gd name="adj" fmla="val 44444"/>
            </a:avLst>
          </a:prstGeom>
          <a:solidFill>
            <a:srgbClr val="0F3A31"/>
          </a:solidFill>
          <a:ln w="9525">
            <a:solidFill>
              <a:srgbClr val="1D4A3F"/>
            </a:solidFill>
            <a:prstDash val="solid"/>
          </a:ln>
        </p:spPr>
      </p:sp>
      <p:sp>
        <p:nvSpPr>
          <p:cNvPr id="36" name="Text 30"/>
          <p:cNvSpPr/>
          <p:nvPr/>
        </p:nvSpPr>
        <p:spPr>
          <a:xfrm>
            <a:off x="9098280" y="3383280"/>
            <a:ext cx="746150" cy="329184"/>
          </a:xfrm>
          <a:prstGeom prst="rect">
            <a:avLst/>
          </a:prstGeom>
          <a:noFill/>
          <a:ln/>
        </p:spPr>
        <p:txBody>
          <a:bodyPr wrap="square" lIns="0" tIns="0" rIns="0" bIns="0" rtlCol="0" anchor="ctr"/>
          <a:lstStyle/>
          <a:p>
            <a:pPr algn="ctr" indent="0" marL="0">
              <a:buNone/>
            </a:pPr>
            <a:r>
              <a:rPr lang="en-US" sz="850" dirty="0">
                <a:solidFill>
                  <a:srgbClr val="4FB39E"/>
                </a:solidFill>
                <a:latin typeface="Calibri" pitchFamily="34" charset="0"/>
                <a:ea typeface="Calibri" pitchFamily="34" charset="-122"/>
                <a:cs typeface="Calibri" pitchFamily="34" charset="-120"/>
              </a:rPr>
              <a:t>1 search</a:t>
            </a:r>
            <a:endParaRPr lang="en-US" sz="850" dirty="0"/>
          </a:p>
        </p:txBody>
      </p:sp>
      <p:sp>
        <p:nvSpPr>
          <p:cNvPr id="37" name="Shape 31"/>
          <p:cNvSpPr/>
          <p:nvPr/>
        </p:nvSpPr>
        <p:spPr>
          <a:xfrm>
            <a:off x="9917582" y="3383280"/>
            <a:ext cx="943661" cy="329184"/>
          </a:xfrm>
          <a:prstGeom prst="roundRect">
            <a:avLst>
              <a:gd name="adj" fmla="val 44444"/>
            </a:avLst>
          </a:prstGeom>
          <a:solidFill>
            <a:srgbClr val="0F3A31"/>
          </a:solidFill>
          <a:ln w="9525">
            <a:solidFill>
              <a:srgbClr val="1D4A3F"/>
            </a:solidFill>
            <a:prstDash val="solid"/>
          </a:ln>
        </p:spPr>
      </p:sp>
      <p:sp>
        <p:nvSpPr>
          <p:cNvPr id="38" name="Text 32"/>
          <p:cNvSpPr/>
          <p:nvPr/>
        </p:nvSpPr>
        <p:spPr>
          <a:xfrm>
            <a:off x="9917582" y="3383280"/>
            <a:ext cx="943661" cy="329184"/>
          </a:xfrm>
          <a:prstGeom prst="rect">
            <a:avLst/>
          </a:prstGeom>
          <a:noFill/>
          <a:ln/>
        </p:spPr>
        <p:txBody>
          <a:bodyPr wrap="square" lIns="0" tIns="0" rIns="0" bIns="0" rtlCol="0" anchor="ctr"/>
          <a:lstStyle/>
          <a:p>
            <a:pPr algn="ctr" indent="0" marL="0">
              <a:buNone/>
            </a:pPr>
            <a:r>
              <a:rPr lang="en-US" sz="850" dirty="0">
                <a:solidFill>
                  <a:srgbClr val="4FB39E"/>
                </a:solidFill>
                <a:latin typeface="Calibri" pitchFamily="34" charset="0"/>
                <a:ea typeface="Calibri" pitchFamily="34" charset="-122"/>
                <a:cs typeface="Calibri" pitchFamily="34" charset="-120"/>
              </a:rPr>
              <a:t>1 synthesis</a:t>
            </a:r>
            <a:endParaRPr lang="en-US" sz="850" dirty="0"/>
          </a:p>
        </p:txBody>
      </p:sp>
      <p:sp>
        <p:nvSpPr>
          <p:cNvPr id="39" name="Shape 33"/>
          <p:cNvSpPr/>
          <p:nvPr/>
        </p:nvSpPr>
        <p:spPr>
          <a:xfrm>
            <a:off x="2395728" y="3364992"/>
            <a:ext cx="850392" cy="1143000"/>
          </a:xfrm>
          <a:prstGeom prst="line">
            <a:avLst/>
          </a:prstGeom>
          <a:noFill/>
          <a:ln w="16510">
            <a:solidFill>
              <a:srgbClr val="6F8F85"/>
            </a:solidFill>
            <a:prstDash val="solid"/>
            <a:tailEnd type="triangle"/>
          </a:ln>
        </p:spPr>
      </p:sp>
      <p:sp>
        <p:nvSpPr>
          <p:cNvPr id="40" name="Shape 34"/>
          <p:cNvSpPr/>
          <p:nvPr/>
        </p:nvSpPr>
        <p:spPr>
          <a:xfrm>
            <a:off x="3337560" y="4114800"/>
            <a:ext cx="2514600" cy="786384"/>
          </a:xfrm>
          <a:prstGeom prst="roundRect">
            <a:avLst>
              <a:gd name="adj" fmla="val 8140"/>
            </a:avLst>
          </a:prstGeom>
          <a:solidFill>
            <a:srgbClr val="4FB39E"/>
          </a:solidFill>
          <a:ln w="12700">
            <a:solidFill>
              <a:srgbClr val="4FB39E"/>
            </a:solidFill>
            <a:prstDash val="solid"/>
          </a:ln>
        </p:spPr>
      </p:sp>
      <p:sp>
        <p:nvSpPr>
          <p:cNvPr id="41" name="Text 35"/>
          <p:cNvSpPr/>
          <p:nvPr/>
        </p:nvSpPr>
        <p:spPr>
          <a:xfrm>
            <a:off x="3337560" y="4114800"/>
            <a:ext cx="2514600" cy="786384"/>
          </a:xfrm>
          <a:prstGeom prst="rect">
            <a:avLst/>
          </a:prstGeom>
          <a:noFill/>
          <a:ln/>
        </p:spPr>
        <p:txBody>
          <a:bodyPr wrap="square" lIns="381" tIns="381" rIns="381" bIns="381" rtlCol="0" anchor="ctr"/>
          <a:lstStyle/>
          <a:p>
            <a:pPr algn="ctr" indent="0" marL="0">
              <a:buNone/>
            </a:pPr>
            <a:r>
              <a:rPr lang="en-US" sz="1250" b="1" dirty="0">
                <a:solidFill>
                  <a:srgbClr val="06211B"/>
                </a:solidFill>
                <a:latin typeface="Calibri" pitchFamily="34" charset="0"/>
                <a:ea typeface="Calibri" pitchFamily="34" charset="-122"/>
                <a:cs typeface="Calibri" pitchFamily="34" charset="-120"/>
              </a:rPr>
              <a:t>Parallel comparison</a:t>
            </a:r>
            <a:endParaRPr lang="en-US" sz="1250" dirty="0"/>
          </a:p>
        </p:txBody>
      </p:sp>
      <p:pic>
        <p:nvPicPr>
          <p:cNvPr id="42" name="Image 4" descr="/home/claude/evidenceops/icons/layers_white.png">    </p:cNvPr>
          <p:cNvPicPr>
            <a:picLocks noChangeAspect="1"/>
          </p:cNvPicPr>
          <p:nvPr/>
        </p:nvPicPr>
        <p:blipFill>
          <a:blip r:embed="rId5"/>
          <a:stretch>
            <a:fillRect/>
          </a:stretch>
        </p:blipFill>
        <p:spPr>
          <a:xfrm>
            <a:off x="3493008" y="4389120"/>
            <a:ext cx="237744" cy="237744"/>
          </a:xfrm>
          <a:prstGeom prst="rect">
            <a:avLst/>
          </a:prstGeom>
        </p:spPr>
      </p:pic>
      <p:sp>
        <p:nvSpPr>
          <p:cNvPr id="43" name="Text 36"/>
          <p:cNvSpPr/>
          <p:nvPr/>
        </p:nvSpPr>
        <p:spPr>
          <a:xfrm>
            <a:off x="6035040" y="4114800"/>
            <a:ext cx="2926080" cy="786384"/>
          </a:xfrm>
          <a:prstGeom prst="rect">
            <a:avLst/>
          </a:prstGeom>
          <a:noFill/>
          <a:ln/>
        </p:spPr>
        <p:txBody>
          <a:bodyPr wrap="square" lIns="0" tIns="0" rIns="0" bIns="0" rtlCol="0" anchor="ctr"/>
          <a:lstStyle/>
          <a:p>
            <a:pPr algn="l" indent="0" marL="0">
              <a:buNone/>
            </a:pPr>
            <a:r>
              <a:rPr lang="en-US" sz="1100" dirty="0">
                <a:solidFill>
                  <a:srgbClr val="CFE0DA"/>
                </a:solidFill>
                <a:latin typeface="Calibri" pitchFamily="34" charset="0"/>
                <a:ea typeface="Calibri" pitchFamily="34" charset="-122"/>
                <a:cs typeface="Calibri" pitchFamily="34" charset="-120"/>
              </a:rPr>
              <a:t>Two or more frameworks compared</a:t>
            </a:r>
            <a:endParaRPr lang="en-US" sz="1100" dirty="0"/>
          </a:p>
        </p:txBody>
      </p:sp>
      <p:sp>
        <p:nvSpPr>
          <p:cNvPr id="44" name="Shape 37"/>
          <p:cNvSpPr/>
          <p:nvPr/>
        </p:nvSpPr>
        <p:spPr>
          <a:xfrm>
            <a:off x="9098280" y="4352544"/>
            <a:ext cx="1404518" cy="329184"/>
          </a:xfrm>
          <a:prstGeom prst="roundRect">
            <a:avLst>
              <a:gd name="adj" fmla="val 44444"/>
            </a:avLst>
          </a:prstGeom>
          <a:solidFill>
            <a:srgbClr val="0F3A31"/>
          </a:solidFill>
          <a:ln w="9525">
            <a:solidFill>
              <a:srgbClr val="1D4A3F"/>
            </a:solidFill>
            <a:prstDash val="solid"/>
          </a:ln>
        </p:spPr>
      </p:sp>
      <p:sp>
        <p:nvSpPr>
          <p:cNvPr id="45" name="Text 38"/>
          <p:cNvSpPr/>
          <p:nvPr/>
        </p:nvSpPr>
        <p:spPr>
          <a:xfrm>
            <a:off x="9098280" y="4352544"/>
            <a:ext cx="1404518" cy="329184"/>
          </a:xfrm>
          <a:prstGeom prst="rect">
            <a:avLst/>
          </a:prstGeom>
          <a:noFill/>
          <a:ln/>
        </p:spPr>
        <p:txBody>
          <a:bodyPr wrap="square" lIns="0" tIns="0" rIns="0" bIns="0" rtlCol="0" anchor="ctr"/>
          <a:lstStyle/>
          <a:p>
            <a:pPr algn="ctr" indent="0" marL="0">
              <a:buNone/>
            </a:pPr>
            <a:r>
              <a:rPr lang="en-US" sz="850" dirty="0">
                <a:solidFill>
                  <a:srgbClr val="4FB39E"/>
                </a:solidFill>
                <a:latin typeface="Calibri" pitchFamily="34" charset="0"/>
                <a:ea typeface="Calibri" pitchFamily="34" charset="-122"/>
                <a:cs typeface="Calibri" pitchFamily="34" charset="-120"/>
              </a:rPr>
              <a:t>parallel retrieval</a:t>
            </a:r>
            <a:endParaRPr lang="en-US" sz="850" dirty="0"/>
          </a:p>
        </p:txBody>
      </p:sp>
      <p:sp>
        <p:nvSpPr>
          <p:cNvPr id="46" name="Shape 39"/>
          <p:cNvSpPr/>
          <p:nvPr/>
        </p:nvSpPr>
        <p:spPr>
          <a:xfrm>
            <a:off x="10575950" y="4352544"/>
            <a:ext cx="943661" cy="329184"/>
          </a:xfrm>
          <a:prstGeom prst="roundRect">
            <a:avLst>
              <a:gd name="adj" fmla="val 44444"/>
            </a:avLst>
          </a:prstGeom>
          <a:solidFill>
            <a:srgbClr val="0F3A31"/>
          </a:solidFill>
          <a:ln w="9525">
            <a:solidFill>
              <a:srgbClr val="1D4A3F"/>
            </a:solidFill>
            <a:prstDash val="solid"/>
          </a:ln>
        </p:spPr>
      </p:sp>
      <p:sp>
        <p:nvSpPr>
          <p:cNvPr id="47" name="Text 40"/>
          <p:cNvSpPr/>
          <p:nvPr/>
        </p:nvSpPr>
        <p:spPr>
          <a:xfrm>
            <a:off x="10575950" y="4352544"/>
            <a:ext cx="943661" cy="329184"/>
          </a:xfrm>
          <a:prstGeom prst="rect">
            <a:avLst/>
          </a:prstGeom>
          <a:noFill/>
          <a:ln/>
        </p:spPr>
        <p:txBody>
          <a:bodyPr wrap="square" lIns="0" tIns="0" rIns="0" bIns="0" rtlCol="0" anchor="ctr"/>
          <a:lstStyle/>
          <a:p>
            <a:pPr algn="ctr" indent="0" marL="0">
              <a:buNone/>
            </a:pPr>
            <a:r>
              <a:rPr lang="en-US" sz="850" dirty="0">
                <a:solidFill>
                  <a:srgbClr val="4FB39E"/>
                </a:solidFill>
                <a:latin typeface="Calibri" pitchFamily="34" charset="0"/>
                <a:ea typeface="Calibri" pitchFamily="34" charset="-122"/>
                <a:cs typeface="Calibri" pitchFamily="34" charset="-120"/>
              </a:rPr>
              <a:t>1 synthesis</a:t>
            </a:r>
            <a:endParaRPr lang="en-US" sz="850" dirty="0"/>
          </a:p>
        </p:txBody>
      </p:sp>
      <p:sp>
        <p:nvSpPr>
          <p:cNvPr id="48" name="Shape 41"/>
          <p:cNvSpPr/>
          <p:nvPr/>
        </p:nvSpPr>
        <p:spPr>
          <a:xfrm>
            <a:off x="2395728" y="3364992"/>
            <a:ext cx="850392" cy="2112264"/>
          </a:xfrm>
          <a:prstGeom prst="line">
            <a:avLst/>
          </a:prstGeom>
          <a:noFill/>
          <a:ln w="16510">
            <a:solidFill>
              <a:srgbClr val="6F8F85"/>
            </a:solidFill>
            <a:prstDash val="solid"/>
            <a:tailEnd type="triangle"/>
          </a:ln>
        </p:spPr>
      </p:sp>
      <p:sp>
        <p:nvSpPr>
          <p:cNvPr id="49" name="Shape 42"/>
          <p:cNvSpPr/>
          <p:nvPr/>
        </p:nvSpPr>
        <p:spPr>
          <a:xfrm>
            <a:off x="3337560" y="5084064"/>
            <a:ext cx="2514600" cy="786384"/>
          </a:xfrm>
          <a:prstGeom prst="roundRect">
            <a:avLst>
              <a:gd name="adj" fmla="val 8140"/>
            </a:avLst>
          </a:prstGeom>
          <a:solidFill>
            <a:srgbClr val="2B776D"/>
          </a:solidFill>
          <a:ln w="12700">
            <a:solidFill>
              <a:srgbClr val="2B776D"/>
            </a:solidFill>
            <a:prstDash val="solid"/>
          </a:ln>
        </p:spPr>
      </p:sp>
      <p:sp>
        <p:nvSpPr>
          <p:cNvPr id="50" name="Text 43"/>
          <p:cNvSpPr/>
          <p:nvPr/>
        </p:nvSpPr>
        <p:spPr>
          <a:xfrm>
            <a:off x="3337560" y="5084064"/>
            <a:ext cx="2514600" cy="786384"/>
          </a:xfrm>
          <a:prstGeom prst="rect">
            <a:avLst/>
          </a:prstGeom>
          <a:noFill/>
          <a:ln/>
        </p:spPr>
        <p:txBody>
          <a:bodyPr wrap="square" lIns="381" tIns="381" rIns="381" bIns="381" rtlCol="0" anchor="ctr"/>
          <a:lstStyle/>
          <a:p>
            <a:pPr algn="ctr" indent="0" marL="0">
              <a:buNone/>
            </a:pPr>
            <a:r>
              <a:rPr lang="en-US" sz="1250" dirty="0">
                <a:solidFill>
                  <a:srgbClr val="FFFFFF"/>
                </a:solidFill>
                <a:latin typeface="Calibri" pitchFamily="34" charset="0"/>
                <a:ea typeface="Calibri" pitchFamily="34" charset="-122"/>
                <a:cs typeface="Calibri" pitchFamily="34" charset="-120"/>
              </a:rPr>
              <a:t>FunctionAgent</a:t>
            </a:r>
            <a:endParaRPr lang="en-US" sz="1250" dirty="0"/>
          </a:p>
        </p:txBody>
      </p:sp>
      <p:pic>
        <p:nvPicPr>
          <p:cNvPr id="51" name="Image 5" descr="/home/claude/evidenceops/icons/cpu_white.png">    </p:cNvPr>
          <p:cNvPicPr>
            <a:picLocks noChangeAspect="1"/>
          </p:cNvPicPr>
          <p:nvPr/>
        </p:nvPicPr>
        <p:blipFill>
          <a:blip r:embed="rId6"/>
          <a:stretch>
            <a:fillRect/>
          </a:stretch>
        </p:blipFill>
        <p:spPr>
          <a:xfrm>
            <a:off x="3493008" y="5358384"/>
            <a:ext cx="237744" cy="237744"/>
          </a:xfrm>
          <a:prstGeom prst="rect">
            <a:avLst/>
          </a:prstGeom>
        </p:spPr>
      </p:pic>
      <p:sp>
        <p:nvSpPr>
          <p:cNvPr id="52" name="Text 44"/>
          <p:cNvSpPr/>
          <p:nvPr/>
        </p:nvSpPr>
        <p:spPr>
          <a:xfrm>
            <a:off x="6035040" y="5084064"/>
            <a:ext cx="2926080" cy="786384"/>
          </a:xfrm>
          <a:prstGeom prst="rect">
            <a:avLst/>
          </a:prstGeom>
          <a:noFill/>
          <a:ln/>
        </p:spPr>
        <p:txBody>
          <a:bodyPr wrap="square" lIns="0" tIns="0" rIns="0" bIns="0" rtlCol="0" anchor="ctr"/>
          <a:lstStyle/>
          <a:p>
            <a:pPr algn="l" indent="0" marL="0">
              <a:buNone/>
            </a:pPr>
            <a:r>
              <a:rPr lang="en-US" sz="1100" dirty="0">
                <a:solidFill>
                  <a:srgbClr val="CFE0DA"/>
                </a:solidFill>
                <a:latin typeface="Calibri" pitchFamily="34" charset="0"/>
                <a:ea typeface="Calibri" pitchFamily="34" charset="-122"/>
                <a:cs typeface="Calibri" pitchFamily="34" charset="-120"/>
              </a:rPr>
              <a:t>Open-ended research only</a:t>
            </a:r>
            <a:endParaRPr lang="en-US" sz="1100" dirty="0"/>
          </a:p>
        </p:txBody>
      </p:sp>
      <p:sp>
        <p:nvSpPr>
          <p:cNvPr id="53" name="Shape 45"/>
          <p:cNvSpPr/>
          <p:nvPr/>
        </p:nvSpPr>
        <p:spPr>
          <a:xfrm>
            <a:off x="9098280" y="5321808"/>
            <a:ext cx="2194560" cy="329184"/>
          </a:xfrm>
          <a:prstGeom prst="roundRect">
            <a:avLst>
              <a:gd name="adj" fmla="val 44444"/>
            </a:avLst>
          </a:prstGeom>
          <a:solidFill>
            <a:srgbClr val="0F3A31"/>
          </a:solidFill>
          <a:ln w="9525">
            <a:solidFill>
              <a:srgbClr val="1D4A3F"/>
            </a:solidFill>
            <a:prstDash val="solid"/>
          </a:ln>
        </p:spPr>
      </p:sp>
      <p:sp>
        <p:nvSpPr>
          <p:cNvPr id="54" name="Text 46"/>
          <p:cNvSpPr/>
          <p:nvPr/>
        </p:nvSpPr>
        <p:spPr>
          <a:xfrm>
            <a:off x="9098280" y="5321808"/>
            <a:ext cx="2194560" cy="329184"/>
          </a:xfrm>
          <a:prstGeom prst="rect">
            <a:avLst/>
          </a:prstGeom>
          <a:noFill/>
          <a:ln/>
        </p:spPr>
        <p:txBody>
          <a:bodyPr wrap="square" lIns="0" tIns="0" rIns="0" bIns="0" rtlCol="0" anchor="ctr"/>
          <a:lstStyle/>
          <a:p>
            <a:pPr algn="ctr" indent="0" marL="0">
              <a:buNone/>
            </a:pPr>
            <a:r>
              <a:rPr lang="en-US" sz="850" dirty="0">
                <a:solidFill>
                  <a:srgbClr val="4FB39E"/>
                </a:solidFill>
                <a:latin typeface="Calibri" pitchFamily="34" charset="0"/>
                <a:ea typeface="Calibri" pitchFamily="34" charset="-122"/>
                <a:cs typeface="Calibri" pitchFamily="34" charset="-120"/>
              </a:rPr>
              <a:t>full plan, search, reason loop</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Route 1: identity</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Identity questions never touch RAG.</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8</a:t>
            </a:r>
            <a:endParaRPr lang="en-US" sz="850" dirty="0"/>
          </a:p>
        </p:txBody>
      </p:sp>
      <p:sp>
        <p:nvSpPr>
          <p:cNvPr id="10" name="Text 7"/>
          <p:cNvSpPr/>
          <p:nvPr/>
        </p:nvSpPr>
        <p:spPr>
          <a:xfrm>
            <a:off x="548640" y="1097280"/>
            <a:ext cx="11064240" cy="365760"/>
          </a:xfrm>
          <a:prstGeom prst="rect">
            <a:avLst/>
          </a:prstGeom>
          <a:noFill/>
          <a:ln/>
        </p:spPr>
        <p:txBody>
          <a:bodyPr wrap="square" lIns="0" tIns="0" rIns="0" bIns="0" rtlCol="0" anchor="t"/>
          <a:lstStyle/>
          <a:p>
            <a:pPr algn="l" indent="0" marL="0">
              <a:buNone/>
            </a:pPr>
            <a:r>
              <a:rPr lang="en-US" sz="1300" dirty="0">
                <a:solidFill>
                  <a:srgbClr val="CFE0DA"/>
                </a:solidFill>
                <a:latin typeface="Calibri" pitchFamily="34" charset="0"/>
                <a:ea typeface="Calibri" pitchFamily="34" charset="-122"/>
                <a:cs typeface="Calibri" pitchFamily="34" charset="-120"/>
              </a:rPr>
              <a:t>Fires on identity markers, in English or Arabic.</a:t>
            </a:r>
            <a:endParaRPr lang="en-US" sz="1300" dirty="0"/>
          </a:p>
        </p:txBody>
      </p:sp>
      <p:sp>
        <p:nvSpPr>
          <p:cNvPr id="11" name="Shape 8"/>
          <p:cNvSpPr/>
          <p:nvPr/>
        </p:nvSpPr>
        <p:spPr>
          <a:xfrm>
            <a:off x="548640" y="1645920"/>
            <a:ext cx="3200400" cy="530352"/>
          </a:xfrm>
          <a:prstGeom prst="roundRect">
            <a:avLst>
              <a:gd name="adj" fmla="val 15517"/>
            </a:avLst>
          </a:prstGeom>
          <a:solidFill>
            <a:srgbClr val="0B2E27"/>
          </a:solidFill>
          <a:ln w="12700">
            <a:solidFill>
              <a:srgbClr val="1D4A3F"/>
            </a:solidFill>
            <a:prstDash val="solid"/>
          </a:ln>
        </p:spPr>
      </p:sp>
      <p:sp>
        <p:nvSpPr>
          <p:cNvPr id="12" name="Text 9"/>
          <p:cNvSpPr/>
          <p:nvPr/>
        </p:nvSpPr>
        <p:spPr>
          <a:xfrm>
            <a:off x="621792" y="1645920"/>
            <a:ext cx="3054096" cy="530352"/>
          </a:xfrm>
          <a:prstGeom prst="rect">
            <a:avLst/>
          </a:prstGeom>
          <a:noFill/>
          <a:ln/>
        </p:spPr>
        <p:txBody>
          <a:bodyPr wrap="square" lIns="635" tIns="635" rIns="635" bIns="635" rtlCol="0" anchor="ctr"/>
          <a:lstStyle/>
          <a:p>
            <a:pPr algn="l" indent="0" marL="0">
              <a:buNone/>
            </a:pPr>
            <a:r>
              <a:rPr lang="en-US" sz="1050" dirty="0">
                <a:solidFill>
                  <a:srgbClr val="E3CB9A"/>
                </a:solidFill>
                <a:latin typeface="Courier New" pitchFamily="34" charset="0"/>
                <a:ea typeface="Courier New" pitchFamily="34" charset="-122"/>
                <a:cs typeface="Courier New" pitchFamily="34" charset="-120"/>
              </a:rPr>
              <a:t>Who are you?</a:t>
            </a:r>
            <a:endParaRPr lang="en-US" sz="1050" dirty="0"/>
          </a:p>
        </p:txBody>
      </p:sp>
      <p:sp>
        <p:nvSpPr>
          <p:cNvPr id="13" name="Shape 10"/>
          <p:cNvSpPr/>
          <p:nvPr/>
        </p:nvSpPr>
        <p:spPr>
          <a:xfrm>
            <a:off x="548640" y="2322576"/>
            <a:ext cx="3200400" cy="530352"/>
          </a:xfrm>
          <a:prstGeom prst="roundRect">
            <a:avLst>
              <a:gd name="adj" fmla="val 15517"/>
            </a:avLst>
          </a:prstGeom>
          <a:solidFill>
            <a:srgbClr val="0B2E27"/>
          </a:solidFill>
          <a:ln w="12700">
            <a:solidFill>
              <a:srgbClr val="1D4A3F"/>
            </a:solidFill>
            <a:prstDash val="solid"/>
          </a:ln>
        </p:spPr>
      </p:sp>
      <p:sp>
        <p:nvSpPr>
          <p:cNvPr id="14" name="Text 11"/>
          <p:cNvSpPr/>
          <p:nvPr/>
        </p:nvSpPr>
        <p:spPr>
          <a:xfrm>
            <a:off x="621792" y="2322576"/>
            <a:ext cx="3054096" cy="530352"/>
          </a:xfrm>
          <a:prstGeom prst="rect">
            <a:avLst/>
          </a:prstGeom>
          <a:noFill/>
          <a:ln/>
        </p:spPr>
        <p:txBody>
          <a:bodyPr wrap="square" lIns="635" tIns="635" rIns="635" bIns="635" rtlCol="0" anchor="ctr"/>
          <a:lstStyle/>
          <a:p>
            <a:pPr algn="l" indent="0" marL="0">
              <a:buNone/>
            </a:pPr>
            <a:r>
              <a:rPr lang="en-US" sz="1050" dirty="0">
                <a:solidFill>
                  <a:srgbClr val="E3CB9A"/>
                </a:solidFill>
                <a:latin typeface="Courier New" pitchFamily="34" charset="0"/>
                <a:ea typeface="Courier New" pitchFamily="34" charset="-122"/>
                <a:cs typeface="Courier New" pitchFamily="34" charset="-120"/>
              </a:rPr>
              <a:t>Talk about yourself</a:t>
            </a:r>
            <a:endParaRPr lang="en-US" sz="1050" dirty="0"/>
          </a:p>
        </p:txBody>
      </p:sp>
      <p:sp>
        <p:nvSpPr>
          <p:cNvPr id="15" name="Shape 12"/>
          <p:cNvSpPr/>
          <p:nvPr/>
        </p:nvSpPr>
        <p:spPr>
          <a:xfrm>
            <a:off x="548640" y="2999232"/>
            <a:ext cx="3200400" cy="530352"/>
          </a:xfrm>
          <a:prstGeom prst="roundRect">
            <a:avLst>
              <a:gd name="adj" fmla="val 15517"/>
            </a:avLst>
          </a:prstGeom>
          <a:solidFill>
            <a:srgbClr val="0B2E27"/>
          </a:solidFill>
          <a:ln w="12700">
            <a:solidFill>
              <a:srgbClr val="1D4A3F"/>
            </a:solidFill>
            <a:prstDash val="solid"/>
          </a:ln>
        </p:spPr>
      </p:sp>
      <p:sp>
        <p:nvSpPr>
          <p:cNvPr id="16" name="Text 13"/>
          <p:cNvSpPr/>
          <p:nvPr/>
        </p:nvSpPr>
        <p:spPr>
          <a:xfrm>
            <a:off x="621792" y="2999232"/>
            <a:ext cx="3054096" cy="530352"/>
          </a:xfrm>
          <a:prstGeom prst="rect">
            <a:avLst/>
          </a:prstGeom>
          <a:noFill/>
          <a:ln/>
        </p:spPr>
        <p:txBody>
          <a:bodyPr wrap="square" lIns="635" tIns="635" rIns="635" bIns="635" rtlCol="0" anchor="ctr"/>
          <a:lstStyle/>
          <a:p>
            <a:pPr algn="l" indent="0" marL="0">
              <a:buNone/>
            </a:pPr>
            <a:r>
              <a:rPr lang="en-US" sz="1050" dirty="0">
                <a:solidFill>
                  <a:srgbClr val="E3CB9A"/>
                </a:solidFill>
                <a:latin typeface="Courier New" pitchFamily="34" charset="0"/>
                <a:ea typeface="Courier New" pitchFamily="34" charset="-122"/>
                <a:cs typeface="Courier New" pitchFamily="34" charset="-120"/>
              </a:rPr>
              <a:t>Introduce yourself</a:t>
            </a:r>
            <a:endParaRPr lang="en-US" sz="1050" dirty="0"/>
          </a:p>
        </p:txBody>
      </p:sp>
      <p:sp>
        <p:nvSpPr>
          <p:cNvPr id="17" name="Shape 14"/>
          <p:cNvSpPr/>
          <p:nvPr/>
        </p:nvSpPr>
        <p:spPr>
          <a:xfrm>
            <a:off x="548640" y="3675888"/>
            <a:ext cx="3200400" cy="530352"/>
          </a:xfrm>
          <a:prstGeom prst="roundRect">
            <a:avLst>
              <a:gd name="adj" fmla="val 15517"/>
            </a:avLst>
          </a:prstGeom>
          <a:solidFill>
            <a:srgbClr val="0B2E27"/>
          </a:solidFill>
          <a:ln w="12700">
            <a:solidFill>
              <a:srgbClr val="1D4A3F"/>
            </a:solidFill>
            <a:prstDash val="solid"/>
          </a:ln>
        </p:spPr>
      </p:sp>
      <p:sp>
        <p:nvSpPr>
          <p:cNvPr id="18" name="Text 15"/>
          <p:cNvSpPr/>
          <p:nvPr/>
        </p:nvSpPr>
        <p:spPr>
          <a:xfrm>
            <a:off x="621792" y="3675888"/>
            <a:ext cx="3054096" cy="530352"/>
          </a:xfrm>
          <a:prstGeom prst="rect">
            <a:avLst/>
          </a:prstGeom>
          <a:noFill/>
          <a:ln/>
        </p:spPr>
        <p:txBody>
          <a:bodyPr wrap="square" lIns="635" tIns="635" rIns="635" bIns="635" rtlCol="0" anchor="ctr"/>
          <a:lstStyle/>
          <a:p>
            <a:pPr algn="l" indent="0" marL="0">
              <a:buNone/>
            </a:pPr>
            <a:r>
              <a:rPr lang="en-US" sz="1050" dirty="0">
                <a:solidFill>
                  <a:srgbClr val="E3CB9A"/>
                </a:solidFill>
                <a:latin typeface="Calibri" pitchFamily="34" charset="0"/>
                <a:ea typeface="Calibri" pitchFamily="34" charset="-122"/>
                <a:cs typeface="Calibri" pitchFamily="34" charset="-120"/>
              </a:rPr>
              <a:t>من أنت</a:t>
            </a:r>
            <a:endParaRPr lang="en-US" sz="1050" dirty="0"/>
          </a:p>
        </p:txBody>
      </p:sp>
      <p:sp>
        <p:nvSpPr>
          <p:cNvPr id="19" name="Shape 16"/>
          <p:cNvSpPr/>
          <p:nvPr/>
        </p:nvSpPr>
        <p:spPr>
          <a:xfrm>
            <a:off x="548640" y="4352544"/>
            <a:ext cx="3200400" cy="530352"/>
          </a:xfrm>
          <a:prstGeom prst="roundRect">
            <a:avLst>
              <a:gd name="adj" fmla="val 15517"/>
            </a:avLst>
          </a:prstGeom>
          <a:solidFill>
            <a:srgbClr val="0B2E27"/>
          </a:solidFill>
          <a:ln w="12700">
            <a:solidFill>
              <a:srgbClr val="1D4A3F"/>
            </a:solidFill>
            <a:prstDash val="solid"/>
          </a:ln>
        </p:spPr>
      </p:sp>
      <p:sp>
        <p:nvSpPr>
          <p:cNvPr id="20" name="Text 17"/>
          <p:cNvSpPr/>
          <p:nvPr/>
        </p:nvSpPr>
        <p:spPr>
          <a:xfrm>
            <a:off x="621792" y="4352544"/>
            <a:ext cx="3054096" cy="530352"/>
          </a:xfrm>
          <a:prstGeom prst="rect">
            <a:avLst/>
          </a:prstGeom>
          <a:noFill/>
          <a:ln/>
        </p:spPr>
        <p:txBody>
          <a:bodyPr wrap="square" lIns="635" tIns="635" rIns="635" bIns="635" rtlCol="0" anchor="ctr"/>
          <a:lstStyle/>
          <a:p>
            <a:pPr algn="l" indent="0" marL="0">
              <a:buNone/>
            </a:pPr>
            <a:r>
              <a:rPr lang="en-US" sz="1050" dirty="0">
                <a:solidFill>
                  <a:srgbClr val="E3CB9A"/>
                </a:solidFill>
                <a:latin typeface="Calibri" pitchFamily="34" charset="0"/>
                <a:ea typeface="Calibri" pitchFamily="34" charset="-122"/>
                <a:cs typeface="Calibri" pitchFamily="34" charset="-120"/>
              </a:rPr>
              <a:t>عرف بنفسك</a:t>
            </a:r>
            <a:endParaRPr lang="en-US" sz="1050" dirty="0"/>
          </a:p>
        </p:txBody>
      </p:sp>
      <p:sp>
        <p:nvSpPr>
          <p:cNvPr id="21" name="Shape 18"/>
          <p:cNvSpPr/>
          <p:nvPr/>
        </p:nvSpPr>
        <p:spPr>
          <a:xfrm>
            <a:off x="4617720" y="2103120"/>
            <a:ext cx="1463040" cy="1463040"/>
          </a:xfrm>
          <a:prstGeom prst="diamond">
            <a:avLst/>
          </a:prstGeom>
          <a:solidFill>
            <a:srgbClr val="C29C55"/>
          </a:solidFill>
          <a:ln w="12700">
            <a:solidFill>
              <a:srgbClr val="C29C55"/>
            </a:solidFill>
            <a:prstDash val="solid"/>
          </a:ln>
        </p:spPr>
      </p:sp>
      <p:sp>
        <p:nvSpPr>
          <p:cNvPr id="22" name="Text 19"/>
          <p:cNvSpPr/>
          <p:nvPr/>
        </p:nvSpPr>
        <p:spPr>
          <a:xfrm>
            <a:off x="4480560" y="2103120"/>
            <a:ext cx="1737360" cy="1463040"/>
          </a:xfrm>
          <a:prstGeom prst="rect">
            <a:avLst/>
          </a:prstGeom>
          <a:noFill/>
          <a:ln/>
        </p:spPr>
        <p:txBody>
          <a:bodyPr wrap="square" lIns="0" tIns="0" rIns="0" bIns="0" rtlCol="0" anchor="ctr"/>
          <a:lstStyle/>
          <a:p>
            <a:pPr algn="ctr" indent="0" marL="0">
              <a:buNone/>
            </a:pPr>
            <a:r>
              <a:rPr lang="en-US" sz="1200" b="1" dirty="0">
                <a:solidFill>
                  <a:srgbClr val="06211B"/>
                </a:solidFill>
                <a:latin typeface="Calibri" pitchFamily="34" charset="0"/>
                <a:ea typeface="Calibri" pitchFamily="34" charset="-122"/>
                <a:cs typeface="Calibri" pitchFamily="34" charset="-120"/>
              </a:rPr>
              <a:t>Router</a:t>
            </a:r>
            <a:endParaRPr lang="en-US" sz="1200" dirty="0"/>
          </a:p>
        </p:txBody>
      </p:sp>
      <p:sp>
        <p:nvSpPr>
          <p:cNvPr id="23" name="Shape 20"/>
          <p:cNvSpPr/>
          <p:nvPr/>
        </p:nvSpPr>
        <p:spPr>
          <a:xfrm>
            <a:off x="3840480" y="2834640"/>
            <a:ext cx="713232" cy="0"/>
          </a:xfrm>
          <a:prstGeom prst="line">
            <a:avLst/>
          </a:prstGeom>
          <a:noFill/>
          <a:ln w="21590">
            <a:solidFill>
              <a:srgbClr val="6F8F85"/>
            </a:solidFill>
            <a:prstDash val="solid"/>
            <a:tailEnd type="triangle"/>
          </a:ln>
        </p:spPr>
      </p:sp>
      <p:sp>
        <p:nvSpPr>
          <p:cNvPr id="24" name="Shape 21"/>
          <p:cNvSpPr/>
          <p:nvPr/>
        </p:nvSpPr>
        <p:spPr>
          <a:xfrm>
            <a:off x="6144768" y="2834640"/>
            <a:ext cx="1170432" cy="0"/>
          </a:xfrm>
          <a:prstGeom prst="line">
            <a:avLst/>
          </a:prstGeom>
          <a:noFill/>
          <a:ln w="25400">
            <a:solidFill>
              <a:srgbClr val="4FB39E"/>
            </a:solidFill>
            <a:prstDash val="solid"/>
            <a:tailEnd type="triangle"/>
          </a:ln>
        </p:spPr>
      </p:sp>
      <p:sp>
        <p:nvSpPr>
          <p:cNvPr id="25" name="Shape 22"/>
          <p:cNvSpPr/>
          <p:nvPr/>
        </p:nvSpPr>
        <p:spPr>
          <a:xfrm>
            <a:off x="7406640" y="2423160"/>
            <a:ext cx="3931920" cy="822960"/>
          </a:xfrm>
          <a:prstGeom prst="roundRect">
            <a:avLst>
              <a:gd name="adj" fmla="val 7778"/>
            </a:avLst>
          </a:prstGeom>
          <a:solidFill>
            <a:srgbClr val="4FB39E"/>
          </a:solidFill>
          <a:ln w="12700">
            <a:solidFill>
              <a:srgbClr val="4FB39E"/>
            </a:solidFill>
            <a:prstDash val="solid"/>
          </a:ln>
        </p:spPr>
      </p:sp>
      <p:sp>
        <p:nvSpPr>
          <p:cNvPr id="26" name="Text 23"/>
          <p:cNvSpPr/>
          <p:nvPr/>
        </p:nvSpPr>
        <p:spPr>
          <a:xfrm>
            <a:off x="7406640" y="2423160"/>
            <a:ext cx="3931920" cy="822960"/>
          </a:xfrm>
          <a:prstGeom prst="rect">
            <a:avLst/>
          </a:prstGeom>
          <a:noFill/>
          <a:ln/>
        </p:spPr>
        <p:txBody>
          <a:bodyPr wrap="square" lIns="381" tIns="381" rIns="381" bIns="381" rtlCol="0" anchor="ctr"/>
          <a:lstStyle/>
          <a:p>
            <a:pPr algn="ctr" indent="0" marL="0">
              <a:buNone/>
            </a:pPr>
            <a:r>
              <a:rPr lang="en-US" sz="1250" b="1" dirty="0">
                <a:solidFill>
                  <a:srgbClr val="06211B"/>
                </a:solidFill>
                <a:latin typeface="Calibri" pitchFamily="34" charset="0"/>
                <a:ea typeface="Calibri" pitchFamily="34" charset="-122"/>
                <a:cs typeface="Calibri" pitchFamily="34" charset="-120"/>
              </a:rPr>
              <a:t>Direct response from the system prompt</a:t>
            </a:r>
            <a:endParaRPr lang="en-US" sz="1250" dirty="0"/>
          </a:p>
        </p:txBody>
      </p:sp>
      <p:sp>
        <p:nvSpPr>
          <p:cNvPr id="27" name="Shape 24"/>
          <p:cNvSpPr/>
          <p:nvPr/>
        </p:nvSpPr>
        <p:spPr>
          <a:xfrm>
            <a:off x="5852160" y="4069080"/>
            <a:ext cx="2377440" cy="566928"/>
          </a:xfrm>
          <a:prstGeom prst="roundRect">
            <a:avLst>
              <a:gd name="adj" fmla="val 11290"/>
            </a:avLst>
          </a:prstGeom>
          <a:solidFill>
            <a:srgbClr val="06211B"/>
          </a:solidFill>
          <a:ln w="13970">
            <a:solidFill>
              <a:srgbClr val="9DB5AD"/>
            </a:solidFill>
            <a:prstDash val="dash"/>
          </a:ln>
        </p:spPr>
      </p:sp>
      <p:sp>
        <p:nvSpPr>
          <p:cNvPr id="28" name="Text 25"/>
          <p:cNvSpPr/>
          <p:nvPr/>
        </p:nvSpPr>
        <p:spPr>
          <a:xfrm>
            <a:off x="5852160" y="4069080"/>
            <a:ext cx="2377440" cy="566928"/>
          </a:xfrm>
          <a:prstGeom prst="rect">
            <a:avLst/>
          </a:prstGeom>
          <a:noFill/>
          <a:ln/>
        </p:spPr>
        <p:txBody>
          <a:bodyPr wrap="square" lIns="381" tIns="381" rIns="381" bIns="381" rtlCol="0" anchor="ctr"/>
          <a:lstStyle/>
          <a:p>
            <a:pPr algn="ctr" indent="0" marL="0">
              <a:buNone/>
            </a:pPr>
            <a:r>
              <a:rPr lang="en-US" sz="1050" dirty="0">
                <a:solidFill>
                  <a:srgbClr val="9DB5AD"/>
                </a:solidFill>
                <a:latin typeface="Calibri" pitchFamily="34" charset="0"/>
                <a:ea typeface="Calibri" pitchFamily="34" charset="-122"/>
                <a:cs typeface="Calibri" pitchFamily="34" charset="-120"/>
              </a:rPr>
              <a:t>Knowledge retrieval</a:t>
            </a:r>
            <a:endParaRPr lang="en-US" sz="1050" dirty="0"/>
          </a:p>
        </p:txBody>
      </p:sp>
      <p:pic>
        <p:nvPicPr>
          <p:cNvPr id="29" name="Image 1" descr="/home/claude/evidenceops/icons/xcircle_mutedk.png">    </p:cNvPr>
          <p:cNvPicPr>
            <a:picLocks noChangeAspect="1"/>
          </p:cNvPicPr>
          <p:nvPr/>
        </p:nvPicPr>
        <p:blipFill>
          <a:blip r:embed="rId2"/>
          <a:stretch>
            <a:fillRect/>
          </a:stretch>
        </p:blipFill>
        <p:spPr>
          <a:xfrm>
            <a:off x="5532120" y="4224528"/>
            <a:ext cx="256032" cy="256032"/>
          </a:xfrm>
          <a:prstGeom prst="rect">
            <a:avLst/>
          </a:prstGeom>
        </p:spPr>
      </p:pic>
      <p:sp>
        <p:nvSpPr>
          <p:cNvPr id="30" name="Shape 26"/>
          <p:cNvSpPr/>
          <p:nvPr/>
        </p:nvSpPr>
        <p:spPr>
          <a:xfrm>
            <a:off x="8686800" y="4069080"/>
            <a:ext cx="2377440" cy="566928"/>
          </a:xfrm>
          <a:prstGeom prst="roundRect">
            <a:avLst>
              <a:gd name="adj" fmla="val 11290"/>
            </a:avLst>
          </a:prstGeom>
          <a:solidFill>
            <a:srgbClr val="06211B"/>
          </a:solidFill>
          <a:ln w="13970">
            <a:solidFill>
              <a:srgbClr val="9DB5AD"/>
            </a:solidFill>
            <a:prstDash val="dash"/>
          </a:ln>
        </p:spPr>
      </p:sp>
      <p:sp>
        <p:nvSpPr>
          <p:cNvPr id="31" name="Text 27"/>
          <p:cNvSpPr/>
          <p:nvPr/>
        </p:nvSpPr>
        <p:spPr>
          <a:xfrm>
            <a:off x="8686800" y="4069080"/>
            <a:ext cx="2377440" cy="566928"/>
          </a:xfrm>
          <a:prstGeom prst="rect">
            <a:avLst/>
          </a:prstGeom>
          <a:noFill/>
          <a:ln/>
        </p:spPr>
        <p:txBody>
          <a:bodyPr wrap="square" lIns="381" tIns="381" rIns="381" bIns="381" rtlCol="0" anchor="ctr"/>
          <a:lstStyle/>
          <a:p>
            <a:pPr algn="ctr" indent="0" marL="0">
              <a:buNone/>
            </a:pPr>
            <a:r>
              <a:rPr lang="en-US" sz="1050" dirty="0">
                <a:solidFill>
                  <a:srgbClr val="9DB5AD"/>
                </a:solidFill>
                <a:latin typeface="Calibri" pitchFamily="34" charset="0"/>
                <a:ea typeface="Calibri" pitchFamily="34" charset="-122"/>
                <a:cs typeface="Calibri" pitchFamily="34" charset="-120"/>
              </a:rPr>
              <a:t>FunctionAgent</a:t>
            </a:r>
            <a:endParaRPr lang="en-US" sz="1050" dirty="0"/>
          </a:p>
        </p:txBody>
      </p:sp>
      <p:pic>
        <p:nvPicPr>
          <p:cNvPr id="32" name="Image 2" descr="/home/claude/evidenceops/icons/xcircle_mutedk.png">    </p:cNvPr>
          <p:cNvPicPr>
            <a:picLocks noChangeAspect="1"/>
          </p:cNvPicPr>
          <p:nvPr/>
        </p:nvPicPr>
        <p:blipFill>
          <a:blip r:embed="rId3"/>
          <a:stretch>
            <a:fillRect/>
          </a:stretch>
        </p:blipFill>
        <p:spPr>
          <a:xfrm>
            <a:off x="8366760" y="4224528"/>
            <a:ext cx="256032" cy="256032"/>
          </a:xfrm>
          <a:prstGeom prst="rect">
            <a:avLst/>
          </a:prstGeom>
        </p:spPr>
      </p:pic>
      <p:sp>
        <p:nvSpPr>
          <p:cNvPr id="33" name="Text 28"/>
          <p:cNvSpPr/>
          <p:nvPr/>
        </p:nvSpPr>
        <p:spPr>
          <a:xfrm>
            <a:off x="5852160" y="4709160"/>
            <a:ext cx="5212080" cy="274320"/>
          </a:xfrm>
          <a:prstGeom prst="rect">
            <a:avLst/>
          </a:prstGeom>
          <a:noFill/>
          <a:ln/>
        </p:spPr>
        <p:txBody>
          <a:bodyPr wrap="square" lIns="0" tIns="0" rIns="0" bIns="0" rtlCol="0" anchor="t"/>
          <a:lstStyle/>
          <a:p>
            <a:pPr algn="ctr" indent="0" marL="0">
              <a:buNone/>
            </a:pPr>
            <a:r>
              <a:rPr lang="en-US" sz="1000" dirty="0">
                <a:solidFill>
                  <a:srgbClr val="9DB5AD"/>
                </a:solidFill>
                <a:latin typeface="Calibri" pitchFamily="34" charset="0"/>
                <a:ea typeface="Calibri" pitchFamily="34" charset="-122"/>
                <a:cs typeface="Calibri" pitchFamily="34" charset="-120"/>
              </a:rPr>
              <a:t>skipped entirely</a:t>
            </a:r>
            <a:endParaRPr lang="en-US" sz="1000" dirty="0"/>
          </a:p>
        </p:txBody>
      </p:sp>
      <p:sp>
        <p:nvSpPr>
          <p:cNvPr id="34" name="Shape 29"/>
          <p:cNvSpPr/>
          <p:nvPr/>
        </p:nvSpPr>
        <p:spPr>
          <a:xfrm>
            <a:off x="548640" y="5074920"/>
            <a:ext cx="3566160" cy="841248"/>
          </a:xfrm>
          <a:prstGeom prst="roundRect">
            <a:avLst>
              <a:gd name="adj" fmla="val 8696"/>
            </a:avLst>
          </a:prstGeom>
          <a:solidFill>
            <a:srgbClr val="0B2E27"/>
          </a:solidFill>
          <a:ln w="12700">
            <a:solidFill>
              <a:srgbClr val="1D4A3F"/>
            </a:solidFill>
            <a:prstDash val="solid"/>
          </a:ln>
        </p:spPr>
      </p:sp>
      <p:sp>
        <p:nvSpPr>
          <p:cNvPr id="35" name="Text 30"/>
          <p:cNvSpPr/>
          <p:nvPr/>
        </p:nvSpPr>
        <p:spPr>
          <a:xfrm>
            <a:off x="685800" y="5148072"/>
            <a:ext cx="3291840" cy="462686"/>
          </a:xfrm>
          <a:prstGeom prst="rect">
            <a:avLst/>
          </a:prstGeom>
          <a:noFill/>
          <a:ln/>
        </p:spPr>
        <p:txBody>
          <a:bodyPr wrap="square" lIns="0" tIns="0" rIns="0" bIns="0" rtlCol="0" anchor="ctr"/>
          <a:lstStyle/>
          <a:p>
            <a:pPr algn="ctr" indent="0" marL="0">
              <a:buNone/>
            </a:pPr>
            <a:r>
              <a:rPr lang="en-US" sz="2200" b="1" dirty="0">
                <a:solidFill>
                  <a:srgbClr val="4FB39E"/>
                </a:solidFill>
                <a:latin typeface="Calibri" pitchFamily="34" charset="0"/>
                <a:ea typeface="Calibri" pitchFamily="34" charset="-122"/>
                <a:cs typeface="Calibri" pitchFamily="34" charset="-120"/>
              </a:rPr>
              <a:t>0</a:t>
            </a:r>
            <a:endParaRPr lang="en-US" sz="2200" dirty="0"/>
          </a:p>
        </p:txBody>
      </p:sp>
      <p:sp>
        <p:nvSpPr>
          <p:cNvPr id="36" name="Text 31"/>
          <p:cNvSpPr/>
          <p:nvPr/>
        </p:nvSpPr>
        <p:spPr>
          <a:xfrm>
            <a:off x="685800" y="5562844"/>
            <a:ext cx="3291840" cy="319674"/>
          </a:xfrm>
          <a:prstGeom prst="rect">
            <a:avLst/>
          </a:prstGeom>
          <a:noFill/>
          <a:ln/>
        </p:spPr>
        <p:txBody>
          <a:bodyPr wrap="square" lIns="0" tIns="0" rIns="0" bIns="0" rtlCol="0" anchor="t"/>
          <a:lstStyle/>
          <a:p>
            <a:pPr algn="ctr" indent="0" marL="0">
              <a:buNone/>
            </a:pPr>
            <a:r>
              <a:rPr lang="en-US" sz="1050" dirty="0">
                <a:solidFill>
                  <a:srgbClr val="9DB5AD"/>
                </a:solidFill>
                <a:latin typeface="Calibri" pitchFamily="34" charset="0"/>
                <a:ea typeface="Calibri" pitchFamily="34" charset="-122"/>
                <a:cs typeface="Calibri" pitchFamily="34" charset="-120"/>
              </a:rPr>
              <a:t>knowledge base searches</a:t>
            </a:r>
            <a:endParaRPr lang="en-US" sz="1050" dirty="0"/>
          </a:p>
        </p:txBody>
      </p:sp>
      <p:sp>
        <p:nvSpPr>
          <p:cNvPr id="37" name="Shape 32"/>
          <p:cNvSpPr/>
          <p:nvPr/>
        </p:nvSpPr>
        <p:spPr>
          <a:xfrm>
            <a:off x="4315968" y="5074920"/>
            <a:ext cx="3566160" cy="841248"/>
          </a:xfrm>
          <a:prstGeom prst="roundRect">
            <a:avLst>
              <a:gd name="adj" fmla="val 8696"/>
            </a:avLst>
          </a:prstGeom>
          <a:solidFill>
            <a:srgbClr val="0B2E27"/>
          </a:solidFill>
          <a:ln w="12700">
            <a:solidFill>
              <a:srgbClr val="1D4A3F"/>
            </a:solidFill>
            <a:prstDash val="solid"/>
          </a:ln>
        </p:spPr>
      </p:sp>
      <p:sp>
        <p:nvSpPr>
          <p:cNvPr id="38" name="Text 33"/>
          <p:cNvSpPr/>
          <p:nvPr/>
        </p:nvSpPr>
        <p:spPr>
          <a:xfrm>
            <a:off x="4453128" y="5148072"/>
            <a:ext cx="3291840" cy="462686"/>
          </a:xfrm>
          <a:prstGeom prst="rect">
            <a:avLst/>
          </a:prstGeom>
          <a:noFill/>
          <a:ln/>
        </p:spPr>
        <p:txBody>
          <a:bodyPr wrap="square" lIns="0" tIns="0" rIns="0" bIns="0" rtlCol="0" anchor="ctr"/>
          <a:lstStyle/>
          <a:p>
            <a:pPr algn="ctr" indent="0" marL="0">
              <a:buNone/>
            </a:pPr>
            <a:r>
              <a:rPr lang="en-US" sz="2200" b="1" dirty="0">
                <a:solidFill>
                  <a:srgbClr val="4FB39E"/>
                </a:solidFill>
                <a:latin typeface="Calibri" pitchFamily="34" charset="0"/>
                <a:ea typeface="Calibri" pitchFamily="34" charset="-122"/>
                <a:cs typeface="Calibri" pitchFamily="34" charset="-120"/>
              </a:rPr>
              <a:t>0</a:t>
            </a:r>
            <a:endParaRPr lang="en-US" sz="2200" dirty="0"/>
          </a:p>
        </p:txBody>
      </p:sp>
      <p:sp>
        <p:nvSpPr>
          <p:cNvPr id="39" name="Text 34"/>
          <p:cNvSpPr/>
          <p:nvPr/>
        </p:nvSpPr>
        <p:spPr>
          <a:xfrm>
            <a:off x="4453128" y="5562844"/>
            <a:ext cx="3291840" cy="319674"/>
          </a:xfrm>
          <a:prstGeom prst="rect">
            <a:avLst/>
          </a:prstGeom>
          <a:noFill/>
          <a:ln/>
        </p:spPr>
        <p:txBody>
          <a:bodyPr wrap="square" lIns="0" tIns="0" rIns="0" bIns="0" rtlCol="0" anchor="t"/>
          <a:lstStyle/>
          <a:p>
            <a:pPr algn="ctr" indent="0" marL="0">
              <a:buNone/>
            </a:pPr>
            <a:r>
              <a:rPr lang="en-US" sz="1050" dirty="0">
                <a:solidFill>
                  <a:srgbClr val="9DB5AD"/>
                </a:solidFill>
                <a:latin typeface="Calibri" pitchFamily="34" charset="0"/>
                <a:ea typeface="Calibri" pitchFamily="34" charset="-122"/>
                <a:cs typeface="Calibri" pitchFamily="34" charset="-120"/>
              </a:rPr>
              <a:t>agent builds</a:t>
            </a:r>
            <a:endParaRPr lang="en-US" sz="1050" dirty="0"/>
          </a:p>
        </p:txBody>
      </p:sp>
      <p:sp>
        <p:nvSpPr>
          <p:cNvPr id="40" name="Shape 35"/>
          <p:cNvSpPr/>
          <p:nvPr/>
        </p:nvSpPr>
        <p:spPr>
          <a:xfrm>
            <a:off x="8083296" y="5074920"/>
            <a:ext cx="3566160" cy="841248"/>
          </a:xfrm>
          <a:prstGeom prst="roundRect">
            <a:avLst>
              <a:gd name="adj" fmla="val 8696"/>
            </a:avLst>
          </a:prstGeom>
          <a:solidFill>
            <a:srgbClr val="0B2E27"/>
          </a:solidFill>
          <a:ln w="12700">
            <a:solidFill>
              <a:srgbClr val="1D4A3F"/>
            </a:solidFill>
            <a:prstDash val="solid"/>
          </a:ln>
        </p:spPr>
      </p:sp>
      <p:sp>
        <p:nvSpPr>
          <p:cNvPr id="41" name="Text 36"/>
          <p:cNvSpPr/>
          <p:nvPr/>
        </p:nvSpPr>
        <p:spPr>
          <a:xfrm>
            <a:off x="8220456" y="5148072"/>
            <a:ext cx="3291840" cy="462686"/>
          </a:xfrm>
          <a:prstGeom prst="rect">
            <a:avLst/>
          </a:prstGeom>
          <a:noFill/>
          <a:ln/>
        </p:spPr>
        <p:txBody>
          <a:bodyPr wrap="square" lIns="0" tIns="0" rIns="0" bIns="0" rtlCol="0" anchor="ctr"/>
          <a:lstStyle/>
          <a:p>
            <a:pPr algn="ctr" indent="0" marL="0">
              <a:buNone/>
            </a:pPr>
            <a:r>
              <a:rPr lang="en-US" sz="1800" b="1" dirty="0">
                <a:solidFill>
                  <a:srgbClr val="4FB39E"/>
                </a:solidFill>
                <a:latin typeface="Calibri" pitchFamily="34" charset="0"/>
                <a:ea typeface="Calibri" pitchFamily="34" charset="-122"/>
                <a:cs typeface="Calibri" pitchFamily="34" charset="-120"/>
              </a:rPr>
              <a:t>instant</a:t>
            </a:r>
            <a:endParaRPr lang="en-US" sz="1800" dirty="0"/>
          </a:p>
        </p:txBody>
      </p:sp>
      <p:sp>
        <p:nvSpPr>
          <p:cNvPr id="42" name="Text 37"/>
          <p:cNvSpPr/>
          <p:nvPr/>
        </p:nvSpPr>
        <p:spPr>
          <a:xfrm>
            <a:off x="8220456" y="5562844"/>
            <a:ext cx="3291840" cy="319674"/>
          </a:xfrm>
          <a:prstGeom prst="rect">
            <a:avLst/>
          </a:prstGeom>
          <a:noFill/>
          <a:ln/>
        </p:spPr>
        <p:txBody>
          <a:bodyPr wrap="square" lIns="0" tIns="0" rIns="0" bIns="0" rtlCol="0" anchor="t"/>
          <a:lstStyle/>
          <a:p>
            <a:pPr algn="ctr" indent="0" marL="0">
              <a:buNone/>
            </a:pPr>
            <a:r>
              <a:rPr lang="en-US" sz="1050" dirty="0">
                <a:solidFill>
                  <a:srgbClr val="9DB5AD"/>
                </a:solidFill>
                <a:latin typeface="Calibri" pitchFamily="34" charset="0"/>
                <a:ea typeface="Calibri" pitchFamily="34" charset="-122"/>
                <a:cs typeface="Calibri" pitchFamily="34" charset="-120"/>
              </a:rPr>
              <a:t>response time</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Route 2: single topic</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A known framework needs a lookup, not a plan.</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9</a:t>
            </a:r>
            <a:endParaRPr lang="en-US" sz="850" dirty="0"/>
          </a:p>
        </p:txBody>
      </p:sp>
      <p:sp>
        <p:nvSpPr>
          <p:cNvPr id="10" name="Text 7"/>
          <p:cNvSpPr/>
          <p:nvPr/>
        </p:nvSpPr>
        <p:spPr>
          <a:xfrm>
            <a:off x="548640" y="1097280"/>
            <a:ext cx="11064240" cy="365760"/>
          </a:xfrm>
          <a:prstGeom prst="rect">
            <a:avLst/>
          </a:prstGeom>
          <a:noFill/>
          <a:ln/>
        </p:spPr>
        <p:txBody>
          <a:bodyPr wrap="square" lIns="0" tIns="0" rIns="0" bIns="0" rtlCol="0" anchor="t"/>
          <a:lstStyle/>
          <a:p>
            <a:pPr algn="l" indent="0" marL="0">
              <a:buNone/>
            </a:pPr>
            <a:r>
              <a:rPr lang="en-US" sz="1300" dirty="0">
                <a:solidFill>
                  <a:srgbClr val="CFE0DA"/>
                </a:solidFill>
                <a:latin typeface="Calibri" pitchFamily="34" charset="0"/>
                <a:ea typeface="Calibri" pitchFamily="34" charset="-122"/>
                <a:cs typeface="Calibri" pitchFamily="34" charset="-120"/>
              </a:rPr>
              <a:t>Fires when exactly one known framework name is detected in the question.</a:t>
            </a:r>
            <a:endParaRPr lang="en-US" sz="1300" dirty="0"/>
          </a:p>
        </p:txBody>
      </p:sp>
      <p:sp>
        <p:nvSpPr>
          <p:cNvPr id="11" name="Shape 8"/>
          <p:cNvSpPr/>
          <p:nvPr/>
        </p:nvSpPr>
        <p:spPr>
          <a:xfrm>
            <a:off x="548640" y="1645920"/>
            <a:ext cx="3520440" cy="548640"/>
          </a:xfrm>
          <a:prstGeom prst="roundRect">
            <a:avLst>
              <a:gd name="adj" fmla="val 15000"/>
            </a:avLst>
          </a:prstGeom>
          <a:solidFill>
            <a:srgbClr val="0B2E27"/>
          </a:solidFill>
          <a:ln w="12700">
            <a:solidFill>
              <a:srgbClr val="1D4A3F"/>
            </a:solidFill>
            <a:prstDash val="solid"/>
          </a:ln>
        </p:spPr>
      </p:sp>
      <p:sp>
        <p:nvSpPr>
          <p:cNvPr id="12" name="Text 9"/>
          <p:cNvSpPr/>
          <p:nvPr/>
        </p:nvSpPr>
        <p:spPr>
          <a:xfrm>
            <a:off x="621792" y="1645920"/>
            <a:ext cx="3374136" cy="548640"/>
          </a:xfrm>
          <a:prstGeom prst="rect">
            <a:avLst/>
          </a:prstGeom>
          <a:noFill/>
          <a:ln/>
        </p:spPr>
        <p:txBody>
          <a:bodyPr wrap="square" lIns="635" tIns="635" rIns="635" bIns="635" rtlCol="0" anchor="ctr"/>
          <a:lstStyle/>
          <a:p>
            <a:pPr algn="l" indent="0" marL="0">
              <a:buNone/>
            </a:pPr>
            <a:r>
              <a:rPr lang="en-US" sz="1050" dirty="0">
                <a:solidFill>
                  <a:srgbClr val="E3CB9A"/>
                </a:solidFill>
                <a:latin typeface="Courier New" pitchFamily="34" charset="0"/>
                <a:ea typeface="Courier New" pitchFamily="34" charset="-122"/>
                <a:cs typeface="Courier New" pitchFamily="34" charset="-120"/>
              </a:rPr>
              <a:t>Explain NIST AI RMF</a:t>
            </a:r>
            <a:endParaRPr lang="en-US" sz="1050" dirty="0"/>
          </a:p>
        </p:txBody>
      </p:sp>
      <p:sp>
        <p:nvSpPr>
          <p:cNvPr id="13" name="Shape 10"/>
          <p:cNvSpPr/>
          <p:nvPr/>
        </p:nvSpPr>
        <p:spPr>
          <a:xfrm>
            <a:off x="4315968" y="1645920"/>
            <a:ext cx="3520440" cy="548640"/>
          </a:xfrm>
          <a:prstGeom prst="roundRect">
            <a:avLst>
              <a:gd name="adj" fmla="val 15000"/>
            </a:avLst>
          </a:prstGeom>
          <a:solidFill>
            <a:srgbClr val="0B2E27"/>
          </a:solidFill>
          <a:ln w="12700">
            <a:solidFill>
              <a:srgbClr val="1D4A3F"/>
            </a:solidFill>
            <a:prstDash val="solid"/>
          </a:ln>
        </p:spPr>
      </p:sp>
      <p:sp>
        <p:nvSpPr>
          <p:cNvPr id="14" name="Text 11"/>
          <p:cNvSpPr/>
          <p:nvPr/>
        </p:nvSpPr>
        <p:spPr>
          <a:xfrm>
            <a:off x="4389120" y="1645920"/>
            <a:ext cx="3374136" cy="548640"/>
          </a:xfrm>
          <a:prstGeom prst="rect">
            <a:avLst/>
          </a:prstGeom>
          <a:noFill/>
          <a:ln/>
        </p:spPr>
        <p:txBody>
          <a:bodyPr wrap="square" lIns="635" tIns="635" rIns="635" bIns="635" rtlCol="0" anchor="ctr"/>
          <a:lstStyle/>
          <a:p>
            <a:pPr algn="l" indent="0" marL="0">
              <a:buNone/>
            </a:pPr>
            <a:r>
              <a:rPr lang="en-US" sz="1050" dirty="0">
                <a:solidFill>
                  <a:srgbClr val="E3CB9A"/>
                </a:solidFill>
                <a:latin typeface="Courier New" pitchFamily="34" charset="0"/>
                <a:ea typeface="Courier New" pitchFamily="34" charset="-122"/>
                <a:cs typeface="Courier New" pitchFamily="34" charset="-120"/>
              </a:rPr>
              <a:t>Explain OWASP LLM Top 10</a:t>
            </a:r>
            <a:endParaRPr lang="en-US" sz="1050" dirty="0"/>
          </a:p>
        </p:txBody>
      </p:sp>
      <p:sp>
        <p:nvSpPr>
          <p:cNvPr id="15" name="Shape 12"/>
          <p:cNvSpPr/>
          <p:nvPr/>
        </p:nvSpPr>
        <p:spPr>
          <a:xfrm>
            <a:off x="8083296" y="1645920"/>
            <a:ext cx="3520440" cy="548640"/>
          </a:xfrm>
          <a:prstGeom prst="roundRect">
            <a:avLst>
              <a:gd name="adj" fmla="val 15000"/>
            </a:avLst>
          </a:prstGeom>
          <a:solidFill>
            <a:srgbClr val="0B2E27"/>
          </a:solidFill>
          <a:ln w="12700">
            <a:solidFill>
              <a:srgbClr val="1D4A3F"/>
            </a:solidFill>
            <a:prstDash val="solid"/>
          </a:ln>
        </p:spPr>
      </p:sp>
      <p:sp>
        <p:nvSpPr>
          <p:cNvPr id="16" name="Text 13"/>
          <p:cNvSpPr/>
          <p:nvPr/>
        </p:nvSpPr>
        <p:spPr>
          <a:xfrm>
            <a:off x="8156448" y="1645920"/>
            <a:ext cx="3374136" cy="548640"/>
          </a:xfrm>
          <a:prstGeom prst="rect">
            <a:avLst/>
          </a:prstGeom>
          <a:noFill/>
          <a:ln/>
        </p:spPr>
        <p:txBody>
          <a:bodyPr wrap="square" lIns="635" tIns="635" rIns="635" bIns="635" rtlCol="0" anchor="ctr"/>
          <a:lstStyle/>
          <a:p>
            <a:pPr algn="l" indent="0" marL="0">
              <a:buNone/>
            </a:pPr>
            <a:r>
              <a:rPr lang="en-US" sz="1050" dirty="0">
                <a:solidFill>
                  <a:srgbClr val="E3CB9A"/>
                </a:solidFill>
                <a:latin typeface="Courier New" pitchFamily="34" charset="0"/>
                <a:ea typeface="Courier New" pitchFamily="34" charset="-122"/>
                <a:cs typeface="Courier New" pitchFamily="34" charset="-120"/>
              </a:rPr>
              <a:t>Explain ISO 42001</a:t>
            </a:r>
            <a:endParaRPr lang="en-US" sz="1050" dirty="0"/>
          </a:p>
        </p:txBody>
      </p:sp>
      <p:sp>
        <p:nvSpPr>
          <p:cNvPr id="17" name="Shape 14"/>
          <p:cNvSpPr/>
          <p:nvPr/>
        </p:nvSpPr>
        <p:spPr>
          <a:xfrm>
            <a:off x="822960" y="3017520"/>
            <a:ext cx="3017520" cy="868680"/>
          </a:xfrm>
          <a:prstGeom prst="roundRect">
            <a:avLst>
              <a:gd name="adj" fmla="val 7368"/>
            </a:avLst>
          </a:prstGeom>
          <a:solidFill>
            <a:srgbClr val="4FB39E"/>
          </a:solidFill>
          <a:ln w="12700">
            <a:solidFill>
              <a:srgbClr val="4FB39E"/>
            </a:solidFill>
            <a:prstDash val="solid"/>
          </a:ln>
        </p:spPr>
      </p:sp>
      <p:sp>
        <p:nvSpPr>
          <p:cNvPr id="18" name="Text 15"/>
          <p:cNvSpPr/>
          <p:nvPr/>
        </p:nvSpPr>
        <p:spPr>
          <a:xfrm>
            <a:off x="822960" y="3017520"/>
            <a:ext cx="3017520" cy="868680"/>
          </a:xfrm>
          <a:prstGeom prst="rect">
            <a:avLst/>
          </a:prstGeom>
          <a:noFill/>
          <a:ln/>
        </p:spPr>
        <p:txBody>
          <a:bodyPr wrap="square" lIns="381" tIns="381" rIns="381" bIns="381" rtlCol="0" anchor="ctr"/>
          <a:lstStyle/>
          <a:p>
            <a:pPr algn="ctr" indent="0" marL="0">
              <a:buNone/>
            </a:pPr>
            <a:r>
              <a:rPr lang="en-US" sz="1300" b="1" dirty="0">
                <a:solidFill>
                  <a:srgbClr val="06211B"/>
                </a:solidFill>
                <a:latin typeface="Calibri" pitchFamily="34" charset="0"/>
                <a:ea typeface="Calibri" pitchFamily="34" charset="-122"/>
                <a:cs typeface="Calibri" pitchFamily="34" charset="-120"/>
              </a:rPr>
              <a:t>1 knowledge search</a:t>
            </a:r>
            <a:endParaRPr lang="en-US" sz="1300" dirty="0"/>
          </a:p>
        </p:txBody>
      </p:sp>
      <p:sp>
        <p:nvSpPr>
          <p:cNvPr id="19" name="Shape 16"/>
          <p:cNvSpPr/>
          <p:nvPr/>
        </p:nvSpPr>
        <p:spPr>
          <a:xfrm>
            <a:off x="3913632" y="3451860"/>
            <a:ext cx="658368" cy="0"/>
          </a:xfrm>
          <a:prstGeom prst="line">
            <a:avLst/>
          </a:prstGeom>
          <a:noFill/>
          <a:ln w="25400">
            <a:solidFill>
              <a:srgbClr val="4FB39E"/>
            </a:solidFill>
            <a:prstDash val="solid"/>
            <a:tailEnd type="triangle"/>
          </a:ln>
        </p:spPr>
      </p:sp>
      <p:sp>
        <p:nvSpPr>
          <p:cNvPr id="20" name="Shape 17"/>
          <p:cNvSpPr/>
          <p:nvPr/>
        </p:nvSpPr>
        <p:spPr>
          <a:xfrm>
            <a:off x="4663440" y="3017520"/>
            <a:ext cx="3017520" cy="868680"/>
          </a:xfrm>
          <a:prstGeom prst="roundRect">
            <a:avLst>
              <a:gd name="adj" fmla="val 7368"/>
            </a:avLst>
          </a:prstGeom>
          <a:solidFill>
            <a:srgbClr val="4FB39E"/>
          </a:solidFill>
          <a:ln w="12700">
            <a:solidFill>
              <a:srgbClr val="4FB39E"/>
            </a:solidFill>
            <a:prstDash val="solid"/>
          </a:ln>
        </p:spPr>
      </p:sp>
      <p:sp>
        <p:nvSpPr>
          <p:cNvPr id="21" name="Text 18"/>
          <p:cNvSpPr/>
          <p:nvPr/>
        </p:nvSpPr>
        <p:spPr>
          <a:xfrm>
            <a:off x="4663440" y="3017520"/>
            <a:ext cx="3017520" cy="868680"/>
          </a:xfrm>
          <a:prstGeom prst="rect">
            <a:avLst/>
          </a:prstGeom>
          <a:noFill/>
          <a:ln/>
        </p:spPr>
        <p:txBody>
          <a:bodyPr wrap="square" lIns="381" tIns="381" rIns="381" bIns="381" rtlCol="0" anchor="ctr"/>
          <a:lstStyle/>
          <a:p>
            <a:pPr algn="ctr" indent="0" marL="0">
              <a:buNone/>
            </a:pPr>
            <a:r>
              <a:rPr lang="en-US" sz="1300" b="1" dirty="0">
                <a:solidFill>
                  <a:srgbClr val="06211B"/>
                </a:solidFill>
                <a:latin typeface="Calibri" pitchFamily="34" charset="0"/>
                <a:ea typeface="Calibri" pitchFamily="34" charset="-122"/>
                <a:cs typeface="Calibri" pitchFamily="34" charset="-120"/>
              </a:rPr>
              <a:t>1 LLM synthesis</a:t>
            </a:r>
            <a:endParaRPr lang="en-US" sz="1300" dirty="0"/>
          </a:p>
        </p:txBody>
      </p:sp>
      <p:sp>
        <p:nvSpPr>
          <p:cNvPr id="22" name="Shape 19"/>
          <p:cNvSpPr/>
          <p:nvPr/>
        </p:nvSpPr>
        <p:spPr>
          <a:xfrm>
            <a:off x="7754112" y="3451860"/>
            <a:ext cx="658368" cy="0"/>
          </a:xfrm>
          <a:prstGeom prst="line">
            <a:avLst/>
          </a:prstGeom>
          <a:noFill/>
          <a:ln w="25400">
            <a:solidFill>
              <a:srgbClr val="4FB39E"/>
            </a:solidFill>
            <a:prstDash val="solid"/>
            <a:tailEnd type="triangle"/>
          </a:ln>
        </p:spPr>
      </p:sp>
      <p:sp>
        <p:nvSpPr>
          <p:cNvPr id="23" name="Shape 20"/>
          <p:cNvSpPr/>
          <p:nvPr/>
        </p:nvSpPr>
        <p:spPr>
          <a:xfrm>
            <a:off x="8503920" y="3017520"/>
            <a:ext cx="2834640" cy="868680"/>
          </a:xfrm>
          <a:prstGeom prst="roundRect">
            <a:avLst>
              <a:gd name="adj" fmla="val 7368"/>
            </a:avLst>
          </a:prstGeom>
          <a:solidFill>
            <a:srgbClr val="2B776D"/>
          </a:solidFill>
          <a:ln w="12700">
            <a:solidFill>
              <a:srgbClr val="2B776D"/>
            </a:solidFill>
            <a:prstDash val="solid"/>
          </a:ln>
        </p:spPr>
      </p:sp>
      <p:sp>
        <p:nvSpPr>
          <p:cNvPr id="24" name="Text 21"/>
          <p:cNvSpPr/>
          <p:nvPr/>
        </p:nvSpPr>
        <p:spPr>
          <a:xfrm>
            <a:off x="8503920" y="3017520"/>
            <a:ext cx="2834640" cy="868680"/>
          </a:xfrm>
          <a:prstGeom prst="rect">
            <a:avLst/>
          </a:prstGeom>
          <a:noFill/>
          <a:ln/>
        </p:spPr>
        <p:txBody>
          <a:bodyPr wrap="square" lIns="381" tIns="381" rIns="381" bIns="381"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Answer</a:t>
            </a:r>
            <a:endParaRPr lang="en-US" sz="1300" dirty="0"/>
          </a:p>
        </p:txBody>
      </p:sp>
      <p:sp>
        <p:nvSpPr>
          <p:cNvPr id="25" name="Shape 22"/>
          <p:cNvSpPr/>
          <p:nvPr/>
        </p:nvSpPr>
        <p:spPr>
          <a:xfrm>
            <a:off x="4663440" y="4434840"/>
            <a:ext cx="3017520" cy="566928"/>
          </a:xfrm>
          <a:prstGeom prst="roundRect">
            <a:avLst>
              <a:gd name="adj" fmla="val 11290"/>
            </a:avLst>
          </a:prstGeom>
          <a:solidFill>
            <a:srgbClr val="06211B"/>
          </a:solidFill>
          <a:ln w="13970">
            <a:solidFill>
              <a:srgbClr val="9DB5AD"/>
            </a:solidFill>
            <a:prstDash val="dash"/>
          </a:ln>
        </p:spPr>
      </p:sp>
      <p:sp>
        <p:nvSpPr>
          <p:cNvPr id="26" name="Text 23"/>
          <p:cNvSpPr/>
          <p:nvPr/>
        </p:nvSpPr>
        <p:spPr>
          <a:xfrm>
            <a:off x="4663440" y="4434840"/>
            <a:ext cx="3017520" cy="566928"/>
          </a:xfrm>
          <a:prstGeom prst="rect">
            <a:avLst/>
          </a:prstGeom>
          <a:noFill/>
          <a:ln/>
        </p:spPr>
        <p:txBody>
          <a:bodyPr wrap="square" lIns="381" tIns="381" rIns="381" bIns="381" rtlCol="0" anchor="ctr"/>
          <a:lstStyle/>
          <a:p>
            <a:pPr algn="ctr" indent="0" marL="0">
              <a:buNone/>
            </a:pPr>
            <a:r>
              <a:rPr lang="en-US" sz="1050" dirty="0">
                <a:solidFill>
                  <a:srgbClr val="9DB5AD"/>
                </a:solidFill>
                <a:latin typeface="Calibri" pitchFamily="34" charset="0"/>
                <a:ea typeface="Calibri" pitchFamily="34" charset="-122"/>
                <a:cs typeface="Calibri" pitchFamily="34" charset="-120"/>
              </a:rPr>
              <a:t>FunctionAgent</a:t>
            </a:r>
            <a:endParaRPr lang="en-US" sz="1050" dirty="0"/>
          </a:p>
        </p:txBody>
      </p:sp>
      <p:pic>
        <p:nvPicPr>
          <p:cNvPr id="27" name="Image 1" descr="/home/claude/evidenceops/icons/xcircle_mutedk.png">    </p:cNvPr>
          <p:cNvPicPr>
            <a:picLocks noChangeAspect="1"/>
          </p:cNvPicPr>
          <p:nvPr/>
        </p:nvPicPr>
        <p:blipFill>
          <a:blip r:embed="rId2"/>
          <a:stretch>
            <a:fillRect/>
          </a:stretch>
        </p:blipFill>
        <p:spPr>
          <a:xfrm>
            <a:off x="4343400" y="4590288"/>
            <a:ext cx="256032" cy="256032"/>
          </a:xfrm>
          <a:prstGeom prst="rect">
            <a:avLst/>
          </a:prstGeom>
        </p:spPr>
      </p:pic>
      <p:sp>
        <p:nvSpPr>
          <p:cNvPr id="28" name="Text 24"/>
          <p:cNvSpPr/>
          <p:nvPr/>
        </p:nvSpPr>
        <p:spPr>
          <a:xfrm>
            <a:off x="3291840" y="5074920"/>
            <a:ext cx="5760720" cy="274320"/>
          </a:xfrm>
          <a:prstGeom prst="rect">
            <a:avLst/>
          </a:prstGeom>
          <a:noFill/>
          <a:ln/>
        </p:spPr>
        <p:txBody>
          <a:bodyPr wrap="square" lIns="0" tIns="0" rIns="0" bIns="0" rtlCol="0" anchor="t"/>
          <a:lstStyle/>
          <a:p>
            <a:pPr algn="ctr" indent="0" marL="0">
              <a:buNone/>
            </a:pPr>
            <a:r>
              <a:rPr lang="en-US" sz="1050" dirty="0">
                <a:solidFill>
                  <a:srgbClr val="9DB5AD"/>
                </a:solidFill>
                <a:latin typeface="Calibri" pitchFamily="34" charset="0"/>
                <a:ea typeface="Calibri" pitchFamily="34" charset="-122"/>
                <a:cs typeface="Calibri" pitchFamily="34" charset="-120"/>
              </a:rPr>
              <a:t>one retrieval replaces the agent's three or four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Route 3: parallel comparison</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Retrieval fans out; synthesis happens once.</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10</a:t>
            </a:r>
            <a:endParaRPr lang="en-US" sz="850" dirty="0"/>
          </a:p>
        </p:txBody>
      </p:sp>
      <p:sp>
        <p:nvSpPr>
          <p:cNvPr id="10" name="Text 7"/>
          <p:cNvSpPr/>
          <p:nvPr/>
        </p:nvSpPr>
        <p:spPr>
          <a:xfrm>
            <a:off x="548640" y="1097280"/>
            <a:ext cx="11064240" cy="365760"/>
          </a:xfrm>
          <a:prstGeom prst="rect">
            <a:avLst/>
          </a:prstGeom>
          <a:noFill/>
          <a:ln/>
        </p:spPr>
        <p:txBody>
          <a:bodyPr wrap="square" lIns="0" tIns="0" rIns="0" bIns="0" rtlCol="0" anchor="t"/>
          <a:lstStyle/>
          <a:p>
            <a:pPr algn="l" indent="0" marL="0">
              <a:buNone/>
            </a:pPr>
            <a:r>
              <a:rPr lang="en-US" sz="1300" dirty="0">
                <a:solidFill>
                  <a:srgbClr val="CFE0DA"/>
                </a:solidFill>
                <a:latin typeface="Calibri" pitchFamily="34" charset="0"/>
                <a:ea typeface="Calibri" pitchFamily="34" charset="-122"/>
                <a:cs typeface="Calibri" pitchFamily="34" charset="-120"/>
              </a:rPr>
              <a:t>Fires when a comparison marker appears together with two or more framework names.</a:t>
            </a:r>
            <a:endParaRPr lang="en-US" sz="1300" dirty="0"/>
          </a:p>
        </p:txBody>
      </p:sp>
      <p:sp>
        <p:nvSpPr>
          <p:cNvPr id="11" name="Shape 8"/>
          <p:cNvSpPr/>
          <p:nvPr/>
        </p:nvSpPr>
        <p:spPr>
          <a:xfrm>
            <a:off x="548640" y="1627632"/>
            <a:ext cx="4937760" cy="548640"/>
          </a:xfrm>
          <a:prstGeom prst="roundRect">
            <a:avLst>
              <a:gd name="adj" fmla="val 15000"/>
            </a:avLst>
          </a:prstGeom>
          <a:solidFill>
            <a:srgbClr val="0B2E27"/>
          </a:solidFill>
          <a:ln w="12700">
            <a:solidFill>
              <a:srgbClr val="1D4A3F"/>
            </a:solidFill>
            <a:prstDash val="solid"/>
          </a:ln>
        </p:spPr>
      </p:sp>
      <p:sp>
        <p:nvSpPr>
          <p:cNvPr id="12" name="Text 9"/>
          <p:cNvSpPr/>
          <p:nvPr/>
        </p:nvSpPr>
        <p:spPr>
          <a:xfrm>
            <a:off x="621792" y="1627632"/>
            <a:ext cx="4791456" cy="548640"/>
          </a:xfrm>
          <a:prstGeom prst="rect">
            <a:avLst/>
          </a:prstGeom>
          <a:noFill/>
          <a:ln/>
        </p:spPr>
        <p:txBody>
          <a:bodyPr wrap="square" lIns="635" tIns="635" rIns="635" bIns="635" rtlCol="0" anchor="ctr"/>
          <a:lstStyle/>
          <a:p>
            <a:pPr algn="l" indent="0" marL="0">
              <a:buNone/>
            </a:pPr>
            <a:r>
              <a:rPr lang="en-US" sz="1050" dirty="0">
                <a:solidFill>
                  <a:srgbClr val="E3CB9A"/>
                </a:solidFill>
                <a:latin typeface="Courier New" pitchFamily="34" charset="0"/>
                <a:ea typeface="Courier New" pitchFamily="34" charset="-122"/>
                <a:cs typeface="Courier New" pitchFamily="34" charset="-120"/>
              </a:rPr>
              <a:t>Compare NIST AI RMF vs OWASP LLM Top 10</a:t>
            </a:r>
            <a:endParaRPr lang="en-US" sz="1050" dirty="0"/>
          </a:p>
        </p:txBody>
      </p:sp>
      <p:sp>
        <p:nvSpPr>
          <p:cNvPr id="13" name="Shape 10"/>
          <p:cNvSpPr/>
          <p:nvPr/>
        </p:nvSpPr>
        <p:spPr>
          <a:xfrm>
            <a:off x="548640" y="3246120"/>
            <a:ext cx="1828800" cy="685800"/>
          </a:xfrm>
          <a:prstGeom prst="roundRect">
            <a:avLst>
              <a:gd name="adj" fmla="val 12000"/>
            </a:avLst>
          </a:prstGeom>
          <a:solidFill>
            <a:srgbClr val="0B2E27"/>
          </a:solidFill>
          <a:ln w="12700">
            <a:solidFill>
              <a:srgbClr val="1D4A3F"/>
            </a:solidFill>
            <a:prstDash val="solid"/>
          </a:ln>
        </p:spPr>
      </p:sp>
      <p:sp>
        <p:nvSpPr>
          <p:cNvPr id="14" name="Text 11"/>
          <p:cNvSpPr/>
          <p:nvPr/>
        </p:nvSpPr>
        <p:spPr>
          <a:xfrm>
            <a:off x="621792" y="3246120"/>
            <a:ext cx="1682496" cy="685800"/>
          </a:xfrm>
          <a:prstGeom prst="rect">
            <a:avLst/>
          </a:prstGeom>
          <a:noFill/>
          <a:ln/>
        </p:spPr>
        <p:txBody>
          <a:bodyPr wrap="square" lIns="635" tIns="635" rIns="635" bIns="635" rtlCol="0" anchor="ctr"/>
          <a:lstStyle/>
          <a:p>
            <a:pPr algn="ctr" indent="0" marL="0">
              <a:buNone/>
            </a:pPr>
            <a:r>
              <a:rPr lang="en-US" sz="1200" dirty="0">
                <a:solidFill>
                  <a:srgbClr val="F2F7F4"/>
                </a:solidFill>
                <a:latin typeface="Calibri" pitchFamily="34" charset="0"/>
                <a:ea typeface="Calibri" pitchFamily="34" charset="-122"/>
                <a:cs typeface="Calibri" pitchFamily="34" charset="-120"/>
              </a:rPr>
              <a:t>Question</a:t>
            </a:r>
            <a:endParaRPr lang="en-US" sz="1200" dirty="0"/>
          </a:p>
        </p:txBody>
      </p:sp>
      <p:sp>
        <p:nvSpPr>
          <p:cNvPr id="15" name="Shape 12"/>
          <p:cNvSpPr/>
          <p:nvPr/>
        </p:nvSpPr>
        <p:spPr>
          <a:xfrm flipV="1">
            <a:off x="2423160" y="2697480"/>
            <a:ext cx="868680" cy="886968"/>
          </a:xfrm>
          <a:prstGeom prst="line">
            <a:avLst/>
          </a:prstGeom>
          <a:noFill/>
          <a:ln w="24130">
            <a:solidFill>
              <a:srgbClr val="4FB39E"/>
            </a:solidFill>
            <a:prstDash val="solid"/>
            <a:tailEnd type="triangle"/>
          </a:ln>
        </p:spPr>
      </p:sp>
      <p:sp>
        <p:nvSpPr>
          <p:cNvPr id="16" name="Shape 13"/>
          <p:cNvSpPr/>
          <p:nvPr/>
        </p:nvSpPr>
        <p:spPr>
          <a:xfrm>
            <a:off x="2423160" y="3584448"/>
            <a:ext cx="868680" cy="896112"/>
          </a:xfrm>
          <a:prstGeom prst="line">
            <a:avLst/>
          </a:prstGeom>
          <a:noFill/>
          <a:ln w="24130">
            <a:solidFill>
              <a:srgbClr val="4FB39E"/>
            </a:solidFill>
            <a:prstDash val="solid"/>
            <a:tailEnd type="triangle"/>
          </a:ln>
        </p:spPr>
      </p:sp>
      <p:sp>
        <p:nvSpPr>
          <p:cNvPr id="17" name="Shape 14"/>
          <p:cNvSpPr/>
          <p:nvPr/>
        </p:nvSpPr>
        <p:spPr>
          <a:xfrm>
            <a:off x="3383280" y="2331720"/>
            <a:ext cx="2834640" cy="731520"/>
          </a:xfrm>
          <a:prstGeom prst="roundRect">
            <a:avLst>
              <a:gd name="adj" fmla="val 8750"/>
            </a:avLst>
          </a:prstGeom>
          <a:solidFill>
            <a:srgbClr val="4FB39E"/>
          </a:solidFill>
          <a:ln w="12700">
            <a:solidFill>
              <a:srgbClr val="4FB39E"/>
            </a:solidFill>
            <a:prstDash val="solid"/>
          </a:ln>
        </p:spPr>
      </p:sp>
      <p:sp>
        <p:nvSpPr>
          <p:cNvPr id="18" name="Text 15"/>
          <p:cNvSpPr/>
          <p:nvPr/>
        </p:nvSpPr>
        <p:spPr>
          <a:xfrm>
            <a:off x="3383280" y="2331720"/>
            <a:ext cx="2834640" cy="731520"/>
          </a:xfrm>
          <a:prstGeom prst="rect">
            <a:avLst/>
          </a:prstGeom>
          <a:noFill/>
          <a:ln/>
        </p:spPr>
        <p:txBody>
          <a:bodyPr wrap="square" lIns="381" tIns="381" rIns="381" bIns="381" rtlCol="0" anchor="ctr"/>
          <a:lstStyle/>
          <a:p>
            <a:pPr algn="ctr" indent="0" marL="0">
              <a:buNone/>
            </a:pPr>
            <a:r>
              <a:rPr lang="en-US" sz="1150" b="1" dirty="0">
                <a:solidFill>
                  <a:srgbClr val="06211B"/>
                </a:solidFill>
                <a:latin typeface="Calibri" pitchFamily="34" charset="0"/>
                <a:ea typeface="Calibri" pitchFamily="34" charset="-122"/>
                <a:cs typeface="Calibri" pitchFamily="34" charset="-120"/>
              </a:rPr>
              <a:t>Search: NIST AI RMF</a:t>
            </a:r>
            <a:endParaRPr lang="en-US" sz="1150" dirty="0"/>
          </a:p>
        </p:txBody>
      </p:sp>
      <p:sp>
        <p:nvSpPr>
          <p:cNvPr id="19" name="Shape 16"/>
          <p:cNvSpPr/>
          <p:nvPr/>
        </p:nvSpPr>
        <p:spPr>
          <a:xfrm>
            <a:off x="3383280" y="4114800"/>
            <a:ext cx="2834640" cy="731520"/>
          </a:xfrm>
          <a:prstGeom prst="roundRect">
            <a:avLst>
              <a:gd name="adj" fmla="val 8750"/>
            </a:avLst>
          </a:prstGeom>
          <a:solidFill>
            <a:srgbClr val="4FB39E"/>
          </a:solidFill>
          <a:ln w="12700">
            <a:solidFill>
              <a:srgbClr val="4FB39E"/>
            </a:solidFill>
            <a:prstDash val="solid"/>
          </a:ln>
        </p:spPr>
      </p:sp>
      <p:sp>
        <p:nvSpPr>
          <p:cNvPr id="20" name="Text 17"/>
          <p:cNvSpPr/>
          <p:nvPr/>
        </p:nvSpPr>
        <p:spPr>
          <a:xfrm>
            <a:off x="3383280" y="4114800"/>
            <a:ext cx="2834640" cy="731520"/>
          </a:xfrm>
          <a:prstGeom prst="rect">
            <a:avLst/>
          </a:prstGeom>
          <a:noFill/>
          <a:ln/>
        </p:spPr>
        <p:txBody>
          <a:bodyPr wrap="square" lIns="381" tIns="381" rIns="381" bIns="381" rtlCol="0" anchor="ctr"/>
          <a:lstStyle/>
          <a:p>
            <a:pPr algn="ctr" indent="0" marL="0">
              <a:buNone/>
            </a:pPr>
            <a:r>
              <a:rPr lang="en-US" sz="1150" b="1" dirty="0">
                <a:solidFill>
                  <a:srgbClr val="06211B"/>
                </a:solidFill>
                <a:latin typeface="Calibri" pitchFamily="34" charset="0"/>
                <a:ea typeface="Calibri" pitchFamily="34" charset="-122"/>
                <a:cs typeface="Calibri" pitchFamily="34" charset="-120"/>
              </a:rPr>
              <a:t>Search: OWASP LLM Top 10</a:t>
            </a:r>
            <a:endParaRPr lang="en-US" sz="1150" dirty="0"/>
          </a:p>
        </p:txBody>
      </p:sp>
      <p:sp>
        <p:nvSpPr>
          <p:cNvPr id="21" name="Text 18"/>
          <p:cNvSpPr/>
          <p:nvPr/>
        </p:nvSpPr>
        <p:spPr>
          <a:xfrm>
            <a:off x="3383280" y="3246120"/>
            <a:ext cx="2834640" cy="685800"/>
          </a:xfrm>
          <a:prstGeom prst="rect">
            <a:avLst/>
          </a:prstGeom>
          <a:noFill/>
          <a:ln/>
        </p:spPr>
        <p:txBody>
          <a:bodyPr wrap="square" lIns="0" tIns="0" rIns="0" bIns="0" rtlCol="0" anchor="ctr"/>
          <a:lstStyle/>
          <a:p>
            <a:pPr algn="ctr" indent="0" marL="0">
              <a:buNone/>
            </a:pPr>
            <a:r>
              <a:rPr lang="en-US" sz="950" dirty="0">
                <a:solidFill>
                  <a:srgbClr val="4FB39E"/>
                </a:solidFill>
                <a:latin typeface="Calibri" pitchFamily="34" charset="0"/>
                <a:ea typeface="Calibri" pitchFamily="34" charset="-122"/>
                <a:cs typeface="Calibri" pitchFamily="34" charset="-120"/>
              </a:rPr>
              <a:t>runs at the same time</a:t>
            </a:r>
            <a:endParaRPr lang="en-US" sz="950" dirty="0"/>
          </a:p>
        </p:txBody>
      </p:sp>
      <p:sp>
        <p:nvSpPr>
          <p:cNvPr id="22" name="Shape 19"/>
          <p:cNvSpPr/>
          <p:nvPr/>
        </p:nvSpPr>
        <p:spPr>
          <a:xfrm>
            <a:off x="6263640" y="2697480"/>
            <a:ext cx="868680" cy="731520"/>
          </a:xfrm>
          <a:prstGeom prst="line">
            <a:avLst/>
          </a:prstGeom>
          <a:noFill/>
          <a:ln w="24130">
            <a:solidFill>
              <a:srgbClr val="4FB39E"/>
            </a:solidFill>
            <a:prstDash val="solid"/>
            <a:tailEnd type="triangle"/>
          </a:ln>
        </p:spPr>
      </p:sp>
      <p:sp>
        <p:nvSpPr>
          <p:cNvPr id="23" name="Shape 20"/>
          <p:cNvSpPr/>
          <p:nvPr/>
        </p:nvSpPr>
        <p:spPr>
          <a:xfrm flipV="1">
            <a:off x="6263640" y="3749040"/>
            <a:ext cx="868680" cy="731520"/>
          </a:xfrm>
          <a:prstGeom prst="line">
            <a:avLst/>
          </a:prstGeom>
          <a:noFill/>
          <a:ln w="24130">
            <a:solidFill>
              <a:srgbClr val="4FB39E"/>
            </a:solidFill>
            <a:prstDash val="solid"/>
            <a:tailEnd type="triangle"/>
          </a:ln>
        </p:spPr>
      </p:sp>
      <p:sp>
        <p:nvSpPr>
          <p:cNvPr id="24" name="Shape 21"/>
          <p:cNvSpPr/>
          <p:nvPr/>
        </p:nvSpPr>
        <p:spPr>
          <a:xfrm>
            <a:off x="7132320" y="3355848"/>
            <a:ext cx="457200" cy="457200"/>
          </a:xfrm>
          <a:prstGeom prst="ellipse">
            <a:avLst/>
          </a:prstGeom>
          <a:solidFill>
            <a:srgbClr val="2B776D"/>
          </a:solidFill>
          <a:ln w="12700">
            <a:solidFill>
              <a:srgbClr val="2B776D"/>
            </a:solidFill>
            <a:prstDash val="solid"/>
          </a:ln>
        </p:spPr>
      </p:sp>
      <p:pic>
        <p:nvPicPr>
          <p:cNvPr id="25" name="Image 1" descr="/home/claude/evidenceops/icons/gitmerge_white.png">    </p:cNvPr>
          <p:cNvPicPr>
            <a:picLocks noChangeAspect="1"/>
          </p:cNvPicPr>
          <p:nvPr/>
        </p:nvPicPr>
        <p:blipFill>
          <a:blip r:embed="rId2"/>
          <a:stretch>
            <a:fillRect/>
          </a:stretch>
        </p:blipFill>
        <p:spPr>
          <a:xfrm>
            <a:off x="7237476" y="3461004"/>
            <a:ext cx="246888" cy="246888"/>
          </a:xfrm>
          <a:prstGeom prst="rect">
            <a:avLst/>
          </a:prstGeom>
        </p:spPr>
      </p:pic>
      <p:sp>
        <p:nvSpPr>
          <p:cNvPr id="26" name="Shape 22"/>
          <p:cNvSpPr/>
          <p:nvPr/>
        </p:nvSpPr>
        <p:spPr>
          <a:xfrm>
            <a:off x="7635240" y="3584448"/>
            <a:ext cx="502920" cy="0"/>
          </a:xfrm>
          <a:prstGeom prst="line">
            <a:avLst/>
          </a:prstGeom>
          <a:noFill/>
          <a:ln w="24130">
            <a:solidFill>
              <a:srgbClr val="4FB39E"/>
            </a:solidFill>
            <a:prstDash val="solid"/>
            <a:tailEnd type="triangle"/>
          </a:ln>
        </p:spPr>
      </p:sp>
      <p:sp>
        <p:nvSpPr>
          <p:cNvPr id="27" name="Shape 23"/>
          <p:cNvSpPr/>
          <p:nvPr/>
        </p:nvSpPr>
        <p:spPr>
          <a:xfrm>
            <a:off x="8229600" y="3200400"/>
            <a:ext cx="3108960" cy="777240"/>
          </a:xfrm>
          <a:prstGeom prst="roundRect">
            <a:avLst>
              <a:gd name="adj" fmla="val 8235"/>
            </a:avLst>
          </a:prstGeom>
          <a:solidFill>
            <a:srgbClr val="4FB39E"/>
          </a:solidFill>
          <a:ln w="12700">
            <a:solidFill>
              <a:srgbClr val="4FB39E"/>
            </a:solidFill>
            <a:prstDash val="solid"/>
          </a:ln>
        </p:spPr>
      </p:sp>
      <p:sp>
        <p:nvSpPr>
          <p:cNvPr id="28" name="Text 24"/>
          <p:cNvSpPr/>
          <p:nvPr/>
        </p:nvSpPr>
        <p:spPr>
          <a:xfrm>
            <a:off x="8229600" y="3200400"/>
            <a:ext cx="3108960" cy="777240"/>
          </a:xfrm>
          <a:prstGeom prst="rect">
            <a:avLst/>
          </a:prstGeom>
          <a:noFill/>
          <a:ln/>
        </p:spPr>
        <p:txBody>
          <a:bodyPr wrap="square" lIns="381" tIns="381" rIns="381" bIns="381" rtlCol="0" anchor="ctr"/>
          <a:lstStyle/>
          <a:p>
            <a:pPr algn="ctr" indent="0" marL="0">
              <a:buNone/>
            </a:pPr>
            <a:r>
              <a:rPr lang="en-US" sz="1250" b="1" dirty="0">
                <a:solidFill>
                  <a:srgbClr val="06211B"/>
                </a:solidFill>
                <a:latin typeface="Calibri" pitchFamily="34" charset="0"/>
                <a:ea typeface="Calibri" pitchFamily="34" charset="-122"/>
                <a:cs typeface="Calibri" pitchFamily="34" charset="-120"/>
              </a:rPr>
              <a:t>One combined synthesis</a:t>
            </a:r>
            <a:endParaRPr lang="en-US" sz="1250" dirty="0"/>
          </a:p>
        </p:txBody>
      </p:sp>
      <p:sp>
        <p:nvSpPr>
          <p:cNvPr id="29" name="Shape 25"/>
          <p:cNvSpPr/>
          <p:nvPr/>
        </p:nvSpPr>
        <p:spPr>
          <a:xfrm>
            <a:off x="3383280" y="5349240"/>
            <a:ext cx="5669280" cy="0"/>
          </a:xfrm>
          <a:prstGeom prst="line">
            <a:avLst/>
          </a:prstGeom>
          <a:noFill/>
          <a:ln w="13970">
            <a:solidFill>
              <a:srgbClr val="C29C55"/>
            </a:solidFill>
            <a:prstDash val="dash"/>
          </a:ln>
        </p:spPr>
      </p:sp>
      <p:sp>
        <p:nvSpPr>
          <p:cNvPr id="30" name="Text 26"/>
          <p:cNvSpPr/>
          <p:nvPr/>
        </p:nvSpPr>
        <p:spPr>
          <a:xfrm>
            <a:off x="2560320" y="5422392"/>
            <a:ext cx="7315200" cy="274320"/>
          </a:xfrm>
          <a:prstGeom prst="rect">
            <a:avLst/>
          </a:prstGeom>
          <a:noFill/>
          <a:ln/>
        </p:spPr>
        <p:txBody>
          <a:bodyPr wrap="square" lIns="0" tIns="0" rIns="0" bIns="0" rtlCol="0" anchor="t"/>
          <a:lstStyle/>
          <a:p>
            <a:pPr algn="ctr" indent="0" marL="0">
              <a:buNone/>
            </a:pPr>
            <a:r>
              <a:rPr lang="en-US" sz="1050" dirty="0">
                <a:solidFill>
                  <a:srgbClr val="E3CB9A"/>
                </a:solidFill>
                <a:latin typeface="Calibri" pitchFamily="34" charset="0"/>
                <a:ea typeface="Calibri" pitchFamily="34" charset="-122"/>
                <a:cs typeface="Calibri" pitchFamily="34" charset="-120"/>
              </a:rPr>
              <a:t>before: the same searches ran one after the other inside the agent loop</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Route 4: FunctionAgent</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Agent effort is spent only where planning earns its cost.</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11</a:t>
            </a:r>
            <a:endParaRPr lang="en-US" sz="850" dirty="0"/>
          </a:p>
        </p:txBody>
      </p:sp>
      <p:sp>
        <p:nvSpPr>
          <p:cNvPr id="10" name="Text 7"/>
          <p:cNvSpPr/>
          <p:nvPr/>
        </p:nvSpPr>
        <p:spPr>
          <a:xfrm>
            <a:off x="548640" y="1097280"/>
            <a:ext cx="11064240" cy="365760"/>
          </a:xfrm>
          <a:prstGeom prst="rect">
            <a:avLst/>
          </a:prstGeom>
          <a:noFill/>
          <a:ln/>
        </p:spPr>
        <p:txBody>
          <a:bodyPr wrap="square" lIns="0" tIns="0" rIns="0" bIns="0" rtlCol="0" anchor="t"/>
          <a:lstStyle/>
          <a:p>
            <a:pPr algn="l" indent="0" marL="0">
              <a:buNone/>
            </a:pPr>
            <a:r>
              <a:rPr lang="en-US" sz="1300" dirty="0">
                <a:solidFill>
                  <a:srgbClr val="CFE0DA"/>
                </a:solidFill>
                <a:latin typeface="Calibri" pitchFamily="34" charset="0"/>
                <a:ea typeface="Calibri" pitchFamily="34" charset="-122"/>
                <a:cs typeface="Calibri" pitchFamily="34" charset="-120"/>
              </a:rPr>
              <a:t>Reserved for open-ended questions that no single lookup can answer.</a:t>
            </a:r>
            <a:endParaRPr lang="en-US" sz="1300" dirty="0"/>
          </a:p>
        </p:txBody>
      </p:sp>
      <p:sp>
        <p:nvSpPr>
          <p:cNvPr id="11" name="Shape 8"/>
          <p:cNvSpPr/>
          <p:nvPr/>
        </p:nvSpPr>
        <p:spPr>
          <a:xfrm>
            <a:off x="548640" y="1627632"/>
            <a:ext cx="6949440" cy="548640"/>
          </a:xfrm>
          <a:prstGeom prst="roundRect">
            <a:avLst>
              <a:gd name="adj" fmla="val 15000"/>
            </a:avLst>
          </a:prstGeom>
          <a:solidFill>
            <a:srgbClr val="0B2E27"/>
          </a:solidFill>
          <a:ln w="12700">
            <a:solidFill>
              <a:srgbClr val="1D4A3F"/>
            </a:solidFill>
            <a:prstDash val="solid"/>
          </a:ln>
        </p:spPr>
      </p:sp>
      <p:sp>
        <p:nvSpPr>
          <p:cNvPr id="12" name="Text 9"/>
          <p:cNvSpPr/>
          <p:nvPr/>
        </p:nvSpPr>
        <p:spPr>
          <a:xfrm>
            <a:off x="621792" y="1627632"/>
            <a:ext cx="6803136" cy="548640"/>
          </a:xfrm>
          <a:prstGeom prst="rect">
            <a:avLst/>
          </a:prstGeom>
          <a:noFill/>
          <a:ln/>
        </p:spPr>
        <p:txBody>
          <a:bodyPr wrap="square" lIns="635" tIns="635" rIns="635" bIns="635" rtlCol="0" anchor="ctr"/>
          <a:lstStyle/>
          <a:p>
            <a:pPr algn="l" indent="0" marL="0">
              <a:buNone/>
            </a:pPr>
            <a:r>
              <a:rPr lang="en-US" sz="1050" dirty="0">
                <a:solidFill>
                  <a:srgbClr val="E3CB9A"/>
                </a:solidFill>
                <a:latin typeface="Courier New" pitchFamily="34" charset="0"/>
                <a:ea typeface="Courier New" pitchFamily="34" charset="-122"/>
                <a:cs typeface="Courier New" pitchFamily="34" charset="-120"/>
              </a:rPr>
              <a:t>How should an organization build a complete AI governance program?</a:t>
            </a:r>
            <a:endParaRPr lang="en-US" sz="1050" dirty="0"/>
          </a:p>
        </p:txBody>
      </p:sp>
      <p:sp>
        <p:nvSpPr>
          <p:cNvPr id="13" name="Shape 10"/>
          <p:cNvSpPr/>
          <p:nvPr/>
        </p:nvSpPr>
        <p:spPr>
          <a:xfrm>
            <a:off x="822960" y="2697480"/>
            <a:ext cx="6766560" cy="2377440"/>
          </a:xfrm>
          <a:prstGeom prst="roundRect">
            <a:avLst>
              <a:gd name="adj" fmla="val 3462"/>
            </a:avLst>
          </a:prstGeom>
          <a:solidFill>
            <a:srgbClr val="0B2E27"/>
          </a:solidFill>
          <a:ln w="12700">
            <a:solidFill>
              <a:srgbClr val="1D4A3F"/>
            </a:solidFill>
            <a:prstDash val="solid"/>
          </a:ln>
        </p:spPr>
      </p:sp>
      <p:pic>
        <p:nvPicPr>
          <p:cNvPr id="14" name="Image 1" descr="/home/claude/evidenceops/icons/cpu_tealbr.png">    </p:cNvPr>
          <p:cNvPicPr>
            <a:picLocks noChangeAspect="1"/>
          </p:cNvPicPr>
          <p:nvPr/>
        </p:nvPicPr>
        <p:blipFill>
          <a:blip r:embed="rId2"/>
          <a:stretch>
            <a:fillRect/>
          </a:stretch>
        </p:blipFill>
        <p:spPr>
          <a:xfrm>
            <a:off x="1051560" y="2880360"/>
            <a:ext cx="292608" cy="292608"/>
          </a:xfrm>
          <a:prstGeom prst="rect">
            <a:avLst/>
          </a:prstGeom>
        </p:spPr>
      </p:pic>
      <p:sp>
        <p:nvSpPr>
          <p:cNvPr id="15" name="Text 11"/>
          <p:cNvSpPr/>
          <p:nvPr/>
        </p:nvSpPr>
        <p:spPr>
          <a:xfrm>
            <a:off x="1417320" y="2834640"/>
            <a:ext cx="2743200" cy="384048"/>
          </a:xfrm>
          <a:prstGeom prst="rect">
            <a:avLst/>
          </a:prstGeom>
          <a:noFill/>
          <a:ln/>
        </p:spPr>
        <p:txBody>
          <a:bodyPr wrap="square" lIns="0" tIns="0" rIns="0" bIns="0" rtlCol="0" anchor="ctr"/>
          <a:lstStyle/>
          <a:p>
            <a:pPr algn="l" indent="0" marL="0">
              <a:buNone/>
            </a:pPr>
            <a:r>
              <a:rPr lang="en-US" sz="1300" b="1" dirty="0">
                <a:solidFill>
                  <a:srgbClr val="F2F7F4"/>
                </a:solidFill>
                <a:latin typeface="Calibri" pitchFamily="34" charset="0"/>
                <a:ea typeface="Calibri" pitchFamily="34" charset="-122"/>
                <a:cs typeface="Calibri" pitchFamily="34" charset="-120"/>
              </a:rPr>
              <a:t>FunctionAgent</a:t>
            </a:r>
            <a:endParaRPr lang="en-US" sz="1300" dirty="0"/>
          </a:p>
        </p:txBody>
      </p:sp>
      <p:sp>
        <p:nvSpPr>
          <p:cNvPr id="16" name="Shape 12"/>
          <p:cNvSpPr/>
          <p:nvPr/>
        </p:nvSpPr>
        <p:spPr>
          <a:xfrm>
            <a:off x="1188720" y="3703320"/>
            <a:ext cx="1737360" cy="685800"/>
          </a:xfrm>
          <a:prstGeom prst="roundRect">
            <a:avLst>
              <a:gd name="adj" fmla="val 9333"/>
            </a:avLst>
          </a:prstGeom>
          <a:solidFill>
            <a:srgbClr val="2B776D"/>
          </a:solidFill>
          <a:ln w="12700">
            <a:solidFill>
              <a:srgbClr val="2B776D"/>
            </a:solidFill>
            <a:prstDash val="solid"/>
          </a:ln>
        </p:spPr>
      </p:sp>
      <p:sp>
        <p:nvSpPr>
          <p:cNvPr id="17" name="Text 13"/>
          <p:cNvSpPr/>
          <p:nvPr/>
        </p:nvSpPr>
        <p:spPr>
          <a:xfrm>
            <a:off x="1188720" y="3703320"/>
            <a:ext cx="1737360" cy="685800"/>
          </a:xfrm>
          <a:prstGeom prst="rect">
            <a:avLst/>
          </a:prstGeom>
          <a:noFill/>
          <a:ln/>
        </p:spPr>
        <p:txBody>
          <a:bodyPr wrap="square" lIns="381" tIns="381" rIns="381" bIns="381"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Plan</a:t>
            </a:r>
            <a:endParaRPr lang="en-US" sz="1200" dirty="0"/>
          </a:p>
        </p:txBody>
      </p:sp>
      <p:sp>
        <p:nvSpPr>
          <p:cNvPr id="18" name="Shape 14"/>
          <p:cNvSpPr/>
          <p:nvPr/>
        </p:nvSpPr>
        <p:spPr>
          <a:xfrm>
            <a:off x="2980944" y="4046220"/>
            <a:ext cx="548640" cy="0"/>
          </a:xfrm>
          <a:prstGeom prst="line">
            <a:avLst/>
          </a:prstGeom>
          <a:noFill/>
          <a:ln w="20320">
            <a:solidFill>
              <a:srgbClr val="6F8F85"/>
            </a:solidFill>
            <a:prstDash val="solid"/>
            <a:tailEnd type="triangle"/>
          </a:ln>
        </p:spPr>
      </p:sp>
      <p:sp>
        <p:nvSpPr>
          <p:cNvPr id="19" name="Shape 15"/>
          <p:cNvSpPr/>
          <p:nvPr/>
        </p:nvSpPr>
        <p:spPr>
          <a:xfrm>
            <a:off x="3584448" y="3703320"/>
            <a:ext cx="1737360" cy="685800"/>
          </a:xfrm>
          <a:prstGeom prst="roundRect">
            <a:avLst>
              <a:gd name="adj" fmla="val 9333"/>
            </a:avLst>
          </a:prstGeom>
          <a:solidFill>
            <a:srgbClr val="2B776D"/>
          </a:solidFill>
          <a:ln w="12700">
            <a:solidFill>
              <a:srgbClr val="2B776D"/>
            </a:solidFill>
            <a:prstDash val="solid"/>
          </a:ln>
        </p:spPr>
      </p:sp>
      <p:sp>
        <p:nvSpPr>
          <p:cNvPr id="20" name="Text 16"/>
          <p:cNvSpPr/>
          <p:nvPr/>
        </p:nvSpPr>
        <p:spPr>
          <a:xfrm>
            <a:off x="3584448" y="3703320"/>
            <a:ext cx="1737360" cy="685800"/>
          </a:xfrm>
          <a:prstGeom prst="rect">
            <a:avLst/>
          </a:prstGeom>
          <a:noFill/>
          <a:ln/>
        </p:spPr>
        <p:txBody>
          <a:bodyPr wrap="square" lIns="381" tIns="381" rIns="381" bIns="381"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Search</a:t>
            </a:r>
            <a:endParaRPr lang="en-US" sz="1200" dirty="0"/>
          </a:p>
        </p:txBody>
      </p:sp>
      <p:sp>
        <p:nvSpPr>
          <p:cNvPr id="21" name="Shape 17"/>
          <p:cNvSpPr/>
          <p:nvPr/>
        </p:nvSpPr>
        <p:spPr>
          <a:xfrm>
            <a:off x="5376672" y="4046220"/>
            <a:ext cx="548640" cy="0"/>
          </a:xfrm>
          <a:prstGeom prst="line">
            <a:avLst/>
          </a:prstGeom>
          <a:noFill/>
          <a:ln w="20320">
            <a:solidFill>
              <a:srgbClr val="6F8F85"/>
            </a:solidFill>
            <a:prstDash val="solid"/>
            <a:tailEnd type="triangle"/>
          </a:ln>
        </p:spPr>
      </p:sp>
      <p:sp>
        <p:nvSpPr>
          <p:cNvPr id="22" name="Shape 18"/>
          <p:cNvSpPr/>
          <p:nvPr/>
        </p:nvSpPr>
        <p:spPr>
          <a:xfrm>
            <a:off x="5980176" y="3703320"/>
            <a:ext cx="1280160" cy="685800"/>
          </a:xfrm>
          <a:prstGeom prst="roundRect">
            <a:avLst>
              <a:gd name="adj" fmla="val 9333"/>
            </a:avLst>
          </a:prstGeom>
          <a:solidFill>
            <a:srgbClr val="2B776D"/>
          </a:solidFill>
          <a:ln w="12700">
            <a:solidFill>
              <a:srgbClr val="2B776D"/>
            </a:solidFill>
            <a:prstDash val="solid"/>
          </a:ln>
        </p:spPr>
      </p:sp>
      <p:sp>
        <p:nvSpPr>
          <p:cNvPr id="23" name="Text 19"/>
          <p:cNvSpPr/>
          <p:nvPr/>
        </p:nvSpPr>
        <p:spPr>
          <a:xfrm>
            <a:off x="5980176" y="3703320"/>
            <a:ext cx="1280160" cy="685800"/>
          </a:xfrm>
          <a:prstGeom prst="rect">
            <a:avLst/>
          </a:prstGeom>
          <a:noFill/>
          <a:ln/>
        </p:spPr>
        <p:txBody>
          <a:bodyPr wrap="square" lIns="381" tIns="381" rIns="381" bIns="381" rtlCol="0" anchor="ctr"/>
          <a:lstStyle/>
          <a:p>
            <a:pPr algn="ctr" indent="0" marL="0">
              <a:buNone/>
            </a:pPr>
            <a:r>
              <a:rPr lang="en-US" sz="1200" dirty="0">
                <a:solidFill>
                  <a:srgbClr val="FFFFFF"/>
                </a:solidFill>
                <a:latin typeface="Calibri" pitchFamily="34" charset="0"/>
                <a:ea typeface="Calibri" pitchFamily="34" charset="-122"/>
                <a:cs typeface="Calibri" pitchFamily="34" charset="-120"/>
              </a:rPr>
              <a:t>Reason</a:t>
            </a:r>
            <a:endParaRPr lang="en-US" sz="1200" dirty="0"/>
          </a:p>
        </p:txBody>
      </p:sp>
      <p:sp>
        <p:nvSpPr>
          <p:cNvPr id="24" name="Shape 20"/>
          <p:cNvSpPr/>
          <p:nvPr/>
        </p:nvSpPr>
        <p:spPr>
          <a:xfrm flipH="1">
            <a:off x="2057400" y="4553712"/>
            <a:ext cx="4562856" cy="0"/>
          </a:xfrm>
          <a:prstGeom prst="line">
            <a:avLst/>
          </a:prstGeom>
          <a:noFill/>
          <a:ln w="16510">
            <a:solidFill>
              <a:srgbClr val="6F8F85"/>
            </a:solidFill>
            <a:prstDash val="dash"/>
            <a:tailEnd type="triangle"/>
          </a:ln>
        </p:spPr>
      </p:sp>
      <p:sp>
        <p:nvSpPr>
          <p:cNvPr id="25" name="Text 21"/>
          <p:cNvSpPr/>
          <p:nvPr/>
        </p:nvSpPr>
        <p:spPr>
          <a:xfrm>
            <a:off x="2377440" y="4590288"/>
            <a:ext cx="4206240" cy="256032"/>
          </a:xfrm>
          <a:prstGeom prst="rect">
            <a:avLst/>
          </a:prstGeom>
          <a:noFill/>
          <a:ln/>
        </p:spPr>
        <p:txBody>
          <a:bodyPr wrap="square" lIns="0" tIns="0" rIns="0" bIns="0" rtlCol="0" anchor="t"/>
          <a:lstStyle/>
          <a:p>
            <a:pPr algn="ctr" indent="0" marL="0">
              <a:buNone/>
            </a:pPr>
            <a:r>
              <a:rPr lang="en-US" sz="950" dirty="0">
                <a:solidFill>
                  <a:srgbClr val="9DB5AD"/>
                </a:solidFill>
                <a:latin typeface="Calibri" pitchFamily="34" charset="0"/>
                <a:ea typeface="Calibri" pitchFamily="34" charset="-122"/>
                <a:cs typeface="Calibri" pitchFamily="34" charset="-120"/>
              </a:rPr>
              <a:t>until the evidence is sufficient</a:t>
            </a:r>
            <a:endParaRPr lang="en-US" sz="950" dirty="0"/>
          </a:p>
        </p:txBody>
      </p:sp>
      <p:sp>
        <p:nvSpPr>
          <p:cNvPr id="26" name="Shape 22"/>
          <p:cNvSpPr/>
          <p:nvPr/>
        </p:nvSpPr>
        <p:spPr>
          <a:xfrm>
            <a:off x="7635240" y="3886200"/>
            <a:ext cx="731520" cy="0"/>
          </a:xfrm>
          <a:prstGeom prst="line">
            <a:avLst/>
          </a:prstGeom>
          <a:noFill/>
          <a:ln w="25400">
            <a:solidFill>
              <a:srgbClr val="4FB39E"/>
            </a:solidFill>
            <a:prstDash val="solid"/>
            <a:tailEnd type="triangle"/>
          </a:ln>
        </p:spPr>
      </p:sp>
      <p:sp>
        <p:nvSpPr>
          <p:cNvPr id="27" name="Shape 23"/>
          <p:cNvSpPr/>
          <p:nvPr/>
        </p:nvSpPr>
        <p:spPr>
          <a:xfrm>
            <a:off x="8458200" y="3520440"/>
            <a:ext cx="3063240" cy="777240"/>
          </a:xfrm>
          <a:prstGeom prst="roundRect">
            <a:avLst>
              <a:gd name="adj" fmla="val 8235"/>
            </a:avLst>
          </a:prstGeom>
          <a:solidFill>
            <a:srgbClr val="4FB39E"/>
          </a:solidFill>
          <a:ln w="12700">
            <a:solidFill>
              <a:srgbClr val="4FB39E"/>
            </a:solidFill>
            <a:prstDash val="solid"/>
          </a:ln>
        </p:spPr>
      </p:sp>
      <p:sp>
        <p:nvSpPr>
          <p:cNvPr id="28" name="Text 24"/>
          <p:cNvSpPr/>
          <p:nvPr/>
        </p:nvSpPr>
        <p:spPr>
          <a:xfrm>
            <a:off x="8458200" y="3520440"/>
            <a:ext cx="3063240" cy="777240"/>
          </a:xfrm>
          <a:prstGeom prst="rect">
            <a:avLst/>
          </a:prstGeom>
          <a:noFill/>
          <a:ln/>
        </p:spPr>
        <p:txBody>
          <a:bodyPr wrap="square" lIns="381" tIns="381" rIns="381" bIns="381" rtlCol="0" anchor="ctr"/>
          <a:lstStyle/>
          <a:p>
            <a:pPr algn="ctr" indent="0" marL="0">
              <a:buNone/>
            </a:pPr>
            <a:r>
              <a:rPr lang="en-US" sz="1250" b="1" dirty="0">
                <a:solidFill>
                  <a:srgbClr val="06211B"/>
                </a:solidFill>
                <a:latin typeface="Calibri" pitchFamily="34" charset="0"/>
                <a:ea typeface="Calibri" pitchFamily="34" charset="-122"/>
                <a:cs typeface="Calibri" pitchFamily="34" charset="-120"/>
              </a:rPr>
              <a:t>Synthesized report draft</a:t>
            </a:r>
            <a:endParaRPr lang="en-US" sz="1250" dirty="0"/>
          </a:p>
        </p:txBody>
      </p:sp>
      <p:sp>
        <p:nvSpPr>
          <p:cNvPr id="29" name="Text 25"/>
          <p:cNvSpPr/>
          <p:nvPr/>
        </p:nvSpPr>
        <p:spPr>
          <a:xfrm>
            <a:off x="7863840" y="2697480"/>
            <a:ext cx="3749040" cy="777240"/>
          </a:xfrm>
          <a:prstGeom prst="rect">
            <a:avLst/>
          </a:prstGeom>
          <a:noFill/>
          <a:ln/>
        </p:spPr>
        <p:txBody>
          <a:bodyPr wrap="square" lIns="0" tIns="0" rIns="0" bIns="0" rtlCol="0" anchor="t"/>
          <a:lstStyle/>
          <a:p>
            <a:pPr algn="l" indent="0" marL="0">
              <a:buNone/>
            </a:pPr>
            <a:r>
              <a:rPr lang="en-US" sz="1050" dirty="0">
                <a:solidFill>
                  <a:srgbClr val="9DB5AD"/>
                </a:solidFill>
                <a:latin typeface="Calibri" pitchFamily="34" charset="0"/>
                <a:ea typeface="Calibri" pitchFamily="34" charset="-122"/>
                <a:cs typeface="Calibri" pitchFamily="34" charset="-120"/>
              </a:rPr>
              <a:t>Full toolset, multi-step retrieval, its own reasoning budget. Nothing was removed from this path; it just stopped being the entry point.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The routing decision, in order</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Same question, same path, every time: routing is fully deterministic.</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12</a:t>
            </a:r>
            <a:endParaRPr lang="en-US" sz="850" dirty="0"/>
          </a:p>
        </p:txBody>
      </p:sp>
      <p:sp>
        <p:nvSpPr>
          <p:cNvPr id="10" name="Shape 7"/>
          <p:cNvSpPr/>
          <p:nvPr/>
        </p:nvSpPr>
        <p:spPr>
          <a:xfrm>
            <a:off x="822960" y="1207008"/>
            <a:ext cx="2651760" cy="777240"/>
          </a:xfrm>
          <a:prstGeom prst="diamond">
            <a:avLst/>
          </a:prstGeom>
          <a:solidFill>
            <a:srgbClr val="C29C55"/>
          </a:solidFill>
          <a:ln w="12700">
            <a:solidFill>
              <a:srgbClr val="C29C55"/>
            </a:solidFill>
            <a:prstDash val="solid"/>
          </a:ln>
        </p:spPr>
      </p:sp>
      <p:sp>
        <p:nvSpPr>
          <p:cNvPr id="11" name="Text 8"/>
          <p:cNvSpPr/>
          <p:nvPr/>
        </p:nvSpPr>
        <p:spPr>
          <a:xfrm>
            <a:off x="685800" y="1207008"/>
            <a:ext cx="2926080" cy="777240"/>
          </a:xfrm>
          <a:prstGeom prst="rect">
            <a:avLst/>
          </a:prstGeom>
          <a:noFill/>
          <a:ln/>
        </p:spPr>
        <p:txBody>
          <a:bodyPr wrap="square" lIns="0" tIns="0" rIns="0" bIns="0" rtlCol="0" anchor="ctr"/>
          <a:lstStyle/>
          <a:p>
            <a:pPr algn="ctr" indent="0" marL="0">
              <a:buNone/>
            </a:pPr>
            <a:r>
              <a:rPr lang="en-US" sz="950" b="1" dirty="0">
                <a:solidFill>
                  <a:srgbClr val="06211B"/>
                </a:solidFill>
                <a:latin typeface="Calibri" pitchFamily="34" charset="0"/>
                <a:ea typeface="Calibri" pitchFamily="34" charset="-122"/>
                <a:cs typeface="Calibri" pitchFamily="34" charset="-120"/>
              </a:rPr>
              <a:t>Identity marker?</a:t>
            </a:r>
            <a:endParaRPr lang="en-US" sz="950" dirty="0"/>
          </a:p>
        </p:txBody>
      </p:sp>
      <p:sp>
        <p:nvSpPr>
          <p:cNvPr id="12" name="Shape 9"/>
          <p:cNvSpPr/>
          <p:nvPr/>
        </p:nvSpPr>
        <p:spPr>
          <a:xfrm>
            <a:off x="3520440" y="1595628"/>
            <a:ext cx="1600200" cy="0"/>
          </a:xfrm>
          <a:prstGeom prst="line">
            <a:avLst/>
          </a:prstGeom>
          <a:noFill/>
          <a:ln w="20320">
            <a:solidFill>
              <a:srgbClr val="4FB39E"/>
            </a:solidFill>
            <a:prstDash val="solid"/>
            <a:tailEnd type="triangle"/>
          </a:ln>
        </p:spPr>
      </p:sp>
      <p:sp>
        <p:nvSpPr>
          <p:cNvPr id="13" name="Text 10"/>
          <p:cNvSpPr/>
          <p:nvPr/>
        </p:nvSpPr>
        <p:spPr>
          <a:xfrm>
            <a:off x="3977640" y="1284732"/>
            <a:ext cx="640080" cy="237744"/>
          </a:xfrm>
          <a:prstGeom prst="rect">
            <a:avLst/>
          </a:prstGeom>
          <a:noFill/>
          <a:ln/>
        </p:spPr>
        <p:txBody>
          <a:bodyPr wrap="square" lIns="0" tIns="0" rIns="0" bIns="0" rtlCol="0" anchor="ctr"/>
          <a:lstStyle/>
          <a:p>
            <a:pPr algn="ctr" indent="0" marL="0">
              <a:buNone/>
            </a:pPr>
            <a:r>
              <a:rPr lang="en-US" sz="900" dirty="0">
                <a:solidFill>
                  <a:srgbClr val="9DB5AD"/>
                </a:solidFill>
                <a:latin typeface="Calibri" pitchFamily="34" charset="0"/>
                <a:ea typeface="Calibri" pitchFamily="34" charset="-122"/>
                <a:cs typeface="Calibri" pitchFamily="34" charset="-120"/>
              </a:rPr>
              <a:t>yes</a:t>
            </a:r>
            <a:endParaRPr lang="en-US" sz="900" dirty="0"/>
          </a:p>
        </p:txBody>
      </p:sp>
      <p:sp>
        <p:nvSpPr>
          <p:cNvPr id="14" name="Shape 11"/>
          <p:cNvSpPr/>
          <p:nvPr/>
        </p:nvSpPr>
        <p:spPr>
          <a:xfrm>
            <a:off x="5166360" y="1284732"/>
            <a:ext cx="2606040" cy="621792"/>
          </a:xfrm>
          <a:prstGeom prst="roundRect">
            <a:avLst>
              <a:gd name="adj" fmla="val 10294"/>
            </a:avLst>
          </a:prstGeom>
          <a:solidFill>
            <a:srgbClr val="4FB39E"/>
          </a:solidFill>
          <a:ln w="12700">
            <a:solidFill>
              <a:srgbClr val="4FB39E"/>
            </a:solidFill>
            <a:prstDash val="solid"/>
          </a:ln>
        </p:spPr>
      </p:sp>
      <p:sp>
        <p:nvSpPr>
          <p:cNvPr id="15" name="Text 12"/>
          <p:cNvSpPr/>
          <p:nvPr/>
        </p:nvSpPr>
        <p:spPr>
          <a:xfrm>
            <a:off x="5166360" y="1284732"/>
            <a:ext cx="2606040" cy="621792"/>
          </a:xfrm>
          <a:prstGeom prst="rect">
            <a:avLst/>
          </a:prstGeom>
          <a:noFill/>
          <a:ln/>
        </p:spPr>
        <p:txBody>
          <a:bodyPr wrap="square" lIns="381" tIns="381" rIns="381" bIns="381" rtlCol="0" anchor="ctr"/>
          <a:lstStyle/>
          <a:p>
            <a:pPr algn="ctr" indent="0" marL="0">
              <a:buNone/>
            </a:pPr>
            <a:r>
              <a:rPr lang="en-US" sz="1150" b="1" dirty="0">
                <a:solidFill>
                  <a:srgbClr val="06211B"/>
                </a:solidFill>
                <a:latin typeface="Calibri" pitchFamily="34" charset="0"/>
                <a:ea typeface="Calibri" pitchFamily="34" charset="-122"/>
                <a:cs typeface="Calibri" pitchFamily="34" charset="-120"/>
              </a:rPr>
              <a:t>Identity route</a:t>
            </a:r>
            <a:endParaRPr lang="en-US" sz="1150" dirty="0"/>
          </a:p>
        </p:txBody>
      </p:sp>
      <p:sp>
        <p:nvSpPr>
          <p:cNvPr id="16" name="Shape 13"/>
          <p:cNvSpPr/>
          <p:nvPr/>
        </p:nvSpPr>
        <p:spPr>
          <a:xfrm>
            <a:off x="2148840" y="2002536"/>
            <a:ext cx="0" cy="164592"/>
          </a:xfrm>
          <a:prstGeom prst="line">
            <a:avLst/>
          </a:prstGeom>
          <a:noFill/>
          <a:ln w="19050">
            <a:solidFill>
              <a:srgbClr val="6F8F85"/>
            </a:solidFill>
            <a:prstDash val="solid"/>
            <a:tailEnd type="triangle"/>
          </a:ln>
        </p:spPr>
      </p:sp>
      <p:sp>
        <p:nvSpPr>
          <p:cNvPr id="17" name="Text 14"/>
          <p:cNvSpPr/>
          <p:nvPr/>
        </p:nvSpPr>
        <p:spPr>
          <a:xfrm>
            <a:off x="2240280" y="1947672"/>
            <a:ext cx="457200" cy="237744"/>
          </a:xfrm>
          <a:prstGeom prst="rect">
            <a:avLst/>
          </a:prstGeom>
          <a:noFill/>
          <a:ln/>
        </p:spPr>
        <p:txBody>
          <a:bodyPr wrap="square" lIns="0" tIns="0" rIns="0" bIns="0" rtlCol="0" anchor="ctr"/>
          <a:lstStyle/>
          <a:p>
            <a:pPr algn="l" indent="0" marL="0">
              <a:buNone/>
            </a:pPr>
            <a:r>
              <a:rPr lang="en-US" sz="900" dirty="0">
                <a:solidFill>
                  <a:srgbClr val="9DB5AD"/>
                </a:solidFill>
                <a:latin typeface="Calibri" pitchFamily="34" charset="0"/>
                <a:ea typeface="Calibri" pitchFamily="34" charset="-122"/>
                <a:cs typeface="Calibri" pitchFamily="34" charset="-120"/>
              </a:rPr>
              <a:t>no</a:t>
            </a:r>
            <a:endParaRPr lang="en-US" sz="900" dirty="0"/>
          </a:p>
        </p:txBody>
      </p:sp>
      <p:sp>
        <p:nvSpPr>
          <p:cNvPr id="18" name="Shape 15"/>
          <p:cNvSpPr/>
          <p:nvPr/>
        </p:nvSpPr>
        <p:spPr>
          <a:xfrm>
            <a:off x="822960" y="2185416"/>
            <a:ext cx="2651760" cy="777240"/>
          </a:xfrm>
          <a:prstGeom prst="diamond">
            <a:avLst/>
          </a:prstGeom>
          <a:solidFill>
            <a:srgbClr val="06211B"/>
          </a:solidFill>
          <a:ln w="13970">
            <a:solidFill>
              <a:srgbClr val="C29C55"/>
            </a:solidFill>
            <a:prstDash val="dash"/>
          </a:ln>
        </p:spPr>
      </p:sp>
      <p:sp>
        <p:nvSpPr>
          <p:cNvPr id="19" name="Text 16"/>
          <p:cNvSpPr/>
          <p:nvPr/>
        </p:nvSpPr>
        <p:spPr>
          <a:xfrm>
            <a:off x="685800" y="2185416"/>
            <a:ext cx="2926080" cy="777240"/>
          </a:xfrm>
          <a:prstGeom prst="rect">
            <a:avLst/>
          </a:prstGeom>
          <a:noFill/>
          <a:ln/>
        </p:spPr>
        <p:txBody>
          <a:bodyPr wrap="square" lIns="0" tIns="0" rIns="0" bIns="0" rtlCol="0" anchor="ctr"/>
          <a:lstStyle/>
          <a:p>
            <a:pPr algn="ctr" indent="0" marL="0">
              <a:buNone/>
            </a:pPr>
            <a:r>
              <a:rPr lang="en-US" sz="950" b="1" dirty="0">
                <a:solidFill>
                  <a:srgbClr val="E3CB9A"/>
                </a:solidFill>
                <a:latin typeface="Calibri" pitchFamily="34" charset="0"/>
                <a:ea typeface="Calibri" pitchFamily="34" charset="-122"/>
                <a:cs typeface="Calibri" pitchFamily="34" charset="-120"/>
              </a:rPr>
              <a:t>Capabilities question?</a:t>
            </a:r>
            <a:endParaRPr lang="en-US" sz="950" dirty="0"/>
          </a:p>
        </p:txBody>
      </p:sp>
      <p:sp>
        <p:nvSpPr>
          <p:cNvPr id="20" name="Shape 17"/>
          <p:cNvSpPr/>
          <p:nvPr/>
        </p:nvSpPr>
        <p:spPr>
          <a:xfrm>
            <a:off x="3520440" y="2574036"/>
            <a:ext cx="1600200" cy="0"/>
          </a:xfrm>
          <a:prstGeom prst="line">
            <a:avLst/>
          </a:prstGeom>
          <a:noFill/>
          <a:ln w="20320">
            <a:solidFill>
              <a:srgbClr val="C29C55"/>
            </a:solidFill>
            <a:prstDash val="dash"/>
            <a:tailEnd type="triangle"/>
          </a:ln>
        </p:spPr>
      </p:sp>
      <p:sp>
        <p:nvSpPr>
          <p:cNvPr id="21" name="Text 18"/>
          <p:cNvSpPr/>
          <p:nvPr/>
        </p:nvSpPr>
        <p:spPr>
          <a:xfrm>
            <a:off x="3977640" y="2263140"/>
            <a:ext cx="640080" cy="237744"/>
          </a:xfrm>
          <a:prstGeom prst="rect">
            <a:avLst/>
          </a:prstGeom>
          <a:noFill/>
          <a:ln/>
        </p:spPr>
        <p:txBody>
          <a:bodyPr wrap="square" lIns="0" tIns="0" rIns="0" bIns="0" rtlCol="0" anchor="ctr"/>
          <a:lstStyle/>
          <a:p>
            <a:pPr algn="ctr" indent="0" marL="0">
              <a:buNone/>
            </a:pPr>
            <a:r>
              <a:rPr lang="en-US" sz="900" dirty="0">
                <a:solidFill>
                  <a:srgbClr val="9DB5AD"/>
                </a:solidFill>
                <a:latin typeface="Calibri" pitchFamily="34" charset="0"/>
                <a:ea typeface="Calibri" pitchFamily="34" charset="-122"/>
                <a:cs typeface="Calibri" pitchFamily="34" charset="-120"/>
              </a:rPr>
              <a:t>yes</a:t>
            </a:r>
            <a:endParaRPr lang="en-US" sz="900" dirty="0"/>
          </a:p>
        </p:txBody>
      </p:sp>
      <p:sp>
        <p:nvSpPr>
          <p:cNvPr id="22" name="Shape 19"/>
          <p:cNvSpPr/>
          <p:nvPr/>
        </p:nvSpPr>
        <p:spPr>
          <a:xfrm>
            <a:off x="5166360" y="2263140"/>
            <a:ext cx="2606040" cy="621792"/>
          </a:xfrm>
          <a:prstGeom prst="roundRect">
            <a:avLst>
              <a:gd name="adj" fmla="val 10294"/>
            </a:avLst>
          </a:prstGeom>
          <a:solidFill>
            <a:srgbClr val="06211B"/>
          </a:solidFill>
          <a:ln w="13970">
            <a:solidFill>
              <a:srgbClr val="9DB5AD"/>
            </a:solidFill>
            <a:prstDash val="dash"/>
          </a:ln>
        </p:spPr>
      </p:sp>
      <p:sp>
        <p:nvSpPr>
          <p:cNvPr id="23" name="Text 20"/>
          <p:cNvSpPr/>
          <p:nvPr/>
        </p:nvSpPr>
        <p:spPr>
          <a:xfrm>
            <a:off x="5166360" y="2263140"/>
            <a:ext cx="2606040" cy="621792"/>
          </a:xfrm>
          <a:prstGeom prst="rect">
            <a:avLst/>
          </a:prstGeom>
          <a:noFill/>
          <a:ln/>
        </p:spPr>
        <p:txBody>
          <a:bodyPr wrap="square" lIns="381" tIns="381" rIns="381" bIns="381" rtlCol="0" anchor="ctr"/>
          <a:lstStyle/>
          <a:p>
            <a:pPr algn="ctr" indent="0" marL="0">
              <a:buNone/>
            </a:pPr>
            <a:r>
              <a:rPr lang="en-US" sz="1150" dirty="0">
                <a:solidFill>
                  <a:srgbClr val="9DB5AD"/>
                </a:solidFill>
                <a:latin typeface="Calibri" pitchFamily="34" charset="0"/>
                <a:ea typeface="Calibri" pitchFamily="34" charset="-122"/>
                <a:cs typeface="Calibri" pitchFamily="34" charset="-120"/>
              </a:rPr>
              <a:t>Capabilities route</a:t>
            </a:r>
            <a:endParaRPr lang="en-US" sz="1150" dirty="0"/>
          </a:p>
        </p:txBody>
      </p:sp>
      <p:sp>
        <p:nvSpPr>
          <p:cNvPr id="24" name="Shape 21"/>
          <p:cNvSpPr/>
          <p:nvPr/>
        </p:nvSpPr>
        <p:spPr>
          <a:xfrm>
            <a:off x="2148840" y="2980944"/>
            <a:ext cx="0" cy="164592"/>
          </a:xfrm>
          <a:prstGeom prst="line">
            <a:avLst/>
          </a:prstGeom>
          <a:noFill/>
          <a:ln w="19050">
            <a:solidFill>
              <a:srgbClr val="6F8F85"/>
            </a:solidFill>
            <a:prstDash val="solid"/>
            <a:tailEnd type="triangle"/>
          </a:ln>
        </p:spPr>
      </p:sp>
      <p:sp>
        <p:nvSpPr>
          <p:cNvPr id="25" name="Text 22"/>
          <p:cNvSpPr/>
          <p:nvPr/>
        </p:nvSpPr>
        <p:spPr>
          <a:xfrm>
            <a:off x="2240280" y="2926080"/>
            <a:ext cx="457200" cy="237744"/>
          </a:xfrm>
          <a:prstGeom prst="rect">
            <a:avLst/>
          </a:prstGeom>
          <a:noFill/>
          <a:ln/>
        </p:spPr>
        <p:txBody>
          <a:bodyPr wrap="square" lIns="0" tIns="0" rIns="0" bIns="0" rtlCol="0" anchor="ctr"/>
          <a:lstStyle/>
          <a:p>
            <a:pPr algn="l" indent="0" marL="0">
              <a:buNone/>
            </a:pPr>
            <a:r>
              <a:rPr lang="en-US" sz="900" dirty="0">
                <a:solidFill>
                  <a:srgbClr val="9DB5AD"/>
                </a:solidFill>
                <a:latin typeface="Calibri" pitchFamily="34" charset="0"/>
                <a:ea typeface="Calibri" pitchFamily="34" charset="-122"/>
                <a:cs typeface="Calibri" pitchFamily="34" charset="-120"/>
              </a:rPr>
              <a:t>no</a:t>
            </a:r>
            <a:endParaRPr lang="en-US" sz="900" dirty="0"/>
          </a:p>
        </p:txBody>
      </p:sp>
      <p:sp>
        <p:nvSpPr>
          <p:cNvPr id="26" name="Shape 23"/>
          <p:cNvSpPr/>
          <p:nvPr/>
        </p:nvSpPr>
        <p:spPr>
          <a:xfrm>
            <a:off x="822960" y="3163824"/>
            <a:ext cx="2651760" cy="777240"/>
          </a:xfrm>
          <a:prstGeom prst="diamond">
            <a:avLst/>
          </a:prstGeom>
          <a:solidFill>
            <a:srgbClr val="C29C55"/>
          </a:solidFill>
          <a:ln w="12700">
            <a:solidFill>
              <a:srgbClr val="C29C55"/>
            </a:solidFill>
            <a:prstDash val="solid"/>
          </a:ln>
        </p:spPr>
      </p:sp>
      <p:sp>
        <p:nvSpPr>
          <p:cNvPr id="27" name="Text 24"/>
          <p:cNvSpPr/>
          <p:nvPr/>
        </p:nvSpPr>
        <p:spPr>
          <a:xfrm>
            <a:off x="685800" y="3163824"/>
            <a:ext cx="2926080" cy="777240"/>
          </a:xfrm>
          <a:prstGeom prst="rect">
            <a:avLst/>
          </a:prstGeom>
          <a:noFill/>
          <a:ln/>
        </p:spPr>
        <p:txBody>
          <a:bodyPr wrap="square" lIns="0" tIns="0" rIns="0" bIns="0" rtlCol="0" anchor="ctr"/>
          <a:lstStyle/>
          <a:p>
            <a:pPr algn="ctr" indent="0" marL="0">
              <a:buNone/>
            </a:pPr>
            <a:r>
              <a:rPr lang="en-US" sz="950" b="1" dirty="0">
                <a:solidFill>
                  <a:srgbClr val="06211B"/>
                </a:solidFill>
                <a:latin typeface="Calibri" pitchFamily="34" charset="0"/>
                <a:ea typeface="Calibri" pitchFamily="34" charset="-122"/>
                <a:cs typeface="Calibri" pitchFamily="34" charset="-120"/>
              </a:rPr>
              <a:t>Comparison + 2 frameworks?</a:t>
            </a:r>
            <a:endParaRPr lang="en-US" sz="950" dirty="0"/>
          </a:p>
        </p:txBody>
      </p:sp>
      <p:sp>
        <p:nvSpPr>
          <p:cNvPr id="28" name="Shape 25"/>
          <p:cNvSpPr/>
          <p:nvPr/>
        </p:nvSpPr>
        <p:spPr>
          <a:xfrm>
            <a:off x="3520440" y="3552444"/>
            <a:ext cx="1600200" cy="0"/>
          </a:xfrm>
          <a:prstGeom prst="line">
            <a:avLst/>
          </a:prstGeom>
          <a:noFill/>
          <a:ln w="20320">
            <a:solidFill>
              <a:srgbClr val="4FB39E"/>
            </a:solidFill>
            <a:prstDash val="solid"/>
            <a:tailEnd type="triangle"/>
          </a:ln>
        </p:spPr>
      </p:sp>
      <p:sp>
        <p:nvSpPr>
          <p:cNvPr id="29" name="Text 26"/>
          <p:cNvSpPr/>
          <p:nvPr/>
        </p:nvSpPr>
        <p:spPr>
          <a:xfrm>
            <a:off x="3977640" y="3241548"/>
            <a:ext cx="640080" cy="237744"/>
          </a:xfrm>
          <a:prstGeom prst="rect">
            <a:avLst/>
          </a:prstGeom>
          <a:noFill/>
          <a:ln/>
        </p:spPr>
        <p:txBody>
          <a:bodyPr wrap="square" lIns="0" tIns="0" rIns="0" bIns="0" rtlCol="0" anchor="ctr"/>
          <a:lstStyle/>
          <a:p>
            <a:pPr algn="ctr" indent="0" marL="0">
              <a:buNone/>
            </a:pPr>
            <a:r>
              <a:rPr lang="en-US" sz="900" dirty="0">
                <a:solidFill>
                  <a:srgbClr val="9DB5AD"/>
                </a:solidFill>
                <a:latin typeface="Calibri" pitchFamily="34" charset="0"/>
                <a:ea typeface="Calibri" pitchFamily="34" charset="-122"/>
                <a:cs typeface="Calibri" pitchFamily="34" charset="-120"/>
              </a:rPr>
              <a:t>yes</a:t>
            </a:r>
            <a:endParaRPr lang="en-US" sz="900" dirty="0"/>
          </a:p>
        </p:txBody>
      </p:sp>
      <p:sp>
        <p:nvSpPr>
          <p:cNvPr id="30" name="Shape 27"/>
          <p:cNvSpPr/>
          <p:nvPr/>
        </p:nvSpPr>
        <p:spPr>
          <a:xfrm>
            <a:off x="5166360" y="3241548"/>
            <a:ext cx="2606040" cy="621792"/>
          </a:xfrm>
          <a:prstGeom prst="roundRect">
            <a:avLst>
              <a:gd name="adj" fmla="val 10294"/>
            </a:avLst>
          </a:prstGeom>
          <a:solidFill>
            <a:srgbClr val="4FB39E"/>
          </a:solidFill>
          <a:ln w="12700">
            <a:solidFill>
              <a:srgbClr val="4FB39E"/>
            </a:solidFill>
            <a:prstDash val="solid"/>
          </a:ln>
        </p:spPr>
      </p:sp>
      <p:sp>
        <p:nvSpPr>
          <p:cNvPr id="31" name="Text 28"/>
          <p:cNvSpPr/>
          <p:nvPr/>
        </p:nvSpPr>
        <p:spPr>
          <a:xfrm>
            <a:off x="5166360" y="3241548"/>
            <a:ext cx="2606040" cy="621792"/>
          </a:xfrm>
          <a:prstGeom prst="rect">
            <a:avLst/>
          </a:prstGeom>
          <a:noFill/>
          <a:ln/>
        </p:spPr>
        <p:txBody>
          <a:bodyPr wrap="square" lIns="381" tIns="381" rIns="381" bIns="381" rtlCol="0" anchor="ctr"/>
          <a:lstStyle/>
          <a:p>
            <a:pPr algn="ctr" indent="0" marL="0">
              <a:buNone/>
            </a:pPr>
            <a:r>
              <a:rPr lang="en-US" sz="1150" b="1" dirty="0">
                <a:solidFill>
                  <a:srgbClr val="06211B"/>
                </a:solidFill>
                <a:latin typeface="Calibri" pitchFamily="34" charset="0"/>
                <a:ea typeface="Calibri" pitchFamily="34" charset="-122"/>
                <a:cs typeface="Calibri" pitchFamily="34" charset="-120"/>
              </a:rPr>
              <a:t>Parallel route</a:t>
            </a:r>
            <a:endParaRPr lang="en-US" sz="1150" dirty="0"/>
          </a:p>
        </p:txBody>
      </p:sp>
      <p:sp>
        <p:nvSpPr>
          <p:cNvPr id="32" name="Shape 29"/>
          <p:cNvSpPr/>
          <p:nvPr/>
        </p:nvSpPr>
        <p:spPr>
          <a:xfrm>
            <a:off x="2148840" y="3959352"/>
            <a:ext cx="0" cy="164592"/>
          </a:xfrm>
          <a:prstGeom prst="line">
            <a:avLst/>
          </a:prstGeom>
          <a:noFill/>
          <a:ln w="19050">
            <a:solidFill>
              <a:srgbClr val="6F8F85"/>
            </a:solidFill>
            <a:prstDash val="solid"/>
            <a:tailEnd type="triangle"/>
          </a:ln>
        </p:spPr>
      </p:sp>
      <p:sp>
        <p:nvSpPr>
          <p:cNvPr id="33" name="Text 30"/>
          <p:cNvSpPr/>
          <p:nvPr/>
        </p:nvSpPr>
        <p:spPr>
          <a:xfrm>
            <a:off x="2240280" y="3904488"/>
            <a:ext cx="457200" cy="237744"/>
          </a:xfrm>
          <a:prstGeom prst="rect">
            <a:avLst/>
          </a:prstGeom>
          <a:noFill/>
          <a:ln/>
        </p:spPr>
        <p:txBody>
          <a:bodyPr wrap="square" lIns="0" tIns="0" rIns="0" bIns="0" rtlCol="0" anchor="ctr"/>
          <a:lstStyle/>
          <a:p>
            <a:pPr algn="l" indent="0" marL="0">
              <a:buNone/>
            </a:pPr>
            <a:r>
              <a:rPr lang="en-US" sz="900" dirty="0">
                <a:solidFill>
                  <a:srgbClr val="9DB5AD"/>
                </a:solidFill>
                <a:latin typeface="Calibri" pitchFamily="34" charset="0"/>
                <a:ea typeface="Calibri" pitchFamily="34" charset="-122"/>
                <a:cs typeface="Calibri" pitchFamily="34" charset="-120"/>
              </a:rPr>
              <a:t>no</a:t>
            </a:r>
            <a:endParaRPr lang="en-US" sz="900" dirty="0"/>
          </a:p>
        </p:txBody>
      </p:sp>
      <p:sp>
        <p:nvSpPr>
          <p:cNvPr id="34" name="Shape 31"/>
          <p:cNvSpPr/>
          <p:nvPr/>
        </p:nvSpPr>
        <p:spPr>
          <a:xfrm>
            <a:off x="822960" y="4142232"/>
            <a:ext cx="2651760" cy="777240"/>
          </a:xfrm>
          <a:prstGeom prst="diamond">
            <a:avLst/>
          </a:prstGeom>
          <a:solidFill>
            <a:srgbClr val="C29C55"/>
          </a:solidFill>
          <a:ln w="12700">
            <a:solidFill>
              <a:srgbClr val="C29C55"/>
            </a:solidFill>
            <a:prstDash val="solid"/>
          </a:ln>
        </p:spPr>
      </p:sp>
      <p:sp>
        <p:nvSpPr>
          <p:cNvPr id="35" name="Text 32"/>
          <p:cNvSpPr/>
          <p:nvPr/>
        </p:nvSpPr>
        <p:spPr>
          <a:xfrm>
            <a:off x="685800" y="4142232"/>
            <a:ext cx="2926080" cy="777240"/>
          </a:xfrm>
          <a:prstGeom prst="rect">
            <a:avLst/>
          </a:prstGeom>
          <a:noFill/>
          <a:ln/>
        </p:spPr>
        <p:txBody>
          <a:bodyPr wrap="square" lIns="0" tIns="0" rIns="0" bIns="0" rtlCol="0" anchor="ctr"/>
          <a:lstStyle/>
          <a:p>
            <a:pPr algn="ctr" indent="0" marL="0">
              <a:buNone/>
            </a:pPr>
            <a:r>
              <a:rPr lang="en-US" sz="950" b="1" dirty="0">
                <a:solidFill>
                  <a:srgbClr val="06211B"/>
                </a:solidFill>
                <a:latin typeface="Calibri" pitchFamily="34" charset="0"/>
                <a:ea typeface="Calibri" pitchFamily="34" charset="-122"/>
                <a:cs typeface="Calibri" pitchFamily="34" charset="-120"/>
              </a:rPr>
              <a:t>One known framework?</a:t>
            </a:r>
            <a:endParaRPr lang="en-US" sz="950" dirty="0"/>
          </a:p>
        </p:txBody>
      </p:sp>
      <p:sp>
        <p:nvSpPr>
          <p:cNvPr id="36" name="Shape 33"/>
          <p:cNvSpPr/>
          <p:nvPr/>
        </p:nvSpPr>
        <p:spPr>
          <a:xfrm>
            <a:off x="3520440" y="4530852"/>
            <a:ext cx="1600200" cy="0"/>
          </a:xfrm>
          <a:prstGeom prst="line">
            <a:avLst/>
          </a:prstGeom>
          <a:noFill/>
          <a:ln w="20320">
            <a:solidFill>
              <a:srgbClr val="4FB39E"/>
            </a:solidFill>
            <a:prstDash val="solid"/>
            <a:tailEnd type="triangle"/>
          </a:ln>
        </p:spPr>
      </p:sp>
      <p:sp>
        <p:nvSpPr>
          <p:cNvPr id="37" name="Text 34"/>
          <p:cNvSpPr/>
          <p:nvPr/>
        </p:nvSpPr>
        <p:spPr>
          <a:xfrm>
            <a:off x="3977640" y="4219956"/>
            <a:ext cx="640080" cy="237744"/>
          </a:xfrm>
          <a:prstGeom prst="rect">
            <a:avLst/>
          </a:prstGeom>
          <a:noFill/>
          <a:ln/>
        </p:spPr>
        <p:txBody>
          <a:bodyPr wrap="square" lIns="0" tIns="0" rIns="0" bIns="0" rtlCol="0" anchor="ctr"/>
          <a:lstStyle/>
          <a:p>
            <a:pPr algn="ctr" indent="0" marL="0">
              <a:buNone/>
            </a:pPr>
            <a:r>
              <a:rPr lang="en-US" sz="900" dirty="0">
                <a:solidFill>
                  <a:srgbClr val="9DB5AD"/>
                </a:solidFill>
                <a:latin typeface="Calibri" pitchFamily="34" charset="0"/>
                <a:ea typeface="Calibri" pitchFamily="34" charset="-122"/>
                <a:cs typeface="Calibri" pitchFamily="34" charset="-120"/>
              </a:rPr>
              <a:t>yes</a:t>
            </a:r>
            <a:endParaRPr lang="en-US" sz="900" dirty="0"/>
          </a:p>
        </p:txBody>
      </p:sp>
      <p:sp>
        <p:nvSpPr>
          <p:cNvPr id="38" name="Shape 35"/>
          <p:cNvSpPr/>
          <p:nvPr/>
        </p:nvSpPr>
        <p:spPr>
          <a:xfrm>
            <a:off x="5166360" y="4219956"/>
            <a:ext cx="2606040" cy="621792"/>
          </a:xfrm>
          <a:prstGeom prst="roundRect">
            <a:avLst>
              <a:gd name="adj" fmla="val 10294"/>
            </a:avLst>
          </a:prstGeom>
          <a:solidFill>
            <a:srgbClr val="4FB39E"/>
          </a:solidFill>
          <a:ln w="12700">
            <a:solidFill>
              <a:srgbClr val="4FB39E"/>
            </a:solidFill>
            <a:prstDash val="solid"/>
          </a:ln>
        </p:spPr>
      </p:sp>
      <p:sp>
        <p:nvSpPr>
          <p:cNvPr id="39" name="Text 36"/>
          <p:cNvSpPr/>
          <p:nvPr/>
        </p:nvSpPr>
        <p:spPr>
          <a:xfrm>
            <a:off x="5166360" y="4219956"/>
            <a:ext cx="2606040" cy="621792"/>
          </a:xfrm>
          <a:prstGeom prst="rect">
            <a:avLst/>
          </a:prstGeom>
          <a:noFill/>
          <a:ln/>
        </p:spPr>
        <p:txBody>
          <a:bodyPr wrap="square" lIns="381" tIns="381" rIns="381" bIns="381" rtlCol="0" anchor="ctr"/>
          <a:lstStyle/>
          <a:p>
            <a:pPr algn="ctr" indent="0" marL="0">
              <a:buNone/>
            </a:pPr>
            <a:r>
              <a:rPr lang="en-US" sz="1150" b="1" dirty="0">
                <a:solidFill>
                  <a:srgbClr val="06211B"/>
                </a:solidFill>
                <a:latin typeface="Calibri" pitchFamily="34" charset="0"/>
                <a:ea typeface="Calibri" pitchFamily="34" charset="-122"/>
                <a:cs typeface="Calibri" pitchFamily="34" charset="-120"/>
              </a:rPr>
              <a:t>Single topic route</a:t>
            </a:r>
            <a:endParaRPr lang="en-US" sz="1150" dirty="0"/>
          </a:p>
        </p:txBody>
      </p:sp>
      <p:sp>
        <p:nvSpPr>
          <p:cNvPr id="40" name="Shape 37"/>
          <p:cNvSpPr/>
          <p:nvPr/>
        </p:nvSpPr>
        <p:spPr>
          <a:xfrm>
            <a:off x="2148840" y="4937760"/>
            <a:ext cx="0" cy="164592"/>
          </a:xfrm>
          <a:prstGeom prst="line">
            <a:avLst/>
          </a:prstGeom>
          <a:noFill/>
          <a:ln w="19050">
            <a:solidFill>
              <a:srgbClr val="6F8F85"/>
            </a:solidFill>
            <a:prstDash val="solid"/>
            <a:tailEnd type="triangle"/>
          </a:ln>
        </p:spPr>
      </p:sp>
      <p:sp>
        <p:nvSpPr>
          <p:cNvPr id="41" name="Text 38"/>
          <p:cNvSpPr/>
          <p:nvPr/>
        </p:nvSpPr>
        <p:spPr>
          <a:xfrm>
            <a:off x="2240280" y="4882896"/>
            <a:ext cx="457200" cy="237744"/>
          </a:xfrm>
          <a:prstGeom prst="rect">
            <a:avLst/>
          </a:prstGeom>
          <a:noFill/>
          <a:ln/>
        </p:spPr>
        <p:txBody>
          <a:bodyPr wrap="square" lIns="0" tIns="0" rIns="0" bIns="0" rtlCol="0" anchor="ctr"/>
          <a:lstStyle/>
          <a:p>
            <a:pPr algn="l" indent="0" marL="0">
              <a:buNone/>
            </a:pPr>
            <a:r>
              <a:rPr lang="en-US" sz="900" dirty="0">
                <a:solidFill>
                  <a:srgbClr val="9DB5AD"/>
                </a:solidFill>
                <a:latin typeface="Calibri" pitchFamily="34" charset="0"/>
                <a:ea typeface="Calibri" pitchFamily="34" charset="-122"/>
                <a:cs typeface="Calibri" pitchFamily="34" charset="-120"/>
              </a:rPr>
              <a:t>no</a:t>
            </a:r>
            <a:endParaRPr lang="en-US" sz="900" dirty="0"/>
          </a:p>
        </p:txBody>
      </p:sp>
      <p:sp>
        <p:nvSpPr>
          <p:cNvPr id="42" name="Shape 39"/>
          <p:cNvSpPr/>
          <p:nvPr/>
        </p:nvSpPr>
        <p:spPr>
          <a:xfrm>
            <a:off x="822960" y="5138928"/>
            <a:ext cx="2651760" cy="621792"/>
          </a:xfrm>
          <a:prstGeom prst="roundRect">
            <a:avLst>
              <a:gd name="adj" fmla="val 10294"/>
            </a:avLst>
          </a:prstGeom>
          <a:solidFill>
            <a:srgbClr val="2B776D"/>
          </a:solidFill>
          <a:ln w="12700">
            <a:solidFill>
              <a:srgbClr val="2B776D"/>
            </a:solidFill>
            <a:prstDash val="solid"/>
          </a:ln>
        </p:spPr>
      </p:sp>
      <p:sp>
        <p:nvSpPr>
          <p:cNvPr id="43" name="Text 40"/>
          <p:cNvSpPr/>
          <p:nvPr/>
        </p:nvSpPr>
        <p:spPr>
          <a:xfrm>
            <a:off x="822960" y="5138928"/>
            <a:ext cx="2651760" cy="621792"/>
          </a:xfrm>
          <a:prstGeom prst="rect">
            <a:avLst/>
          </a:prstGeom>
          <a:noFill/>
          <a:ln/>
        </p:spPr>
        <p:txBody>
          <a:bodyPr wrap="square" lIns="381" tIns="381" rIns="381" bIns="381"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FunctionAgent route</a:t>
            </a:r>
            <a:endParaRPr lang="en-US" sz="1150" dirty="0"/>
          </a:p>
        </p:txBody>
      </p:sp>
      <p:sp>
        <p:nvSpPr>
          <p:cNvPr id="44" name="Shape 41"/>
          <p:cNvSpPr/>
          <p:nvPr/>
        </p:nvSpPr>
        <p:spPr>
          <a:xfrm>
            <a:off x="8321040" y="1417320"/>
            <a:ext cx="3319272" cy="3108960"/>
          </a:xfrm>
          <a:prstGeom prst="roundRect">
            <a:avLst>
              <a:gd name="adj" fmla="val 2647"/>
            </a:avLst>
          </a:prstGeom>
          <a:solidFill>
            <a:srgbClr val="0B2E27"/>
          </a:solidFill>
          <a:ln w="12700">
            <a:solidFill>
              <a:srgbClr val="1D4A3F"/>
            </a:solidFill>
            <a:prstDash val="solid"/>
          </a:ln>
        </p:spPr>
      </p:sp>
      <p:pic>
        <p:nvPicPr>
          <p:cNvPr id="45" name="Image 1" descr="/home/claude/evidenceops/icons/target_gold.png">    </p:cNvPr>
          <p:cNvPicPr>
            <a:picLocks noChangeAspect="1"/>
          </p:cNvPicPr>
          <p:nvPr/>
        </p:nvPicPr>
        <p:blipFill>
          <a:blip r:embed="rId2"/>
          <a:stretch>
            <a:fillRect/>
          </a:stretch>
        </p:blipFill>
        <p:spPr>
          <a:xfrm>
            <a:off x="8549640" y="1645920"/>
            <a:ext cx="310896" cy="310896"/>
          </a:xfrm>
          <a:prstGeom prst="rect">
            <a:avLst/>
          </a:prstGeom>
        </p:spPr>
      </p:pic>
      <p:sp>
        <p:nvSpPr>
          <p:cNvPr id="46" name="Text 42"/>
          <p:cNvSpPr/>
          <p:nvPr/>
        </p:nvSpPr>
        <p:spPr>
          <a:xfrm>
            <a:off x="8961120" y="1609344"/>
            <a:ext cx="2468880" cy="384048"/>
          </a:xfrm>
          <a:prstGeom prst="rect">
            <a:avLst/>
          </a:prstGeom>
          <a:noFill/>
          <a:ln/>
        </p:spPr>
        <p:txBody>
          <a:bodyPr wrap="square" lIns="0" tIns="0" rIns="0" bIns="0" rtlCol="0" anchor="ctr"/>
          <a:lstStyle/>
          <a:p>
            <a:pPr algn="l" indent="0" marL="0">
              <a:buNone/>
            </a:pPr>
            <a:r>
              <a:rPr lang="en-US" sz="1300" b="1" dirty="0">
                <a:solidFill>
                  <a:srgbClr val="F2F7F4"/>
                </a:solidFill>
                <a:latin typeface="Calibri" pitchFamily="34" charset="0"/>
                <a:ea typeface="Calibri" pitchFamily="34" charset="-122"/>
                <a:cs typeface="Calibri" pitchFamily="34" charset="-120"/>
              </a:rPr>
              <a:t>Why this order</a:t>
            </a:r>
            <a:endParaRPr lang="en-US" sz="1300" dirty="0"/>
          </a:p>
        </p:txBody>
      </p:sp>
      <p:sp>
        <p:nvSpPr>
          <p:cNvPr id="47" name="Text 43"/>
          <p:cNvSpPr/>
          <p:nvPr/>
        </p:nvSpPr>
        <p:spPr>
          <a:xfrm>
            <a:off x="8549640" y="2103120"/>
            <a:ext cx="2880360" cy="2286000"/>
          </a:xfrm>
          <a:prstGeom prst="rect">
            <a:avLst/>
          </a:prstGeom>
          <a:noFill/>
          <a:ln/>
        </p:spPr>
        <p:txBody>
          <a:bodyPr wrap="square" lIns="0" tIns="0" rIns="0" bIns="0" rtlCol="0" anchor="t"/>
          <a:lstStyle/>
          <a:p>
            <a:pPr algn="l" indent="0" marL="0">
              <a:buNone/>
            </a:pPr>
            <a:r>
              <a:rPr lang="en-US" sz="1050" dirty="0">
                <a:solidFill>
                  <a:srgbClr val="CFE0DA"/>
                </a:solidFill>
                <a:latin typeface="Calibri" pitchFamily="34" charset="0"/>
                <a:ea typeface="Calibri" pitchFamily="34" charset="-122"/>
                <a:cs typeface="Calibri" pitchFamily="34" charset="-120"/>
              </a:rPr>
              <a:t>Cheapest checks run first. Every test is a string comparison, so routing adds no measurable latency and no model calls.</a:t>
            </a:r>
            <a:endParaRPr lang="en-US" sz="1050" dirty="0"/>
          </a:p>
          <a:p>
            <a:pPr algn="l" indent="0" marL="0">
              <a:buNone/>
            </a:pPr>
            <a:endParaRPr lang="en-US" sz="1050" dirty="0"/>
          </a:p>
          <a:p>
            <a:pPr algn="l" indent="0" marL="0">
              <a:buNone/>
            </a:pPr>
            <a:r>
              <a:rPr lang="en-US" sz="1050" dirty="0">
                <a:solidFill>
                  <a:srgbClr val="CFE0DA"/>
                </a:solidFill>
                <a:latin typeface="Calibri" pitchFamily="34" charset="0"/>
                <a:ea typeface="Calibri" pitchFamily="34" charset="-122"/>
                <a:cs typeface="Calibri" pitchFamily="34" charset="-120"/>
              </a:rPr>
              <a:t>The expensive path is reached only by elimination, and a failed match can never crash the request.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Detection is plain string matching</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No model in the routing loop: matching is instant and auditable.</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13</a:t>
            </a:r>
            <a:endParaRPr lang="en-US" sz="850" dirty="0"/>
          </a:p>
        </p:txBody>
      </p:sp>
      <p:sp>
        <p:nvSpPr>
          <p:cNvPr id="10" name="Shape 7"/>
          <p:cNvSpPr/>
          <p:nvPr/>
        </p:nvSpPr>
        <p:spPr>
          <a:xfrm>
            <a:off x="548640" y="1234440"/>
            <a:ext cx="3602736" cy="3794760"/>
          </a:xfrm>
          <a:prstGeom prst="roundRect">
            <a:avLst>
              <a:gd name="adj" fmla="val 2284"/>
            </a:avLst>
          </a:prstGeom>
          <a:solidFill>
            <a:srgbClr val="0B2E27"/>
          </a:solidFill>
          <a:ln w="12700">
            <a:solidFill>
              <a:srgbClr val="1D4A3F"/>
            </a:solidFill>
            <a:prstDash val="solid"/>
          </a:ln>
        </p:spPr>
      </p:sp>
      <p:sp>
        <p:nvSpPr>
          <p:cNvPr id="11" name="Text 8"/>
          <p:cNvSpPr/>
          <p:nvPr/>
        </p:nvSpPr>
        <p:spPr>
          <a:xfrm>
            <a:off x="777240" y="1417320"/>
            <a:ext cx="3145536" cy="365760"/>
          </a:xfrm>
          <a:prstGeom prst="rect">
            <a:avLst/>
          </a:prstGeom>
          <a:noFill/>
          <a:ln/>
        </p:spPr>
        <p:txBody>
          <a:bodyPr wrap="square" lIns="0" tIns="0" rIns="0" bIns="0" rtlCol="0" anchor="ctr"/>
          <a:lstStyle/>
          <a:p>
            <a:pPr algn="l" indent="0" marL="0">
              <a:buNone/>
            </a:pPr>
            <a:r>
              <a:rPr lang="en-US" sz="1250" b="1" dirty="0">
                <a:solidFill>
                  <a:srgbClr val="C29C55"/>
                </a:solidFill>
                <a:latin typeface="Courier New" pitchFamily="34" charset="0"/>
                <a:ea typeface="Courier New" pitchFamily="34" charset="-122"/>
                <a:cs typeface="Courier New" pitchFamily="34" charset="-120"/>
              </a:rPr>
              <a:t>FRAMEWORK_ALIASES</a:t>
            </a:r>
            <a:endParaRPr lang="en-US" sz="1250" dirty="0"/>
          </a:p>
        </p:txBody>
      </p:sp>
      <p:sp>
        <p:nvSpPr>
          <p:cNvPr id="12" name="Text 9"/>
          <p:cNvSpPr/>
          <p:nvPr/>
        </p:nvSpPr>
        <p:spPr>
          <a:xfrm>
            <a:off x="960120" y="1920240"/>
            <a:ext cx="2962656" cy="310896"/>
          </a:xfrm>
          <a:prstGeom prst="rect">
            <a:avLst/>
          </a:prstGeom>
          <a:noFill/>
          <a:ln/>
        </p:spPr>
        <p:txBody>
          <a:bodyPr wrap="square" lIns="0" tIns="0" rIns="0" bIns="0" rtlCol="0" anchor="ctr"/>
          <a:lstStyle/>
          <a:p>
            <a:pPr algn="l" marL="342900" indent="-342900">
              <a:buSzPct val="100000"/>
              <a:buChar char="•"/>
            </a:pPr>
            <a:r>
              <a:rPr lang="en-US" sz="1100" dirty="0">
                <a:solidFill>
                  <a:srgbClr val="F2F7F4"/>
                </a:solidFill>
                <a:latin typeface="Courier New" pitchFamily="34" charset="0"/>
                <a:ea typeface="Courier New" pitchFamily="34" charset="-122"/>
                <a:cs typeface="Courier New" pitchFamily="34" charset="-120"/>
              </a:rPr>
              <a:t>NIST AI RMF</a:t>
            </a:r>
            <a:endParaRPr lang="en-US" sz="1100" dirty="0"/>
          </a:p>
        </p:txBody>
      </p:sp>
      <p:sp>
        <p:nvSpPr>
          <p:cNvPr id="13" name="Text 10"/>
          <p:cNvSpPr/>
          <p:nvPr/>
        </p:nvSpPr>
        <p:spPr>
          <a:xfrm>
            <a:off x="960120" y="2286000"/>
            <a:ext cx="2962656" cy="310896"/>
          </a:xfrm>
          <a:prstGeom prst="rect">
            <a:avLst/>
          </a:prstGeom>
          <a:noFill/>
          <a:ln/>
        </p:spPr>
        <p:txBody>
          <a:bodyPr wrap="square" lIns="0" tIns="0" rIns="0" bIns="0" rtlCol="0" anchor="ctr"/>
          <a:lstStyle/>
          <a:p>
            <a:pPr algn="l" marL="342900" indent="-342900">
              <a:buSzPct val="100000"/>
              <a:buChar char="•"/>
            </a:pPr>
            <a:r>
              <a:rPr lang="en-US" sz="1100" dirty="0">
                <a:solidFill>
                  <a:srgbClr val="F2F7F4"/>
                </a:solidFill>
                <a:latin typeface="Courier New" pitchFamily="34" charset="0"/>
                <a:ea typeface="Courier New" pitchFamily="34" charset="-122"/>
                <a:cs typeface="Courier New" pitchFamily="34" charset="-120"/>
              </a:rPr>
              <a:t>OWASP LLM Top 10</a:t>
            </a:r>
            <a:endParaRPr lang="en-US" sz="1100" dirty="0"/>
          </a:p>
        </p:txBody>
      </p:sp>
      <p:sp>
        <p:nvSpPr>
          <p:cNvPr id="14" name="Text 11"/>
          <p:cNvSpPr/>
          <p:nvPr/>
        </p:nvSpPr>
        <p:spPr>
          <a:xfrm>
            <a:off x="960120" y="2651760"/>
            <a:ext cx="2962656" cy="310896"/>
          </a:xfrm>
          <a:prstGeom prst="rect">
            <a:avLst/>
          </a:prstGeom>
          <a:noFill/>
          <a:ln/>
        </p:spPr>
        <p:txBody>
          <a:bodyPr wrap="square" lIns="0" tIns="0" rIns="0" bIns="0" rtlCol="0" anchor="ctr"/>
          <a:lstStyle/>
          <a:p>
            <a:pPr algn="l" marL="342900" indent="-342900">
              <a:buSzPct val="100000"/>
              <a:buChar char="•"/>
            </a:pPr>
            <a:r>
              <a:rPr lang="en-US" sz="1100" dirty="0">
                <a:solidFill>
                  <a:srgbClr val="F2F7F4"/>
                </a:solidFill>
                <a:latin typeface="Courier New" pitchFamily="34" charset="0"/>
                <a:ea typeface="Courier New" pitchFamily="34" charset="-122"/>
                <a:cs typeface="Courier New" pitchFamily="34" charset="-120"/>
              </a:rPr>
              <a:t>ISO/IEC 42001</a:t>
            </a:r>
            <a:endParaRPr lang="en-US" sz="1100" dirty="0"/>
          </a:p>
        </p:txBody>
      </p:sp>
      <p:sp>
        <p:nvSpPr>
          <p:cNvPr id="15" name="Text 12"/>
          <p:cNvSpPr/>
          <p:nvPr/>
        </p:nvSpPr>
        <p:spPr>
          <a:xfrm>
            <a:off x="960120" y="3017520"/>
            <a:ext cx="2962656" cy="310896"/>
          </a:xfrm>
          <a:prstGeom prst="rect">
            <a:avLst/>
          </a:prstGeom>
          <a:noFill/>
          <a:ln/>
        </p:spPr>
        <p:txBody>
          <a:bodyPr wrap="square" lIns="0" tIns="0" rIns="0" bIns="0" rtlCol="0" anchor="ctr"/>
          <a:lstStyle/>
          <a:p>
            <a:pPr algn="l" marL="342900" indent="-342900">
              <a:buSzPct val="100000"/>
              <a:buChar char="•"/>
            </a:pPr>
            <a:r>
              <a:rPr lang="en-US" sz="1100" dirty="0">
                <a:solidFill>
                  <a:srgbClr val="F2F7F4"/>
                </a:solidFill>
                <a:latin typeface="Courier New" pitchFamily="34" charset="0"/>
                <a:ea typeface="Courier New" pitchFamily="34" charset="-122"/>
                <a:cs typeface="Courier New" pitchFamily="34" charset="-120"/>
              </a:rPr>
              <a:t>SDAIA AI Ethics</a:t>
            </a:r>
            <a:endParaRPr lang="en-US" sz="1100" dirty="0"/>
          </a:p>
        </p:txBody>
      </p:sp>
      <p:sp>
        <p:nvSpPr>
          <p:cNvPr id="16" name="Text 13"/>
          <p:cNvSpPr/>
          <p:nvPr/>
        </p:nvSpPr>
        <p:spPr>
          <a:xfrm>
            <a:off x="777240" y="4160520"/>
            <a:ext cx="3145536" cy="731520"/>
          </a:xfrm>
          <a:prstGeom prst="rect">
            <a:avLst/>
          </a:prstGeom>
          <a:noFill/>
          <a:ln/>
        </p:spPr>
        <p:txBody>
          <a:bodyPr wrap="square" lIns="0" tIns="0" rIns="0" bIns="0" rtlCol="0" anchor="b"/>
          <a:lstStyle/>
          <a:p>
            <a:pPr algn="l" indent="0" marL="0">
              <a:buNone/>
            </a:pPr>
            <a:r>
              <a:rPr lang="en-US" sz="1000" i="1" dirty="0">
                <a:solidFill>
                  <a:srgbClr val="9DB5AD"/>
                </a:solidFill>
                <a:latin typeface="Calibri" pitchFamily="34" charset="0"/>
                <a:ea typeface="Calibri" pitchFamily="34" charset="-122"/>
                <a:cs typeface="Calibri" pitchFamily="34" charset="-120"/>
              </a:rPr>
              <a:t>maps every alias to one canonical framework id</a:t>
            </a:r>
            <a:endParaRPr lang="en-US" sz="1000" dirty="0"/>
          </a:p>
        </p:txBody>
      </p:sp>
      <p:sp>
        <p:nvSpPr>
          <p:cNvPr id="17" name="Shape 14"/>
          <p:cNvSpPr/>
          <p:nvPr/>
        </p:nvSpPr>
        <p:spPr>
          <a:xfrm>
            <a:off x="4343400" y="1234440"/>
            <a:ext cx="3602736" cy="3794760"/>
          </a:xfrm>
          <a:prstGeom prst="roundRect">
            <a:avLst>
              <a:gd name="adj" fmla="val 2284"/>
            </a:avLst>
          </a:prstGeom>
          <a:solidFill>
            <a:srgbClr val="0B2E27"/>
          </a:solidFill>
          <a:ln w="12700">
            <a:solidFill>
              <a:srgbClr val="1D4A3F"/>
            </a:solidFill>
            <a:prstDash val="solid"/>
          </a:ln>
        </p:spPr>
      </p:sp>
      <p:sp>
        <p:nvSpPr>
          <p:cNvPr id="18" name="Text 15"/>
          <p:cNvSpPr/>
          <p:nvPr/>
        </p:nvSpPr>
        <p:spPr>
          <a:xfrm>
            <a:off x="4572000" y="1417320"/>
            <a:ext cx="3145536" cy="365760"/>
          </a:xfrm>
          <a:prstGeom prst="rect">
            <a:avLst/>
          </a:prstGeom>
          <a:noFill/>
          <a:ln/>
        </p:spPr>
        <p:txBody>
          <a:bodyPr wrap="square" lIns="0" tIns="0" rIns="0" bIns="0" rtlCol="0" anchor="ctr"/>
          <a:lstStyle/>
          <a:p>
            <a:pPr algn="l" indent="0" marL="0">
              <a:buNone/>
            </a:pPr>
            <a:r>
              <a:rPr lang="en-US" sz="1250" b="1" dirty="0">
                <a:solidFill>
                  <a:srgbClr val="C29C55"/>
                </a:solidFill>
                <a:latin typeface="Courier New" pitchFamily="34" charset="0"/>
                <a:ea typeface="Courier New" pitchFamily="34" charset="-122"/>
                <a:cs typeface="Courier New" pitchFamily="34" charset="-120"/>
              </a:rPr>
              <a:t>COMPARISON_MARKERS</a:t>
            </a:r>
            <a:endParaRPr lang="en-US" sz="1250" dirty="0"/>
          </a:p>
        </p:txBody>
      </p:sp>
      <p:sp>
        <p:nvSpPr>
          <p:cNvPr id="19" name="Text 16"/>
          <p:cNvSpPr/>
          <p:nvPr/>
        </p:nvSpPr>
        <p:spPr>
          <a:xfrm>
            <a:off x="4754880" y="1920240"/>
            <a:ext cx="2962656" cy="310896"/>
          </a:xfrm>
          <a:prstGeom prst="rect">
            <a:avLst/>
          </a:prstGeom>
          <a:noFill/>
          <a:ln/>
        </p:spPr>
        <p:txBody>
          <a:bodyPr wrap="square" lIns="0" tIns="0" rIns="0" bIns="0" rtlCol="0" anchor="ctr"/>
          <a:lstStyle/>
          <a:p>
            <a:pPr algn="l" marL="342900" indent="-342900">
              <a:buSzPct val="100000"/>
              <a:buChar char="•"/>
            </a:pPr>
            <a:r>
              <a:rPr lang="en-US" sz="1100" dirty="0">
                <a:solidFill>
                  <a:srgbClr val="F2F7F4"/>
                </a:solidFill>
                <a:latin typeface="Courier New" pitchFamily="34" charset="0"/>
                <a:ea typeface="Courier New" pitchFamily="34" charset="-122"/>
                <a:cs typeface="Courier New" pitchFamily="34" charset="-120"/>
              </a:rPr>
              <a:t>compare</a:t>
            </a:r>
            <a:endParaRPr lang="en-US" sz="1100" dirty="0"/>
          </a:p>
        </p:txBody>
      </p:sp>
      <p:sp>
        <p:nvSpPr>
          <p:cNvPr id="20" name="Text 17"/>
          <p:cNvSpPr/>
          <p:nvPr/>
        </p:nvSpPr>
        <p:spPr>
          <a:xfrm>
            <a:off x="4754880" y="2286000"/>
            <a:ext cx="2962656" cy="310896"/>
          </a:xfrm>
          <a:prstGeom prst="rect">
            <a:avLst/>
          </a:prstGeom>
          <a:noFill/>
          <a:ln/>
        </p:spPr>
        <p:txBody>
          <a:bodyPr wrap="square" lIns="0" tIns="0" rIns="0" bIns="0" rtlCol="0" anchor="ctr"/>
          <a:lstStyle/>
          <a:p>
            <a:pPr algn="l" marL="342900" indent="-342900">
              <a:buSzPct val="100000"/>
              <a:buChar char="•"/>
            </a:pPr>
            <a:r>
              <a:rPr lang="en-US" sz="1100" dirty="0">
                <a:solidFill>
                  <a:srgbClr val="F2F7F4"/>
                </a:solidFill>
                <a:latin typeface="Courier New" pitchFamily="34" charset="0"/>
                <a:ea typeface="Courier New" pitchFamily="34" charset="-122"/>
                <a:cs typeface="Courier New" pitchFamily="34" charset="-120"/>
              </a:rPr>
              <a:t>versus</a:t>
            </a:r>
            <a:endParaRPr lang="en-US" sz="1100" dirty="0"/>
          </a:p>
        </p:txBody>
      </p:sp>
      <p:sp>
        <p:nvSpPr>
          <p:cNvPr id="21" name="Text 18"/>
          <p:cNvSpPr/>
          <p:nvPr/>
        </p:nvSpPr>
        <p:spPr>
          <a:xfrm>
            <a:off x="4754880" y="2651760"/>
            <a:ext cx="2962656" cy="310896"/>
          </a:xfrm>
          <a:prstGeom prst="rect">
            <a:avLst/>
          </a:prstGeom>
          <a:noFill/>
          <a:ln/>
        </p:spPr>
        <p:txBody>
          <a:bodyPr wrap="square" lIns="0" tIns="0" rIns="0" bIns="0" rtlCol="0" anchor="ctr"/>
          <a:lstStyle/>
          <a:p>
            <a:pPr algn="l" marL="342900" indent="-342900">
              <a:buSzPct val="100000"/>
              <a:buChar char="•"/>
            </a:pPr>
            <a:r>
              <a:rPr lang="en-US" sz="1100" dirty="0">
                <a:solidFill>
                  <a:srgbClr val="F2F7F4"/>
                </a:solidFill>
                <a:latin typeface="Courier New" pitchFamily="34" charset="0"/>
                <a:ea typeface="Courier New" pitchFamily="34" charset="-122"/>
                <a:cs typeface="Courier New" pitchFamily="34" charset="-120"/>
              </a:rPr>
              <a:t>vs</a:t>
            </a:r>
            <a:endParaRPr lang="en-US" sz="1100" dirty="0"/>
          </a:p>
        </p:txBody>
      </p:sp>
      <p:sp>
        <p:nvSpPr>
          <p:cNvPr id="22" name="Text 19"/>
          <p:cNvSpPr/>
          <p:nvPr/>
        </p:nvSpPr>
        <p:spPr>
          <a:xfrm>
            <a:off x="4754880" y="3017520"/>
            <a:ext cx="2962656" cy="310896"/>
          </a:xfrm>
          <a:prstGeom prst="rect">
            <a:avLst/>
          </a:prstGeom>
          <a:noFill/>
          <a:ln/>
        </p:spPr>
        <p:txBody>
          <a:bodyPr wrap="square" lIns="0" tIns="0" rIns="0" bIns="0" rtlCol="0" anchor="ctr"/>
          <a:lstStyle/>
          <a:p>
            <a:pPr algn="l" marL="342900" indent="-342900">
              <a:buSzPct val="100000"/>
              <a:buChar char="•"/>
            </a:pPr>
            <a:r>
              <a:rPr lang="en-US" sz="1150" dirty="0">
                <a:solidFill>
                  <a:srgbClr val="F2F7F4"/>
                </a:solidFill>
                <a:latin typeface="Calibri" pitchFamily="34" charset="0"/>
                <a:ea typeface="Calibri" pitchFamily="34" charset="-122"/>
                <a:cs typeface="Calibri" pitchFamily="34" charset="-120"/>
              </a:rPr>
              <a:t>قارن</a:t>
            </a:r>
            <a:endParaRPr lang="en-US" sz="1150" dirty="0"/>
          </a:p>
        </p:txBody>
      </p:sp>
      <p:sp>
        <p:nvSpPr>
          <p:cNvPr id="23" name="Text 20"/>
          <p:cNvSpPr/>
          <p:nvPr/>
        </p:nvSpPr>
        <p:spPr>
          <a:xfrm>
            <a:off x="4754880" y="3383280"/>
            <a:ext cx="2962656" cy="310896"/>
          </a:xfrm>
          <a:prstGeom prst="rect">
            <a:avLst/>
          </a:prstGeom>
          <a:noFill/>
          <a:ln/>
        </p:spPr>
        <p:txBody>
          <a:bodyPr wrap="square" lIns="0" tIns="0" rIns="0" bIns="0" rtlCol="0" anchor="ctr"/>
          <a:lstStyle/>
          <a:p>
            <a:pPr algn="l" marL="342900" indent="-342900">
              <a:buSzPct val="100000"/>
              <a:buChar char="•"/>
            </a:pPr>
            <a:r>
              <a:rPr lang="en-US" sz="1150" dirty="0">
                <a:solidFill>
                  <a:srgbClr val="F2F7F4"/>
                </a:solidFill>
                <a:latin typeface="Calibri" pitchFamily="34" charset="0"/>
                <a:ea typeface="Calibri" pitchFamily="34" charset="-122"/>
                <a:cs typeface="Calibri" pitchFamily="34" charset="-120"/>
              </a:rPr>
              <a:t>بين</a:t>
            </a:r>
            <a:endParaRPr lang="en-US" sz="1150" dirty="0"/>
          </a:p>
        </p:txBody>
      </p:sp>
      <p:sp>
        <p:nvSpPr>
          <p:cNvPr id="24" name="Text 21"/>
          <p:cNvSpPr/>
          <p:nvPr/>
        </p:nvSpPr>
        <p:spPr>
          <a:xfrm>
            <a:off x="4572000" y="4160520"/>
            <a:ext cx="3145536" cy="731520"/>
          </a:xfrm>
          <a:prstGeom prst="rect">
            <a:avLst/>
          </a:prstGeom>
          <a:noFill/>
          <a:ln/>
        </p:spPr>
        <p:txBody>
          <a:bodyPr wrap="square" lIns="0" tIns="0" rIns="0" bIns="0" rtlCol="0" anchor="b"/>
          <a:lstStyle/>
          <a:p>
            <a:pPr algn="l" indent="0" marL="0">
              <a:buNone/>
            </a:pPr>
            <a:r>
              <a:rPr lang="en-US" sz="1000" i="1" dirty="0">
                <a:solidFill>
                  <a:srgbClr val="9DB5AD"/>
                </a:solidFill>
                <a:latin typeface="Calibri" pitchFamily="34" charset="0"/>
                <a:ea typeface="Calibri" pitchFamily="34" charset="-122"/>
                <a:cs typeface="Calibri" pitchFamily="34" charset="-120"/>
              </a:rPr>
              <a:t>any marker plus two aliases triggers the parallel route</a:t>
            </a:r>
            <a:endParaRPr lang="en-US" sz="1000" dirty="0"/>
          </a:p>
        </p:txBody>
      </p:sp>
      <p:sp>
        <p:nvSpPr>
          <p:cNvPr id="25" name="Shape 22"/>
          <p:cNvSpPr/>
          <p:nvPr/>
        </p:nvSpPr>
        <p:spPr>
          <a:xfrm>
            <a:off x="8138160" y="1234440"/>
            <a:ext cx="3602736" cy="3794760"/>
          </a:xfrm>
          <a:prstGeom prst="roundRect">
            <a:avLst>
              <a:gd name="adj" fmla="val 2284"/>
            </a:avLst>
          </a:prstGeom>
          <a:solidFill>
            <a:srgbClr val="0B2E27"/>
          </a:solidFill>
          <a:ln w="12700">
            <a:solidFill>
              <a:srgbClr val="1D4A3F"/>
            </a:solidFill>
            <a:prstDash val="solid"/>
          </a:ln>
        </p:spPr>
      </p:sp>
      <p:sp>
        <p:nvSpPr>
          <p:cNvPr id="26" name="Text 23"/>
          <p:cNvSpPr/>
          <p:nvPr/>
        </p:nvSpPr>
        <p:spPr>
          <a:xfrm>
            <a:off x="8366760" y="1417320"/>
            <a:ext cx="3145536" cy="365760"/>
          </a:xfrm>
          <a:prstGeom prst="rect">
            <a:avLst/>
          </a:prstGeom>
          <a:noFill/>
          <a:ln/>
        </p:spPr>
        <p:txBody>
          <a:bodyPr wrap="square" lIns="0" tIns="0" rIns="0" bIns="0" rtlCol="0" anchor="ctr"/>
          <a:lstStyle/>
          <a:p>
            <a:pPr algn="l" indent="0" marL="0">
              <a:buNone/>
            </a:pPr>
            <a:r>
              <a:rPr lang="en-US" sz="1250" b="1" dirty="0">
                <a:solidFill>
                  <a:srgbClr val="C29C55"/>
                </a:solidFill>
                <a:latin typeface="Courier New" pitchFamily="34" charset="0"/>
                <a:ea typeface="Courier New" pitchFamily="34" charset="-122"/>
                <a:cs typeface="Courier New" pitchFamily="34" charset="-120"/>
              </a:rPr>
              <a:t>IDENTITY_MARKERS</a:t>
            </a:r>
            <a:endParaRPr lang="en-US" sz="1250" dirty="0"/>
          </a:p>
        </p:txBody>
      </p:sp>
      <p:sp>
        <p:nvSpPr>
          <p:cNvPr id="27" name="Text 24"/>
          <p:cNvSpPr/>
          <p:nvPr/>
        </p:nvSpPr>
        <p:spPr>
          <a:xfrm>
            <a:off x="8549640" y="1920240"/>
            <a:ext cx="2962656" cy="310896"/>
          </a:xfrm>
          <a:prstGeom prst="rect">
            <a:avLst/>
          </a:prstGeom>
          <a:noFill/>
          <a:ln/>
        </p:spPr>
        <p:txBody>
          <a:bodyPr wrap="square" lIns="0" tIns="0" rIns="0" bIns="0" rtlCol="0" anchor="ctr"/>
          <a:lstStyle/>
          <a:p>
            <a:pPr algn="l" marL="342900" indent="-342900">
              <a:buSzPct val="100000"/>
              <a:buChar char="•"/>
            </a:pPr>
            <a:r>
              <a:rPr lang="en-US" sz="1100" dirty="0">
                <a:solidFill>
                  <a:srgbClr val="F2F7F4"/>
                </a:solidFill>
                <a:latin typeface="Courier New" pitchFamily="34" charset="0"/>
                <a:ea typeface="Courier New" pitchFamily="34" charset="-122"/>
                <a:cs typeface="Courier New" pitchFamily="34" charset="-120"/>
              </a:rPr>
              <a:t>who are you</a:t>
            </a:r>
            <a:endParaRPr lang="en-US" sz="1100" dirty="0"/>
          </a:p>
        </p:txBody>
      </p:sp>
      <p:sp>
        <p:nvSpPr>
          <p:cNvPr id="28" name="Text 25"/>
          <p:cNvSpPr/>
          <p:nvPr/>
        </p:nvSpPr>
        <p:spPr>
          <a:xfrm>
            <a:off x="8549640" y="2286000"/>
            <a:ext cx="2962656" cy="310896"/>
          </a:xfrm>
          <a:prstGeom prst="rect">
            <a:avLst/>
          </a:prstGeom>
          <a:noFill/>
          <a:ln/>
        </p:spPr>
        <p:txBody>
          <a:bodyPr wrap="square" lIns="0" tIns="0" rIns="0" bIns="0" rtlCol="0" anchor="ctr"/>
          <a:lstStyle/>
          <a:p>
            <a:pPr algn="l" marL="342900" indent="-342900">
              <a:buSzPct val="100000"/>
              <a:buChar char="•"/>
            </a:pPr>
            <a:r>
              <a:rPr lang="en-US" sz="1100" dirty="0">
                <a:solidFill>
                  <a:srgbClr val="F2F7F4"/>
                </a:solidFill>
                <a:latin typeface="Courier New" pitchFamily="34" charset="0"/>
                <a:ea typeface="Courier New" pitchFamily="34" charset="-122"/>
                <a:cs typeface="Courier New" pitchFamily="34" charset="-120"/>
              </a:rPr>
              <a:t>introduce yourself</a:t>
            </a:r>
            <a:endParaRPr lang="en-US" sz="1100" dirty="0"/>
          </a:p>
        </p:txBody>
      </p:sp>
      <p:sp>
        <p:nvSpPr>
          <p:cNvPr id="29" name="Text 26"/>
          <p:cNvSpPr/>
          <p:nvPr/>
        </p:nvSpPr>
        <p:spPr>
          <a:xfrm>
            <a:off x="8549640" y="2651760"/>
            <a:ext cx="2962656" cy="310896"/>
          </a:xfrm>
          <a:prstGeom prst="rect">
            <a:avLst/>
          </a:prstGeom>
          <a:noFill/>
          <a:ln/>
        </p:spPr>
        <p:txBody>
          <a:bodyPr wrap="square" lIns="0" tIns="0" rIns="0" bIns="0" rtlCol="0" anchor="ctr"/>
          <a:lstStyle/>
          <a:p>
            <a:pPr algn="l" marL="342900" indent="-342900">
              <a:buSzPct val="100000"/>
              <a:buChar char="•"/>
            </a:pPr>
            <a:r>
              <a:rPr lang="en-US" sz="1100" dirty="0">
                <a:solidFill>
                  <a:srgbClr val="F2F7F4"/>
                </a:solidFill>
                <a:latin typeface="Courier New" pitchFamily="34" charset="0"/>
                <a:ea typeface="Courier New" pitchFamily="34" charset="-122"/>
                <a:cs typeface="Courier New" pitchFamily="34" charset="-120"/>
              </a:rPr>
              <a:t>talk about yourself</a:t>
            </a:r>
            <a:endParaRPr lang="en-US" sz="1100" dirty="0"/>
          </a:p>
        </p:txBody>
      </p:sp>
      <p:sp>
        <p:nvSpPr>
          <p:cNvPr id="30" name="Text 27"/>
          <p:cNvSpPr/>
          <p:nvPr/>
        </p:nvSpPr>
        <p:spPr>
          <a:xfrm>
            <a:off x="8549640" y="3017520"/>
            <a:ext cx="2962656" cy="310896"/>
          </a:xfrm>
          <a:prstGeom prst="rect">
            <a:avLst/>
          </a:prstGeom>
          <a:noFill/>
          <a:ln/>
        </p:spPr>
        <p:txBody>
          <a:bodyPr wrap="square" lIns="0" tIns="0" rIns="0" bIns="0" rtlCol="0" anchor="ctr"/>
          <a:lstStyle/>
          <a:p>
            <a:pPr algn="l" marL="342900" indent="-342900">
              <a:buSzPct val="100000"/>
              <a:buChar char="•"/>
            </a:pPr>
            <a:r>
              <a:rPr lang="en-US" sz="1150" dirty="0">
                <a:solidFill>
                  <a:srgbClr val="F2F7F4"/>
                </a:solidFill>
                <a:latin typeface="Calibri" pitchFamily="34" charset="0"/>
                <a:ea typeface="Calibri" pitchFamily="34" charset="-122"/>
                <a:cs typeface="Calibri" pitchFamily="34" charset="-120"/>
              </a:rPr>
              <a:t>من أنت</a:t>
            </a:r>
            <a:endParaRPr lang="en-US" sz="1150" dirty="0"/>
          </a:p>
        </p:txBody>
      </p:sp>
      <p:sp>
        <p:nvSpPr>
          <p:cNvPr id="31" name="Text 28"/>
          <p:cNvSpPr/>
          <p:nvPr/>
        </p:nvSpPr>
        <p:spPr>
          <a:xfrm>
            <a:off x="8549640" y="3383280"/>
            <a:ext cx="2962656" cy="310896"/>
          </a:xfrm>
          <a:prstGeom prst="rect">
            <a:avLst/>
          </a:prstGeom>
          <a:noFill/>
          <a:ln/>
        </p:spPr>
        <p:txBody>
          <a:bodyPr wrap="square" lIns="0" tIns="0" rIns="0" bIns="0" rtlCol="0" anchor="ctr"/>
          <a:lstStyle/>
          <a:p>
            <a:pPr algn="l" marL="342900" indent="-342900">
              <a:buSzPct val="100000"/>
              <a:buChar char="•"/>
            </a:pPr>
            <a:r>
              <a:rPr lang="en-US" sz="1150" dirty="0">
                <a:solidFill>
                  <a:srgbClr val="F2F7F4"/>
                </a:solidFill>
                <a:latin typeface="Calibri" pitchFamily="34" charset="0"/>
                <a:ea typeface="Calibri" pitchFamily="34" charset="-122"/>
                <a:cs typeface="Calibri" pitchFamily="34" charset="-120"/>
              </a:rPr>
              <a:t>عرف بنفسك</a:t>
            </a:r>
            <a:endParaRPr lang="en-US" sz="1150" dirty="0"/>
          </a:p>
        </p:txBody>
      </p:sp>
      <p:sp>
        <p:nvSpPr>
          <p:cNvPr id="32" name="Text 29"/>
          <p:cNvSpPr/>
          <p:nvPr/>
        </p:nvSpPr>
        <p:spPr>
          <a:xfrm>
            <a:off x="8366760" y="4160520"/>
            <a:ext cx="3145536" cy="731520"/>
          </a:xfrm>
          <a:prstGeom prst="rect">
            <a:avLst/>
          </a:prstGeom>
          <a:noFill/>
          <a:ln/>
        </p:spPr>
        <p:txBody>
          <a:bodyPr wrap="square" lIns="0" tIns="0" rIns="0" bIns="0" rtlCol="0" anchor="b"/>
          <a:lstStyle/>
          <a:p>
            <a:pPr algn="l" indent="0" marL="0">
              <a:buNone/>
            </a:pPr>
            <a:r>
              <a:rPr lang="en-US" sz="1000" i="1" dirty="0">
                <a:solidFill>
                  <a:srgbClr val="9DB5AD"/>
                </a:solidFill>
                <a:latin typeface="Calibri" pitchFamily="34" charset="0"/>
                <a:ea typeface="Calibri" pitchFamily="34" charset="-122"/>
                <a:cs typeface="Calibri" pitchFamily="34" charset="-120"/>
              </a:rPr>
              <a:t>checked first, before anything is built</a:t>
            </a:r>
            <a:endParaRPr lang="en-US" sz="1000" dirty="0"/>
          </a:p>
        </p:txBody>
      </p:sp>
      <p:pic>
        <p:nvPicPr>
          <p:cNvPr id="33" name="Image 1" descr="/home/claude/evidenceops/icons/globe_tealbr.png">    </p:cNvPr>
          <p:cNvPicPr>
            <a:picLocks noChangeAspect="1"/>
          </p:cNvPicPr>
          <p:nvPr/>
        </p:nvPicPr>
        <p:blipFill>
          <a:blip r:embed="rId2"/>
          <a:stretch>
            <a:fillRect/>
          </a:stretch>
        </p:blipFill>
        <p:spPr>
          <a:xfrm>
            <a:off x="566928" y="5257800"/>
            <a:ext cx="274320" cy="274320"/>
          </a:xfrm>
          <a:prstGeom prst="rect">
            <a:avLst/>
          </a:prstGeom>
        </p:spPr>
      </p:pic>
      <p:sp>
        <p:nvSpPr>
          <p:cNvPr id="34" name="Text 30"/>
          <p:cNvSpPr/>
          <p:nvPr/>
        </p:nvSpPr>
        <p:spPr>
          <a:xfrm>
            <a:off x="932688" y="5230368"/>
            <a:ext cx="10515600" cy="365760"/>
          </a:xfrm>
          <a:prstGeom prst="rect">
            <a:avLst/>
          </a:prstGeom>
          <a:noFill/>
          <a:ln/>
        </p:spPr>
        <p:txBody>
          <a:bodyPr wrap="square" lIns="0" tIns="0" rIns="0" bIns="0" rtlCol="0" anchor="ctr"/>
          <a:lstStyle/>
          <a:p>
            <a:pPr algn="l" indent="0" marL="0">
              <a:buNone/>
            </a:pPr>
            <a:r>
              <a:rPr lang="en-US" sz="1150" dirty="0">
                <a:solidFill>
                  <a:srgbClr val="CFE0DA"/>
                </a:solidFill>
                <a:latin typeface="Calibri" pitchFamily="34" charset="0"/>
                <a:ea typeface="Calibri" pitchFamily="34" charset="-122"/>
                <a:cs typeface="Calibri" pitchFamily="34" charset="-120"/>
              </a:rPr>
              <a:t>Markers cover English and Arabic, so routing behaves the same in both languages the system serves.</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Before and after, measured</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The speedup came from removing work, not from tuning the model.</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14</a:t>
            </a:r>
            <a:endParaRPr lang="en-US" sz="850" dirty="0"/>
          </a:p>
        </p:txBody>
      </p:sp>
      <p:sp>
        <p:nvSpPr>
          <p:cNvPr id="10" name="Text 7"/>
          <p:cNvSpPr/>
          <p:nvPr/>
        </p:nvSpPr>
        <p:spPr>
          <a:xfrm>
            <a:off x="548640" y="1170432"/>
            <a:ext cx="5852160" cy="347472"/>
          </a:xfrm>
          <a:prstGeom prst="rect">
            <a:avLst/>
          </a:prstGeom>
          <a:noFill/>
          <a:ln/>
        </p:spPr>
        <p:txBody>
          <a:bodyPr wrap="square" lIns="0" tIns="0" rIns="0" bIns="0" rtlCol="0" anchor="ctr"/>
          <a:lstStyle/>
          <a:p>
            <a:pPr algn="l" indent="0" marL="0">
              <a:buNone/>
            </a:pPr>
            <a:r>
              <a:rPr lang="en-US" sz="1300" b="1" dirty="0">
                <a:solidFill>
                  <a:srgbClr val="F2F7F4"/>
                </a:solidFill>
                <a:latin typeface="Calibri" pitchFamily="34" charset="0"/>
                <a:ea typeface="Calibri" pitchFamily="34" charset="-122"/>
                <a:cs typeface="Calibri" pitchFamily="34" charset="-120"/>
              </a:rPr>
              <a:t>Latency per simple framework question</a:t>
            </a:r>
            <a:endParaRPr lang="en-US" sz="1300" dirty="0"/>
          </a:p>
        </p:txBody>
      </p:sp>
      <p:sp>
        <p:nvSpPr>
          <p:cNvPr id="11" name="Text 8"/>
          <p:cNvSpPr/>
          <p:nvPr/>
        </p:nvSpPr>
        <p:spPr>
          <a:xfrm>
            <a:off x="548640" y="1691640"/>
            <a:ext cx="1143000" cy="457200"/>
          </a:xfrm>
          <a:prstGeom prst="rect">
            <a:avLst/>
          </a:prstGeom>
          <a:noFill/>
          <a:ln/>
        </p:spPr>
        <p:txBody>
          <a:bodyPr wrap="square" lIns="0" tIns="0" rIns="0" bIns="0" rtlCol="0" anchor="ctr"/>
          <a:lstStyle/>
          <a:p>
            <a:pPr algn="l" indent="0" marL="0">
              <a:buNone/>
            </a:pPr>
            <a:r>
              <a:rPr lang="en-US" sz="1150" dirty="0">
                <a:solidFill>
                  <a:srgbClr val="9DB5AD"/>
                </a:solidFill>
                <a:latin typeface="Calibri" pitchFamily="34" charset="0"/>
                <a:ea typeface="Calibri" pitchFamily="34" charset="-122"/>
                <a:cs typeface="Calibri" pitchFamily="34" charset="-120"/>
              </a:rPr>
              <a:t>Before</a:t>
            </a:r>
            <a:endParaRPr lang="en-US" sz="1150" dirty="0"/>
          </a:p>
        </p:txBody>
      </p:sp>
      <p:sp>
        <p:nvSpPr>
          <p:cNvPr id="12" name="Shape 9"/>
          <p:cNvSpPr/>
          <p:nvPr/>
        </p:nvSpPr>
        <p:spPr>
          <a:xfrm>
            <a:off x="1783080" y="1746504"/>
            <a:ext cx="3328416" cy="347472"/>
          </a:xfrm>
          <a:prstGeom prst="roundRect">
            <a:avLst>
              <a:gd name="adj" fmla="val 13158"/>
            </a:avLst>
          </a:prstGeom>
          <a:solidFill>
            <a:srgbClr val="C29C55"/>
          </a:solidFill>
          <a:ln w="12700">
            <a:solidFill>
              <a:srgbClr val="C29C55"/>
            </a:solidFill>
            <a:prstDash val="solid"/>
          </a:ln>
        </p:spPr>
      </p:sp>
      <p:sp>
        <p:nvSpPr>
          <p:cNvPr id="13" name="Text 10"/>
          <p:cNvSpPr/>
          <p:nvPr/>
        </p:nvSpPr>
        <p:spPr>
          <a:xfrm>
            <a:off x="5221224" y="1691640"/>
            <a:ext cx="1280160" cy="457200"/>
          </a:xfrm>
          <a:prstGeom prst="rect">
            <a:avLst/>
          </a:prstGeom>
          <a:noFill/>
          <a:ln/>
        </p:spPr>
        <p:txBody>
          <a:bodyPr wrap="square" lIns="0" tIns="0" rIns="0" bIns="0" rtlCol="0" anchor="ctr"/>
          <a:lstStyle/>
          <a:p>
            <a:pPr algn="l" indent="0" marL="0">
              <a:buNone/>
            </a:pPr>
            <a:r>
              <a:rPr lang="en-US" sz="1100" b="1" dirty="0">
                <a:solidFill>
                  <a:srgbClr val="E3CB9A"/>
                </a:solidFill>
                <a:latin typeface="Calibri" pitchFamily="34" charset="0"/>
                <a:ea typeface="Calibri" pitchFamily="34" charset="-122"/>
                <a:cs typeface="Calibri" pitchFamily="34" charset="-120"/>
              </a:rPr>
              <a:t>30-50 s</a:t>
            </a:r>
            <a:endParaRPr lang="en-US" sz="1100" dirty="0"/>
          </a:p>
        </p:txBody>
      </p:sp>
      <p:sp>
        <p:nvSpPr>
          <p:cNvPr id="14" name="Text 11"/>
          <p:cNvSpPr/>
          <p:nvPr/>
        </p:nvSpPr>
        <p:spPr>
          <a:xfrm>
            <a:off x="548640" y="2404872"/>
            <a:ext cx="1143000" cy="457200"/>
          </a:xfrm>
          <a:prstGeom prst="rect">
            <a:avLst/>
          </a:prstGeom>
          <a:noFill/>
          <a:ln/>
        </p:spPr>
        <p:txBody>
          <a:bodyPr wrap="square" lIns="0" tIns="0" rIns="0" bIns="0" rtlCol="0" anchor="ctr"/>
          <a:lstStyle/>
          <a:p>
            <a:pPr algn="l" indent="0" marL="0">
              <a:buNone/>
            </a:pPr>
            <a:r>
              <a:rPr lang="en-US" sz="1150" dirty="0">
                <a:solidFill>
                  <a:srgbClr val="9DB5AD"/>
                </a:solidFill>
                <a:latin typeface="Calibri" pitchFamily="34" charset="0"/>
                <a:ea typeface="Calibri" pitchFamily="34" charset="-122"/>
                <a:cs typeface="Calibri" pitchFamily="34" charset="-120"/>
              </a:rPr>
              <a:t>After</a:t>
            </a:r>
            <a:endParaRPr lang="en-US" sz="1150" dirty="0"/>
          </a:p>
        </p:txBody>
      </p:sp>
      <p:sp>
        <p:nvSpPr>
          <p:cNvPr id="15" name="Shape 12"/>
          <p:cNvSpPr/>
          <p:nvPr/>
        </p:nvSpPr>
        <p:spPr>
          <a:xfrm>
            <a:off x="1783080" y="2459736"/>
            <a:ext cx="915314" cy="347472"/>
          </a:xfrm>
          <a:prstGeom prst="roundRect">
            <a:avLst>
              <a:gd name="adj" fmla="val 13158"/>
            </a:avLst>
          </a:prstGeom>
          <a:solidFill>
            <a:srgbClr val="4FB39E"/>
          </a:solidFill>
          <a:ln w="12700">
            <a:solidFill>
              <a:srgbClr val="4FB39E"/>
            </a:solidFill>
            <a:prstDash val="solid"/>
          </a:ln>
        </p:spPr>
      </p:sp>
      <p:sp>
        <p:nvSpPr>
          <p:cNvPr id="16" name="Text 13"/>
          <p:cNvSpPr/>
          <p:nvPr/>
        </p:nvSpPr>
        <p:spPr>
          <a:xfrm>
            <a:off x="2808122" y="2404872"/>
            <a:ext cx="1280160" cy="457200"/>
          </a:xfrm>
          <a:prstGeom prst="rect">
            <a:avLst/>
          </a:prstGeom>
          <a:noFill/>
          <a:ln/>
        </p:spPr>
        <p:txBody>
          <a:bodyPr wrap="square" lIns="0" tIns="0" rIns="0" bIns="0" rtlCol="0" anchor="ctr"/>
          <a:lstStyle/>
          <a:p>
            <a:pPr algn="l" indent="0" marL="0">
              <a:buNone/>
            </a:pPr>
            <a:r>
              <a:rPr lang="en-US" sz="1100" b="1" dirty="0">
                <a:solidFill>
                  <a:srgbClr val="4FB39E"/>
                </a:solidFill>
                <a:latin typeface="Calibri" pitchFamily="34" charset="0"/>
                <a:ea typeface="Calibri" pitchFamily="34" charset="-122"/>
                <a:cs typeface="Calibri" pitchFamily="34" charset="-120"/>
              </a:rPr>
              <a:t>10-12 s</a:t>
            </a:r>
            <a:endParaRPr lang="en-US" sz="1100" dirty="0"/>
          </a:p>
        </p:txBody>
      </p:sp>
      <p:sp>
        <p:nvSpPr>
          <p:cNvPr id="17" name="Text 14"/>
          <p:cNvSpPr/>
          <p:nvPr/>
        </p:nvSpPr>
        <p:spPr>
          <a:xfrm>
            <a:off x="548640" y="3118104"/>
            <a:ext cx="1143000" cy="457200"/>
          </a:xfrm>
          <a:prstGeom prst="rect">
            <a:avLst/>
          </a:prstGeom>
          <a:noFill/>
          <a:ln/>
        </p:spPr>
        <p:txBody>
          <a:bodyPr wrap="square" lIns="0" tIns="0" rIns="0" bIns="0" rtlCol="0" anchor="ctr"/>
          <a:lstStyle/>
          <a:p>
            <a:pPr algn="l" indent="0" marL="0">
              <a:buNone/>
            </a:pPr>
            <a:r>
              <a:rPr lang="en-US" sz="1150" dirty="0">
                <a:solidFill>
                  <a:srgbClr val="9DB5AD"/>
                </a:solidFill>
                <a:latin typeface="Calibri" pitchFamily="34" charset="0"/>
                <a:ea typeface="Calibri" pitchFamily="34" charset="-122"/>
                <a:cs typeface="Calibri" pitchFamily="34" charset="-120"/>
              </a:rPr>
              <a:t>Identity</a:t>
            </a:r>
            <a:endParaRPr lang="en-US" sz="1150" dirty="0"/>
          </a:p>
        </p:txBody>
      </p:sp>
      <p:sp>
        <p:nvSpPr>
          <p:cNvPr id="18" name="Shape 15"/>
          <p:cNvSpPr/>
          <p:nvPr/>
        </p:nvSpPr>
        <p:spPr>
          <a:xfrm>
            <a:off x="1783080" y="3172968"/>
            <a:ext cx="82296" cy="347472"/>
          </a:xfrm>
          <a:prstGeom prst="roundRect">
            <a:avLst>
              <a:gd name="adj" fmla="val 55556"/>
            </a:avLst>
          </a:prstGeom>
          <a:solidFill>
            <a:srgbClr val="4FB39E"/>
          </a:solidFill>
          <a:ln w="12700">
            <a:solidFill>
              <a:srgbClr val="4FB39E"/>
            </a:solidFill>
            <a:prstDash val="solid"/>
          </a:ln>
        </p:spPr>
      </p:sp>
      <p:sp>
        <p:nvSpPr>
          <p:cNvPr id="19" name="Text 16"/>
          <p:cNvSpPr/>
          <p:nvPr/>
        </p:nvSpPr>
        <p:spPr>
          <a:xfrm>
            <a:off x="1975104" y="3118104"/>
            <a:ext cx="1280160" cy="457200"/>
          </a:xfrm>
          <a:prstGeom prst="rect">
            <a:avLst/>
          </a:prstGeom>
          <a:noFill/>
          <a:ln/>
        </p:spPr>
        <p:txBody>
          <a:bodyPr wrap="square" lIns="0" tIns="0" rIns="0" bIns="0" rtlCol="0" anchor="ctr"/>
          <a:lstStyle/>
          <a:p>
            <a:pPr algn="l" indent="0" marL="0">
              <a:buNone/>
            </a:pPr>
            <a:r>
              <a:rPr lang="en-US" sz="1100" b="1" dirty="0">
                <a:solidFill>
                  <a:srgbClr val="4FB39E"/>
                </a:solidFill>
                <a:latin typeface="Calibri" pitchFamily="34" charset="0"/>
                <a:ea typeface="Calibri" pitchFamily="34" charset="-122"/>
                <a:cs typeface="Calibri" pitchFamily="34" charset="-120"/>
              </a:rPr>
              <a:t>instant</a:t>
            </a:r>
            <a:endParaRPr lang="en-US" sz="1100" dirty="0"/>
          </a:p>
        </p:txBody>
      </p:sp>
      <p:sp>
        <p:nvSpPr>
          <p:cNvPr id="20" name="Text 17"/>
          <p:cNvSpPr/>
          <p:nvPr/>
        </p:nvSpPr>
        <p:spPr>
          <a:xfrm>
            <a:off x="6720840" y="1170432"/>
            <a:ext cx="4937760" cy="347472"/>
          </a:xfrm>
          <a:prstGeom prst="rect">
            <a:avLst/>
          </a:prstGeom>
          <a:noFill/>
          <a:ln/>
        </p:spPr>
        <p:txBody>
          <a:bodyPr wrap="square" lIns="0" tIns="0" rIns="0" bIns="0" rtlCol="0" anchor="ctr"/>
          <a:lstStyle/>
          <a:p>
            <a:pPr algn="l" indent="0" marL="0">
              <a:buNone/>
            </a:pPr>
            <a:r>
              <a:rPr lang="en-US" sz="1300" b="1" dirty="0">
                <a:solidFill>
                  <a:srgbClr val="F2F7F4"/>
                </a:solidFill>
                <a:latin typeface="Calibri" pitchFamily="34" charset="0"/>
                <a:ea typeface="Calibri" pitchFamily="34" charset="-122"/>
                <a:cs typeface="Calibri" pitchFamily="34" charset="-120"/>
              </a:rPr>
              <a:t>Knowledge base searches per question</a:t>
            </a:r>
            <a:endParaRPr lang="en-US" sz="1300" dirty="0"/>
          </a:p>
        </p:txBody>
      </p:sp>
      <p:sp>
        <p:nvSpPr>
          <p:cNvPr id="21" name="Text 18"/>
          <p:cNvSpPr/>
          <p:nvPr/>
        </p:nvSpPr>
        <p:spPr>
          <a:xfrm>
            <a:off x="6720840" y="1691640"/>
            <a:ext cx="1143000" cy="457200"/>
          </a:xfrm>
          <a:prstGeom prst="rect">
            <a:avLst/>
          </a:prstGeom>
          <a:noFill/>
          <a:ln/>
        </p:spPr>
        <p:txBody>
          <a:bodyPr wrap="square" lIns="0" tIns="0" rIns="0" bIns="0" rtlCol="0" anchor="ctr"/>
          <a:lstStyle/>
          <a:p>
            <a:pPr algn="l" indent="0" marL="0">
              <a:buNone/>
            </a:pPr>
            <a:r>
              <a:rPr lang="en-US" sz="1150" dirty="0">
                <a:solidFill>
                  <a:srgbClr val="9DB5AD"/>
                </a:solidFill>
                <a:latin typeface="Calibri" pitchFamily="34" charset="0"/>
                <a:ea typeface="Calibri" pitchFamily="34" charset="-122"/>
                <a:cs typeface="Calibri" pitchFamily="34" charset="-120"/>
              </a:rPr>
              <a:t>Before</a:t>
            </a:r>
            <a:endParaRPr lang="en-US" sz="1150" dirty="0"/>
          </a:p>
        </p:txBody>
      </p:sp>
      <p:sp>
        <p:nvSpPr>
          <p:cNvPr id="22" name="Shape 19"/>
          <p:cNvSpPr/>
          <p:nvPr/>
        </p:nvSpPr>
        <p:spPr>
          <a:xfrm>
            <a:off x="7955280" y="1746504"/>
            <a:ext cx="2800350" cy="347472"/>
          </a:xfrm>
          <a:prstGeom prst="roundRect">
            <a:avLst>
              <a:gd name="adj" fmla="val 13158"/>
            </a:avLst>
          </a:prstGeom>
          <a:solidFill>
            <a:srgbClr val="C29C55"/>
          </a:solidFill>
          <a:ln w="12700">
            <a:solidFill>
              <a:srgbClr val="C29C55"/>
            </a:solidFill>
            <a:prstDash val="solid"/>
          </a:ln>
        </p:spPr>
      </p:sp>
      <p:sp>
        <p:nvSpPr>
          <p:cNvPr id="23" name="Text 20"/>
          <p:cNvSpPr/>
          <p:nvPr/>
        </p:nvSpPr>
        <p:spPr>
          <a:xfrm>
            <a:off x="10865358" y="1691640"/>
            <a:ext cx="914400" cy="457200"/>
          </a:xfrm>
          <a:prstGeom prst="rect">
            <a:avLst/>
          </a:prstGeom>
          <a:noFill/>
          <a:ln/>
        </p:spPr>
        <p:txBody>
          <a:bodyPr wrap="square" lIns="0" tIns="0" rIns="0" bIns="0" rtlCol="0" anchor="ctr"/>
          <a:lstStyle/>
          <a:p>
            <a:pPr algn="l" indent="0" marL="0">
              <a:buNone/>
            </a:pPr>
            <a:r>
              <a:rPr lang="en-US" sz="1100" b="1" dirty="0">
                <a:solidFill>
                  <a:srgbClr val="E3CB9A"/>
                </a:solidFill>
                <a:latin typeface="Calibri" pitchFamily="34" charset="0"/>
                <a:ea typeface="Calibri" pitchFamily="34" charset="-122"/>
                <a:cs typeface="Calibri" pitchFamily="34" charset="-120"/>
              </a:rPr>
              <a:t>3-4</a:t>
            </a:r>
            <a:endParaRPr lang="en-US" sz="1100" dirty="0"/>
          </a:p>
        </p:txBody>
      </p:sp>
      <p:sp>
        <p:nvSpPr>
          <p:cNvPr id="24" name="Text 21"/>
          <p:cNvSpPr/>
          <p:nvPr/>
        </p:nvSpPr>
        <p:spPr>
          <a:xfrm>
            <a:off x="6720840" y="2404872"/>
            <a:ext cx="1143000" cy="457200"/>
          </a:xfrm>
          <a:prstGeom prst="rect">
            <a:avLst/>
          </a:prstGeom>
          <a:noFill/>
          <a:ln/>
        </p:spPr>
        <p:txBody>
          <a:bodyPr wrap="square" lIns="0" tIns="0" rIns="0" bIns="0" rtlCol="0" anchor="ctr"/>
          <a:lstStyle/>
          <a:p>
            <a:pPr algn="l" indent="0" marL="0">
              <a:buNone/>
            </a:pPr>
            <a:r>
              <a:rPr lang="en-US" sz="1150" dirty="0">
                <a:solidFill>
                  <a:srgbClr val="9DB5AD"/>
                </a:solidFill>
                <a:latin typeface="Calibri" pitchFamily="34" charset="0"/>
                <a:ea typeface="Calibri" pitchFamily="34" charset="-122"/>
                <a:cs typeface="Calibri" pitchFamily="34" charset="-120"/>
              </a:rPr>
              <a:t>After</a:t>
            </a:r>
            <a:endParaRPr lang="en-US" sz="1150" dirty="0"/>
          </a:p>
        </p:txBody>
      </p:sp>
      <p:sp>
        <p:nvSpPr>
          <p:cNvPr id="25" name="Shape 22"/>
          <p:cNvSpPr/>
          <p:nvPr/>
        </p:nvSpPr>
        <p:spPr>
          <a:xfrm>
            <a:off x="7955280" y="2459736"/>
            <a:ext cx="800100" cy="347472"/>
          </a:xfrm>
          <a:prstGeom prst="roundRect">
            <a:avLst>
              <a:gd name="adj" fmla="val 13158"/>
            </a:avLst>
          </a:prstGeom>
          <a:solidFill>
            <a:srgbClr val="4FB39E"/>
          </a:solidFill>
          <a:ln w="12700">
            <a:solidFill>
              <a:srgbClr val="4FB39E"/>
            </a:solidFill>
            <a:prstDash val="solid"/>
          </a:ln>
        </p:spPr>
      </p:sp>
      <p:sp>
        <p:nvSpPr>
          <p:cNvPr id="26" name="Text 23"/>
          <p:cNvSpPr/>
          <p:nvPr/>
        </p:nvSpPr>
        <p:spPr>
          <a:xfrm>
            <a:off x="8865108" y="2404872"/>
            <a:ext cx="914400" cy="457200"/>
          </a:xfrm>
          <a:prstGeom prst="rect">
            <a:avLst/>
          </a:prstGeom>
          <a:noFill/>
          <a:ln/>
        </p:spPr>
        <p:txBody>
          <a:bodyPr wrap="square" lIns="0" tIns="0" rIns="0" bIns="0" rtlCol="0" anchor="ctr"/>
          <a:lstStyle/>
          <a:p>
            <a:pPr algn="l" indent="0" marL="0">
              <a:buNone/>
            </a:pPr>
            <a:r>
              <a:rPr lang="en-US" sz="1100" b="1" dirty="0">
                <a:solidFill>
                  <a:srgbClr val="4FB39E"/>
                </a:solidFill>
                <a:latin typeface="Calibri" pitchFamily="34" charset="0"/>
                <a:ea typeface="Calibri" pitchFamily="34" charset="-122"/>
                <a:cs typeface="Calibri" pitchFamily="34" charset="-120"/>
              </a:rPr>
              <a:t>1</a:t>
            </a:r>
            <a:endParaRPr lang="en-US" sz="1100" dirty="0"/>
          </a:p>
        </p:txBody>
      </p:sp>
      <p:sp>
        <p:nvSpPr>
          <p:cNvPr id="27" name="Text 24"/>
          <p:cNvSpPr/>
          <p:nvPr/>
        </p:nvSpPr>
        <p:spPr>
          <a:xfrm>
            <a:off x="6720840" y="3118104"/>
            <a:ext cx="1143000" cy="457200"/>
          </a:xfrm>
          <a:prstGeom prst="rect">
            <a:avLst/>
          </a:prstGeom>
          <a:noFill/>
          <a:ln/>
        </p:spPr>
        <p:txBody>
          <a:bodyPr wrap="square" lIns="0" tIns="0" rIns="0" bIns="0" rtlCol="0" anchor="ctr"/>
          <a:lstStyle/>
          <a:p>
            <a:pPr algn="l" indent="0" marL="0">
              <a:buNone/>
            </a:pPr>
            <a:r>
              <a:rPr lang="en-US" sz="1150" dirty="0">
                <a:solidFill>
                  <a:srgbClr val="9DB5AD"/>
                </a:solidFill>
                <a:latin typeface="Calibri" pitchFamily="34" charset="0"/>
                <a:ea typeface="Calibri" pitchFamily="34" charset="-122"/>
                <a:cs typeface="Calibri" pitchFamily="34" charset="-120"/>
              </a:rPr>
              <a:t>Identity</a:t>
            </a:r>
            <a:endParaRPr lang="en-US" sz="1150" dirty="0"/>
          </a:p>
        </p:txBody>
      </p:sp>
      <p:sp>
        <p:nvSpPr>
          <p:cNvPr id="28" name="Shape 25"/>
          <p:cNvSpPr/>
          <p:nvPr/>
        </p:nvSpPr>
        <p:spPr>
          <a:xfrm>
            <a:off x="7955280" y="3172968"/>
            <a:ext cx="82296" cy="347472"/>
          </a:xfrm>
          <a:prstGeom prst="roundRect">
            <a:avLst>
              <a:gd name="adj" fmla="val 55556"/>
            </a:avLst>
          </a:prstGeom>
          <a:solidFill>
            <a:srgbClr val="4FB39E"/>
          </a:solidFill>
          <a:ln w="12700">
            <a:solidFill>
              <a:srgbClr val="4FB39E"/>
            </a:solidFill>
            <a:prstDash val="solid"/>
          </a:ln>
        </p:spPr>
      </p:sp>
      <p:sp>
        <p:nvSpPr>
          <p:cNvPr id="29" name="Text 26"/>
          <p:cNvSpPr/>
          <p:nvPr/>
        </p:nvSpPr>
        <p:spPr>
          <a:xfrm>
            <a:off x="8147304" y="3118104"/>
            <a:ext cx="914400" cy="457200"/>
          </a:xfrm>
          <a:prstGeom prst="rect">
            <a:avLst/>
          </a:prstGeom>
          <a:noFill/>
          <a:ln/>
        </p:spPr>
        <p:txBody>
          <a:bodyPr wrap="square" lIns="0" tIns="0" rIns="0" bIns="0" rtlCol="0" anchor="ctr"/>
          <a:lstStyle/>
          <a:p>
            <a:pPr algn="l" indent="0" marL="0">
              <a:buNone/>
            </a:pPr>
            <a:r>
              <a:rPr lang="en-US" sz="1100" b="1" dirty="0">
                <a:solidFill>
                  <a:srgbClr val="4FB39E"/>
                </a:solidFill>
                <a:latin typeface="Calibri" pitchFamily="34" charset="0"/>
                <a:ea typeface="Calibri" pitchFamily="34" charset="-122"/>
                <a:cs typeface="Calibri" pitchFamily="34" charset="-120"/>
              </a:rPr>
              <a:t>0</a:t>
            </a:r>
            <a:endParaRPr lang="en-US" sz="1100" dirty="0"/>
          </a:p>
        </p:txBody>
      </p:sp>
      <p:sp>
        <p:nvSpPr>
          <p:cNvPr id="30" name="Shape 27"/>
          <p:cNvSpPr/>
          <p:nvPr/>
        </p:nvSpPr>
        <p:spPr>
          <a:xfrm>
            <a:off x="548640" y="4206240"/>
            <a:ext cx="3566160" cy="1371600"/>
          </a:xfrm>
          <a:prstGeom prst="roundRect">
            <a:avLst>
              <a:gd name="adj" fmla="val 5333"/>
            </a:avLst>
          </a:prstGeom>
          <a:solidFill>
            <a:srgbClr val="0B2E27"/>
          </a:solidFill>
          <a:ln w="12700">
            <a:solidFill>
              <a:srgbClr val="1D4A3F"/>
            </a:solidFill>
            <a:prstDash val="solid"/>
          </a:ln>
        </p:spPr>
      </p:sp>
      <p:sp>
        <p:nvSpPr>
          <p:cNvPr id="31" name="Text 28"/>
          <p:cNvSpPr/>
          <p:nvPr/>
        </p:nvSpPr>
        <p:spPr>
          <a:xfrm>
            <a:off x="685800" y="4279392"/>
            <a:ext cx="3291840" cy="754380"/>
          </a:xfrm>
          <a:prstGeom prst="rect">
            <a:avLst/>
          </a:prstGeom>
          <a:noFill/>
          <a:ln/>
        </p:spPr>
        <p:txBody>
          <a:bodyPr wrap="square" lIns="0" tIns="0" rIns="0" bIns="0" rtlCol="0" anchor="ctr"/>
          <a:lstStyle/>
          <a:p>
            <a:pPr algn="ctr" indent="0" marL="0">
              <a:buNone/>
            </a:pPr>
            <a:r>
              <a:rPr lang="en-US" sz="3000" b="1" dirty="0">
                <a:solidFill>
                  <a:srgbClr val="4FB39E"/>
                </a:solidFill>
                <a:latin typeface="Calibri" pitchFamily="34" charset="0"/>
                <a:ea typeface="Calibri" pitchFamily="34" charset="-122"/>
                <a:cs typeface="Calibri" pitchFamily="34" charset="-120"/>
              </a:rPr>
              <a:t>3-4x</a:t>
            </a:r>
            <a:endParaRPr lang="en-US" sz="3000" dirty="0"/>
          </a:p>
        </p:txBody>
      </p:sp>
      <p:sp>
        <p:nvSpPr>
          <p:cNvPr id="32" name="Text 29"/>
          <p:cNvSpPr/>
          <p:nvPr/>
        </p:nvSpPr>
        <p:spPr>
          <a:xfrm>
            <a:off x="685800" y="5001768"/>
            <a:ext cx="3291840" cy="521208"/>
          </a:xfrm>
          <a:prstGeom prst="rect">
            <a:avLst/>
          </a:prstGeom>
          <a:noFill/>
          <a:ln/>
        </p:spPr>
        <p:txBody>
          <a:bodyPr wrap="square" lIns="0" tIns="0" rIns="0" bIns="0" rtlCol="0" anchor="t"/>
          <a:lstStyle/>
          <a:p>
            <a:pPr algn="ctr" indent="0" marL="0">
              <a:buNone/>
            </a:pPr>
            <a:r>
              <a:rPr lang="en-US" sz="1050" dirty="0">
                <a:solidFill>
                  <a:srgbClr val="9DB5AD"/>
                </a:solidFill>
                <a:latin typeface="Calibri" pitchFamily="34" charset="0"/>
                <a:ea typeface="Calibri" pitchFamily="34" charset="-122"/>
                <a:cs typeface="Calibri" pitchFamily="34" charset="-120"/>
              </a:rPr>
              <a:t>faster on framework questions</a:t>
            </a:r>
            <a:endParaRPr lang="en-US" sz="1050" dirty="0"/>
          </a:p>
        </p:txBody>
      </p:sp>
      <p:sp>
        <p:nvSpPr>
          <p:cNvPr id="33" name="Shape 30"/>
          <p:cNvSpPr/>
          <p:nvPr/>
        </p:nvSpPr>
        <p:spPr>
          <a:xfrm>
            <a:off x="4315968" y="4206240"/>
            <a:ext cx="3566160" cy="1371600"/>
          </a:xfrm>
          <a:prstGeom prst="roundRect">
            <a:avLst>
              <a:gd name="adj" fmla="val 5333"/>
            </a:avLst>
          </a:prstGeom>
          <a:solidFill>
            <a:srgbClr val="0B2E27"/>
          </a:solidFill>
          <a:ln w="12700">
            <a:solidFill>
              <a:srgbClr val="1D4A3F"/>
            </a:solidFill>
            <a:prstDash val="solid"/>
          </a:ln>
        </p:spPr>
      </p:sp>
      <p:sp>
        <p:nvSpPr>
          <p:cNvPr id="34" name="Text 31"/>
          <p:cNvSpPr/>
          <p:nvPr/>
        </p:nvSpPr>
        <p:spPr>
          <a:xfrm>
            <a:off x="4453128" y="4279392"/>
            <a:ext cx="3291840" cy="754380"/>
          </a:xfrm>
          <a:prstGeom prst="rect">
            <a:avLst/>
          </a:prstGeom>
          <a:noFill/>
          <a:ln/>
        </p:spPr>
        <p:txBody>
          <a:bodyPr wrap="square" lIns="0" tIns="0" rIns="0" bIns="0" rtlCol="0" anchor="ctr"/>
          <a:lstStyle/>
          <a:p>
            <a:pPr algn="ctr" indent="0" marL="0">
              <a:buNone/>
            </a:pPr>
            <a:r>
              <a:rPr lang="en-US" sz="3000" b="1" dirty="0">
                <a:solidFill>
                  <a:srgbClr val="4FB39E"/>
                </a:solidFill>
                <a:latin typeface="Calibri" pitchFamily="34" charset="0"/>
                <a:ea typeface="Calibri" pitchFamily="34" charset="-122"/>
                <a:cs typeface="Calibri" pitchFamily="34" charset="-120"/>
              </a:rPr>
              <a:t>75%</a:t>
            </a:r>
            <a:endParaRPr lang="en-US" sz="3000" dirty="0"/>
          </a:p>
        </p:txBody>
      </p:sp>
      <p:sp>
        <p:nvSpPr>
          <p:cNvPr id="35" name="Text 32"/>
          <p:cNvSpPr/>
          <p:nvPr/>
        </p:nvSpPr>
        <p:spPr>
          <a:xfrm>
            <a:off x="4453128" y="5001768"/>
            <a:ext cx="3291840" cy="521208"/>
          </a:xfrm>
          <a:prstGeom prst="rect">
            <a:avLst/>
          </a:prstGeom>
          <a:noFill/>
          <a:ln/>
        </p:spPr>
        <p:txBody>
          <a:bodyPr wrap="square" lIns="0" tIns="0" rIns="0" bIns="0" rtlCol="0" anchor="t"/>
          <a:lstStyle/>
          <a:p>
            <a:pPr algn="ctr" indent="0" marL="0">
              <a:buNone/>
            </a:pPr>
            <a:r>
              <a:rPr lang="en-US" sz="1050" dirty="0">
                <a:solidFill>
                  <a:srgbClr val="9DB5AD"/>
                </a:solidFill>
                <a:latin typeface="Calibri" pitchFamily="34" charset="0"/>
                <a:ea typeface="Calibri" pitchFamily="34" charset="-122"/>
                <a:cs typeface="Calibri" pitchFamily="34" charset="-120"/>
              </a:rPr>
              <a:t>fewer retrievals on the direct path</a:t>
            </a:r>
            <a:endParaRPr lang="en-US" sz="1050" dirty="0"/>
          </a:p>
        </p:txBody>
      </p:sp>
      <p:sp>
        <p:nvSpPr>
          <p:cNvPr id="36" name="Shape 33"/>
          <p:cNvSpPr/>
          <p:nvPr/>
        </p:nvSpPr>
        <p:spPr>
          <a:xfrm>
            <a:off x="8083296" y="4206240"/>
            <a:ext cx="3566160" cy="1371600"/>
          </a:xfrm>
          <a:prstGeom prst="roundRect">
            <a:avLst>
              <a:gd name="adj" fmla="val 5333"/>
            </a:avLst>
          </a:prstGeom>
          <a:solidFill>
            <a:srgbClr val="0B2E27"/>
          </a:solidFill>
          <a:ln w="12700">
            <a:solidFill>
              <a:srgbClr val="1D4A3F"/>
            </a:solidFill>
            <a:prstDash val="solid"/>
          </a:ln>
        </p:spPr>
      </p:sp>
      <p:sp>
        <p:nvSpPr>
          <p:cNvPr id="37" name="Text 34"/>
          <p:cNvSpPr/>
          <p:nvPr/>
        </p:nvSpPr>
        <p:spPr>
          <a:xfrm>
            <a:off x="8220456" y="4279392"/>
            <a:ext cx="3291840" cy="754380"/>
          </a:xfrm>
          <a:prstGeom prst="rect">
            <a:avLst/>
          </a:prstGeom>
          <a:noFill/>
          <a:ln/>
        </p:spPr>
        <p:txBody>
          <a:bodyPr wrap="square" lIns="0" tIns="0" rIns="0" bIns="0" rtlCol="0" anchor="ctr"/>
          <a:lstStyle/>
          <a:p>
            <a:pPr algn="ctr" indent="0" marL="0">
              <a:buNone/>
            </a:pPr>
            <a:r>
              <a:rPr lang="en-US" sz="3000" b="1" dirty="0">
                <a:solidFill>
                  <a:srgbClr val="C29C55"/>
                </a:solidFill>
                <a:latin typeface="Calibri" pitchFamily="34" charset="0"/>
                <a:ea typeface="Calibri" pitchFamily="34" charset="-122"/>
                <a:cs typeface="Calibri" pitchFamily="34" charset="-120"/>
              </a:rPr>
              <a:t>0</a:t>
            </a:r>
            <a:endParaRPr lang="en-US" sz="3000" dirty="0"/>
          </a:p>
        </p:txBody>
      </p:sp>
      <p:sp>
        <p:nvSpPr>
          <p:cNvPr id="38" name="Text 35"/>
          <p:cNvSpPr/>
          <p:nvPr/>
        </p:nvSpPr>
        <p:spPr>
          <a:xfrm>
            <a:off x="8220456" y="5001768"/>
            <a:ext cx="3291840" cy="521208"/>
          </a:xfrm>
          <a:prstGeom prst="rect">
            <a:avLst/>
          </a:prstGeom>
          <a:noFill/>
          <a:ln/>
        </p:spPr>
        <p:txBody>
          <a:bodyPr wrap="square" lIns="0" tIns="0" rIns="0" bIns="0" rtlCol="0" anchor="t"/>
          <a:lstStyle/>
          <a:p>
            <a:pPr algn="ctr" indent="0" marL="0">
              <a:buNone/>
            </a:pPr>
            <a:r>
              <a:rPr lang="en-US" sz="1050" dirty="0">
                <a:solidFill>
                  <a:srgbClr val="9DB5AD"/>
                </a:solidFill>
                <a:latin typeface="Calibri" pitchFamily="34" charset="0"/>
                <a:ea typeface="Calibri" pitchFamily="34" charset="-122"/>
                <a:cs typeface="Calibri" pitchFamily="34" charset="-120"/>
              </a:rPr>
              <a:t>agent builds for identity questions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Routing tests, all passing</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Every class of question lands on the intended path.</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15</a:t>
            </a:r>
            <a:endParaRPr lang="en-US" sz="85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1672" cy="914400"/>
        </p:xfrm>
        <a:graphic>
          <a:graphicData uri="http://schemas.openxmlformats.org/drawingml/2006/table">
            <a:tbl>
              <a:tblPr/>
              <a:tblGrid>
                <a:gridCol w="3520440"/>
                <a:gridCol w="2468880"/>
                <a:gridCol w="2011680"/>
                <a:gridCol w="1737360"/>
                <a:gridCol w="1353312"/>
              </a:tblGrid>
              <a:tr h="621792">
                <a:tc>
                  <a:txBody>
                    <a:bodyPr/>
                    <a:lstStyle/>
                    <a:p>
                      <a:pPr indent="0" marL="0">
                        <a:buNone/>
                      </a:pPr>
                      <a:r>
                        <a:rPr lang="en-US" sz="1150" b="1" dirty="0">
                          <a:solidFill>
                            <a:srgbClr val="F2F7F4"/>
                          </a:solidFill>
                          <a:latin typeface="Calibri" pitchFamily="34" charset="0"/>
                          <a:ea typeface="Calibri" pitchFamily="34" charset="-122"/>
                          <a:cs typeface="Calibri" pitchFamily="34" charset="-120"/>
                        </a:rPr>
                        <a:t>Test query</a:t>
                      </a:r>
                      <a:endParaRPr lang="en-US" sz="115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F3A31"/>
                    </a:solidFill>
                  </a:tcPr>
                </a:tc>
                <a:tc>
                  <a:txBody>
                    <a:bodyPr/>
                    <a:lstStyle/>
                    <a:p>
                      <a:pPr indent="0" marL="0">
                        <a:buNone/>
                      </a:pPr>
                      <a:r>
                        <a:rPr lang="en-US" sz="1150" b="1" dirty="0">
                          <a:solidFill>
                            <a:srgbClr val="F2F7F4"/>
                          </a:solidFill>
                          <a:latin typeface="Calibri" pitchFamily="34" charset="0"/>
                          <a:ea typeface="Calibri" pitchFamily="34" charset="-122"/>
                          <a:cs typeface="Calibri" pitchFamily="34" charset="-120"/>
                        </a:rPr>
                        <a:t>Route chosen</a:t>
                      </a:r>
                      <a:endParaRPr lang="en-US" sz="115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F3A31"/>
                    </a:solidFill>
                  </a:tcPr>
                </a:tc>
                <a:tc>
                  <a:txBody>
                    <a:bodyPr/>
                    <a:lstStyle/>
                    <a:p>
                      <a:pPr indent="0" marL="0">
                        <a:buNone/>
                      </a:pPr>
                      <a:r>
                        <a:rPr lang="en-US" sz="1150" b="1" dirty="0">
                          <a:solidFill>
                            <a:srgbClr val="F2F7F4"/>
                          </a:solidFill>
                          <a:latin typeface="Calibri" pitchFamily="34" charset="0"/>
                          <a:ea typeface="Calibri" pitchFamily="34" charset="-122"/>
                          <a:cs typeface="Calibri" pitchFamily="34" charset="-120"/>
                        </a:rPr>
                        <a:t>Searches</a:t>
                      </a:r>
                      <a:endParaRPr lang="en-US" sz="115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F3A31"/>
                    </a:solidFill>
                  </a:tcPr>
                </a:tc>
                <a:tc>
                  <a:txBody>
                    <a:bodyPr/>
                    <a:lstStyle/>
                    <a:p>
                      <a:pPr indent="0" marL="0">
                        <a:buNone/>
                      </a:pPr>
                      <a:r>
                        <a:rPr lang="en-US" sz="1150" b="1" dirty="0">
                          <a:solidFill>
                            <a:srgbClr val="F2F7F4"/>
                          </a:solidFill>
                          <a:latin typeface="Calibri" pitchFamily="34" charset="0"/>
                          <a:ea typeface="Calibri" pitchFamily="34" charset="-122"/>
                          <a:cs typeface="Calibri" pitchFamily="34" charset="-120"/>
                        </a:rPr>
                        <a:t>Agent built</a:t>
                      </a:r>
                      <a:endParaRPr lang="en-US" sz="115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F3A31"/>
                    </a:solidFill>
                  </a:tcPr>
                </a:tc>
                <a:tc>
                  <a:txBody>
                    <a:bodyPr/>
                    <a:lstStyle/>
                    <a:p>
                      <a:pPr indent="0" marL="0">
                        <a:buNone/>
                      </a:pPr>
                      <a:r>
                        <a:rPr lang="en-US" sz="1150" b="1" dirty="0">
                          <a:solidFill>
                            <a:srgbClr val="F2F7F4"/>
                          </a:solidFill>
                          <a:latin typeface="Calibri" pitchFamily="34" charset="0"/>
                          <a:ea typeface="Calibri" pitchFamily="34" charset="-122"/>
                          <a:cs typeface="Calibri" pitchFamily="34" charset="-120"/>
                        </a:rPr>
                        <a:t>Result</a:t>
                      </a:r>
                      <a:endParaRPr lang="en-US" sz="115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F3A31"/>
                    </a:solidFill>
                  </a:tcPr>
                </a:tc>
              </a:tr>
              <a:tr h="621792">
                <a:tc>
                  <a:txBody>
                    <a:bodyPr/>
                    <a:lstStyle/>
                    <a:p>
                      <a:pPr indent="0" marL="0">
                        <a:buNone/>
                      </a:pPr>
                      <a:r>
                        <a:rPr lang="en-US" sz="1050" dirty="0">
                          <a:solidFill>
                            <a:srgbClr val="E3CB9A"/>
                          </a:solidFill>
                          <a:latin typeface="Courier New" pitchFamily="34" charset="0"/>
                          <a:ea typeface="Courier New" pitchFamily="34" charset="-122"/>
                          <a:cs typeface="Courier New" pitchFamily="34" charset="-120"/>
                        </a:rPr>
                        <a:t>Talk about yourself</a:t>
                      </a:r>
                      <a:endParaRPr lang="en-US" sz="1050" dirty="0">
                        <a:latin typeface="Courier New" charset="0"/>
                        <a:ea typeface="Courier New" charset="0"/>
                        <a:cs typeface="Courier New"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B2E27"/>
                    </a:solidFill>
                  </a:tcPr>
                </a:tc>
                <a:tc>
                  <a:txBody>
                    <a:bodyPr/>
                    <a:lstStyle/>
                    <a:p>
                      <a:pPr indent="0" marL="0">
                        <a:buNone/>
                      </a:pPr>
                      <a:r>
                        <a:rPr lang="en-US" sz="1100" dirty="0">
                          <a:solidFill>
                            <a:srgbClr val="F2F7F4"/>
                          </a:solidFill>
                          <a:latin typeface="Calibri" pitchFamily="34" charset="0"/>
                          <a:ea typeface="Calibri" pitchFamily="34" charset="-122"/>
                          <a:cs typeface="Calibri" pitchFamily="34" charset="-120"/>
                        </a:rPr>
                        <a:t>Identity</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B2E27"/>
                    </a:solidFill>
                  </a:tcPr>
                </a:tc>
                <a:tc>
                  <a:txBody>
                    <a:bodyPr/>
                    <a:lstStyle/>
                    <a:p>
                      <a:pPr indent="0" marL="0">
                        <a:buNone/>
                      </a:pPr>
                      <a:r>
                        <a:rPr lang="en-US" sz="1100" dirty="0">
                          <a:solidFill>
                            <a:srgbClr val="F2F7F4"/>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B2E27"/>
                    </a:solidFill>
                  </a:tcPr>
                </a:tc>
                <a:tc>
                  <a:txBody>
                    <a:bodyPr/>
                    <a:lstStyle/>
                    <a:p>
                      <a:pPr indent="0" marL="0">
                        <a:buNone/>
                      </a:pPr>
                      <a:r>
                        <a:rPr lang="en-US" sz="1100" dirty="0">
                          <a:solidFill>
                            <a:srgbClr val="9DB5AD"/>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B2E27"/>
                    </a:solidFill>
                  </a:tcPr>
                </a:tc>
                <a:tc>
                  <a:txBody>
                    <a:bodyPr/>
                    <a:lstStyle/>
                    <a:p>
                      <a:pPr algn="ctr" indent="0" marL="0">
                        <a:buNone/>
                      </a:pPr>
                      <a:r>
                        <a:rPr lang="en-US" sz="1100" b="1" dirty="0">
                          <a:solidFill>
                            <a:srgbClr val="4FB39E"/>
                          </a:solidFill>
                          <a:latin typeface="Calibri" pitchFamily="34" charset="0"/>
                          <a:ea typeface="Calibri" pitchFamily="34" charset="-122"/>
                          <a:cs typeface="Calibri" pitchFamily="34" charset="-120"/>
                        </a:rPr>
                        <a:t>✓ pass</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B2E27"/>
                    </a:solidFill>
                  </a:tcPr>
                </a:tc>
              </a:tr>
              <a:tr h="621792">
                <a:tc>
                  <a:txBody>
                    <a:bodyPr/>
                    <a:lstStyle/>
                    <a:p>
                      <a:pPr indent="0" marL="0">
                        <a:buNone/>
                      </a:pPr>
                      <a:r>
                        <a:rPr lang="en-US" sz="1050" dirty="0">
                          <a:solidFill>
                            <a:srgbClr val="E3CB9A"/>
                          </a:solidFill>
                          <a:latin typeface="Courier New" pitchFamily="34" charset="0"/>
                          <a:ea typeface="Courier New" pitchFamily="34" charset="-122"/>
                          <a:cs typeface="Courier New" pitchFamily="34" charset="-120"/>
                        </a:rPr>
                        <a:t>Who are you?</a:t>
                      </a:r>
                      <a:endParaRPr lang="en-US" sz="1050" dirty="0">
                        <a:latin typeface="Courier New" charset="0"/>
                        <a:ea typeface="Courier New" charset="0"/>
                        <a:cs typeface="Courier New"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6211B"/>
                    </a:solidFill>
                  </a:tcPr>
                </a:tc>
                <a:tc>
                  <a:txBody>
                    <a:bodyPr/>
                    <a:lstStyle/>
                    <a:p>
                      <a:pPr indent="0" marL="0">
                        <a:buNone/>
                      </a:pPr>
                      <a:r>
                        <a:rPr lang="en-US" sz="1100" dirty="0">
                          <a:solidFill>
                            <a:srgbClr val="F2F7F4"/>
                          </a:solidFill>
                          <a:latin typeface="Calibri" pitchFamily="34" charset="0"/>
                          <a:ea typeface="Calibri" pitchFamily="34" charset="-122"/>
                          <a:cs typeface="Calibri" pitchFamily="34" charset="-120"/>
                        </a:rPr>
                        <a:t>Identity</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6211B"/>
                    </a:solidFill>
                  </a:tcPr>
                </a:tc>
                <a:tc>
                  <a:txBody>
                    <a:bodyPr/>
                    <a:lstStyle/>
                    <a:p>
                      <a:pPr indent="0" marL="0">
                        <a:buNone/>
                      </a:pPr>
                      <a:r>
                        <a:rPr lang="en-US" sz="1100" dirty="0">
                          <a:solidFill>
                            <a:srgbClr val="F2F7F4"/>
                          </a:solidFill>
                          <a:latin typeface="Calibri" pitchFamily="34" charset="0"/>
                          <a:ea typeface="Calibri" pitchFamily="34" charset="-122"/>
                          <a:cs typeface="Calibri" pitchFamily="34" charset="-120"/>
                        </a:rPr>
                        <a:t>0</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6211B"/>
                    </a:solidFill>
                  </a:tcPr>
                </a:tc>
                <a:tc>
                  <a:txBody>
                    <a:bodyPr/>
                    <a:lstStyle/>
                    <a:p>
                      <a:pPr indent="0" marL="0">
                        <a:buNone/>
                      </a:pPr>
                      <a:r>
                        <a:rPr lang="en-US" sz="1100" dirty="0">
                          <a:solidFill>
                            <a:srgbClr val="9DB5AD"/>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6211B"/>
                    </a:solidFill>
                  </a:tcPr>
                </a:tc>
                <a:tc>
                  <a:txBody>
                    <a:bodyPr/>
                    <a:lstStyle/>
                    <a:p>
                      <a:pPr algn="ctr" indent="0" marL="0">
                        <a:buNone/>
                      </a:pPr>
                      <a:r>
                        <a:rPr lang="en-US" sz="1100" b="1" dirty="0">
                          <a:solidFill>
                            <a:srgbClr val="4FB39E"/>
                          </a:solidFill>
                          <a:latin typeface="Calibri" pitchFamily="34" charset="0"/>
                          <a:ea typeface="Calibri" pitchFamily="34" charset="-122"/>
                          <a:cs typeface="Calibri" pitchFamily="34" charset="-120"/>
                        </a:rPr>
                        <a:t>✓ pass</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6211B"/>
                    </a:solidFill>
                  </a:tcPr>
                </a:tc>
              </a:tr>
              <a:tr h="621792">
                <a:tc>
                  <a:txBody>
                    <a:bodyPr/>
                    <a:lstStyle/>
                    <a:p>
                      <a:pPr indent="0" marL="0">
                        <a:buNone/>
                      </a:pPr>
                      <a:r>
                        <a:rPr lang="en-US" sz="1050" dirty="0">
                          <a:solidFill>
                            <a:srgbClr val="E3CB9A"/>
                          </a:solidFill>
                          <a:latin typeface="Courier New" pitchFamily="34" charset="0"/>
                          <a:ea typeface="Courier New" pitchFamily="34" charset="-122"/>
                          <a:cs typeface="Courier New" pitchFamily="34" charset="-120"/>
                        </a:rPr>
                        <a:t>Explain OWASP</a:t>
                      </a:r>
                      <a:endParaRPr lang="en-US" sz="1050" dirty="0">
                        <a:latin typeface="Courier New" charset="0"/>
                        <a:ea typeface="Courier New" charset="0"/>
                        <a:cs typeface="Courier New"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B2E27"/>
                    </a:solidFill>
                  </a:tcPr>
                </a:tc>
                <a:tc>
                  <a:txBody>
                    <a:bodyPr/>
                    <a:lstStyle/>
                    <a:p>
                      <a:pPr indent="0" marL="0">
                        <a:buNone/>
                      </a:pPr>
                      <a:r>
                        <a:rPr lang="en-US" sz="1100" dirty="0">
                          <a:solidFill>
                            <a:srgbClr val="F2F7F4"/>
                          </a:solidFill>
                          <a:latin typeface="Calibri" pitchFamily="34" charset="0"/>
                          <a:ea typeface="Calibri" pitchFamily="34" charset="-122"/>
                          <a:cs typeface="Calibri" pitchFamily="34" charset="-120"/>
                        </a:rPr>
                        <a:t>Single topic</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B2E27"/>
                    </a:solidFill>
                  </a:tcPr>
                </a:tc>
                <a:tc>
                  <a:txBody>
                    <a:bodyPr/>
                    <a:lstStyle/>
                    <a:p>
                      <a:pPr indent="0" marL="0">
                        <a:buNone/>
                      </a:pPr>
                      <a:r>
                        <a:rPr lang="en-US" sz="1100" dirty="0">
                          <a:solidFill>
                            <a:srgbClr val="F2F7F4"/>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B2E27"/>
                    </a:solidFill>
                  </a:tcPr>
                </a:tc>
                <a:tc>
                  <a:txBody>
                    <a:bodyPr/>
                    <a:lstStyle/>
                    <a:p>
                      <a:pPr indent="0" marL="0">
                        <a:buNone/>
                      </a:pPr>
                      <a:r>
                        <a:rPr lang="en-US" sz="1100" dirty="0">
                          <a:solidFill>
                            <a:srgbClr val="9DB5AD"/>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B2E27"/>
                    </a:solidFill>
                  </a:tcPr>
                </a:tc>
                <a:tc>
                  <a:txBody>
                    <a:bodyPr/>
                    <a:lstStyle/>
                    <a:p>
                      <a:pPr algn="ctr" indent="0" marL="0">
                        <a:buNone/>
                      </a:pPr>
                      <a:r>
                        <a:rPr lang="en-US" sz="1100" b="1" dirty="0">
                          <a:solidFill>
                            <a:srgbClr val="4FB39E"/>
                          </a:solidFill>
                          <a:latin typeface="Calibri" pitchFamily="34" charset="0"/>
                          <a:ea typeface="Calibri" pitchFamily="34" charset="-122"/>
                          <a:cs typeface="Calibri" pitchFamily="34" charset="-120"/>
                        </a:rPr>
                        <a:t>✓ pass</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B2E27"/>
                    </a:solidFill>
                  </a:tcPr>
                </a:tc>
              </a:tr>
              <a:tr h="621792">
                <a:tc>
                  <a:txBody>
                    <a:bodyPr/>
                    <a:lstStyle/>
                    <a:p>
                      <a:pPr indent="0" marL="0">
                        <a:buNone/>
                      </a:pPr>
                      <a:r>
                        <a:rPr lang="en-US" sz="1050" dirty="0">
                          <a:solidFill>
                            <a:srgbClr val="E3CB9A"/>
                          </a:solidFill>
                          <a:latin typeface="Courier New" pitchFamily="34" charset="0"/>
                          <a:ea typeface="Courier New" pitchFamily="34" charset="-122"/>
                          <a:cs typeface="Courier New" pitchFamily="34" charset="-120"/>
                        </a:rPr>
                        <a:t>Explain NIST</a:t>
                      </a:r>
                      <a:endParaRPr lang="en-US" sz="1050" dirty="0">
                        <a:latin typeface="Courier New" charset="0"/>
                        <a:ea typeface="Courier New" charset="0"/>
                        <a:cs typeface="Courier New"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6211B"/>
                    </a:solidFill>
                  </a:tcPr>
                </a:tc>
                <a:tc>
                  <a:txBody>
                    <a:bodyPr/>
                    <a:lstStyle/>
                    <a:p>
                      <a:pPr indent="0" marL="0">
                        <a:buNone/>
                      </a:pPr>
                      <a:r>
                        <a:rPr lang="en-US" sz="1100" dirty="0">
                          <a:solidFill>
                            <a:srgbClr val="F2F7F4"/>
                          </a:solidFill>
                          <a:latin typeface="Calibri" pitchFamily="34" charset="0"/>
                          <a:ea typeface="Calibri" pitchFamily="34" charset="-122"/>
                          <a:cs typeface="Calibri" pitchFamily="34" charset="-120"/>
                        </a:rPr>
                        <a:t>Single topic</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6211B"/>
                    </a:solidFill>
                  </a:tcPr>
                </a:tc>
                <a:tc>
                  <a:txBody>
                    <a:bodyPr/>
                    <a:lstStyle/>
                    <a:p>
                      <a:pPr indent="0" marL="0">
                        <a:buNone/>
                      </a:pPr>
                      <a:r>
                        <a:rPr lang="en-US" sz="1100" dirty="0">
                          <a:solidFill>
                            <a:srgbClr val="F2F7F4"/>
                          </a:solidFill>
                          <a:latin typeface="Calibri" pitchFamily="34" charset="0"/>
                          <a:ea typeface="Calibri" pitchFamily="34" charset="-122"/>
                          <a:cs typeface="Calibri" pitchFamily="34" charset="-120"/>
                        </a:rPr>
                        <a:t>1</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6211B"/>
                    </a:solidFill>
                  </a:tcPr>
                </a:tc>
                <a:tc>
                  <a:txBody>
                    <a:bodyPr/>
                    <a:lstStyle/>
                    <a:p>
                      <a:pPr indent="0" marL="0">
                        <a:buNone/>
                      </a:pPr>
                      <a:r>
                        <a:rPr lang="en-US" sz="1100" dirty="0">
                          <a:solidFill>
                            <a:srgbClr val="9DB5AD"/>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6211B"/>
                    </a:solidFill>
                  </a:tcPr>
                </a:tc>
                <a:tc>
                  <a:txBody>
                    <a:bodyPr/>
                    <a:lstStyle/>
                    <a:p>
                      <a:pPr algn="ctr" indent="0" marL="0">
                        <a:buNone/>
                      </a:pPr>
                      <a:r>
                        <a:rPr lang="en-US" sz="1100" b="1" dirty="0">
                          <a:solidFill>
                            <a:srgbClr val="4FB39E"/>
                          </a:solidFill>
                          <a:latin typeface="Calibri" pitchFamily="34" charset="0"/>
                          <a:ea typeface="Calibri" pitchFamily="34" charset="-122"/>
                          <a:cs typeface="Calibri" pitchFamily="34" charset="-120"/>
                        </a:rPr>
                        <a:t>✓ pass</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6211B"/>
                    </a:solidFill>
                  </a:tcPr>
                </a:tc>
              </a:tr>
              <a:tr h="621792">
                <a:tc>
                  <a:txBody>
                    <a:bodyPr/>
                    <a:lstStyle/>
                    <a:p>
                      <a:pPr indent="0" marL="0">
                        <a:buNone/>
                      </a:pPr>
                      <a:r>
                        <a:rPr lang="en-US" sz="1050" dirty="0">
                          <a:solidFill>
                            <a:srgbClr val="E3CB9A"/>
                          </a:solidFill>
                          <a:latin typeface="Courier New" pitchFamily="34" charset="0"/>
                          <a:ea typeface="Courier New" pitchFamily="34" charset="-122"/>
                          <a:cs typeface="Courier New" pitchFamily="34" charset="-120"/>
                        </a:rPr>
                        <a:t>Compare NIST vs OWASP</a:t>
                      </a:r>
                      <a:endParaRPr lang="en-US" sz="1050" dirty="0">
                        <a:latin typeface="Courier New" charset="0"/>
                        <a:ea typeface="Courier New" charset="0"/>
                        <a:cs typeface="Courier New"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B2E27"/>
                    </a:solidFill>
                  </a:tcPr>
                </a:tc>
                <a:tc>
                  <a:txBody>
                    <a:bodyPr/>
                    <a:lstStyle/>
                    <a:p>
                      <a:pPr indent="0" marL="0">
                        <a:buNone/>
                      </a:pPr>
                      <a:r>
                        <a:rPr lang="en-US" sz="1100" dirty="0">
                          <a:solidFill>
                            <a:srgbClr val="F2F7F4"/>
                          </a:solidFill>
                          <a:latin typeface="Calibri" pitchFamily="34" charset="0"/>
                          <a:ea typeface="Calibri" pitchFamily="34" charset="-122"/>
                          <a:cs typeface="Calibri" pitchFamily="34" charset="-120"/>
                        </a:rPr>
                        <a:t>Parallel comparison</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B2E27"/>
                    </a:solidFill>
                  </a:tcPr>
                </a:tc>
                <a:tc>
                  <a:txBody>
                    <a:bodyPr/>
                    <a:lstStyle/>
                    <a:p>
                      <a:pPr indent="0" marL="0">
                        <a:buNone/>
                      </a:pPr>
                      <a:r>
                        <a:rPr lang="en-US" sz="1100" dirty="0">
                          <a:solidFill>
                            <a:srgbClr val="F2F7F4"/>
                          </a:solidFill>
                          <a:latin typeface="Calibri" pitchFamily="34" charset="0"/>
                          <a:ea typeface="Calibri" pitchFamily="34" charset="-122"/>
                          <a:cs typeface="Calibri" pitchFamily="34" charset="-120"/>
                        </a:rPr>
                        <a:t>2, in parallel</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B2E27"/>
                    </a:solidFill>
                  </a:tcPr>
                </a:tc>
                <a:tc>
                  <a:txBody>
                    <a:bodyPr/>
                    <a:lstStyle/>
                    <a:p>
                      <a:pPr indent="0" marL="0">
                        <a:buNone/>
                      </a:pPr>
                      <a:r>
                        <a:rPr lang="en-US" sz="1100" dirty="0">
                          <a:solidFill>
                            <a:srgbClr val="9DB5AD"/>
                          </a:solidFill>
                          <a:latin typeface="Calibri" pitchFamily="34" charset="0"/>
                          <a:ea typeface="Calibri" pitchFamily="34" charset="-122"/>
                          <a:cs typeface="Calibri" pitchFamily="34" charset="-120"/>
                        </a:rPr>
                        <a:t>no</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B2E27"/>
                    </a:solidFill>
                  </a:tcPr>
                </a:tc>
                <a:tc>
                  <a:txBody>
                    <a:bodyPr/>
                    <a:lstStyle/>
                    <a:p>
                      <a:pPr algn="ctr" indent="0" marL="0">
                        <a:buNone/>
                      </a:pPr>
                      <a:r>
                        <a:rPr lang="en-US" sz="1100" b="1" dirty="0">
                          <a:solidFill>
                            <a:srgbClr val="4FB39E"/>
                          </a:solidFill>
                          <a:latin typeface="Calibri" pitchFamily="34" charset="0"/>
                          <a:ea typeface="Calibri" pitchFamily="34" charset="-122"/>
                          <a:cs typeface="Calibri" pitchFamily="34" charset="-120"/>
                        </a:rPr>
                        <a:t>✓ pass</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B2E27"/>
                    </a:solidFill>
                  </a:tcPr>
                </a:tc>
              </a:tr>
              <a:tr h="621792">
                <a:tc>
                  <a:txBody>
                    <a:bodyPr/>
                    <a:lstStyle/>
                    <a:p>
                      <a:pPr indent="0" marL="0">
                        <a:buNone/>
                      </a:pPr>
                      <a:r>
                        <a:rPr lang="en-US" sz="1050" dirty="0">
                          <a:solidFill>
                            <a:srgbClr val="E3CB9A"/>
                          </a:solidFill>
                          <a:latin typeface="Courier New" pitchFamily="34" charset="0"/>
                          <a:ea typeface="Courier New" pitchFamily="34" charset="-122"/>
                          <a:cs typeface="Courier New" pitchFamily="34" charset="-120"/>
                        </a:rPr>
                        <a:t>Build an AI governance program</a:t>
                      </a:r>
                      <a:endParaRPr lang="en-US" sz="1050" dirty="0">
                        <a:latin typeface="Courier New" charset="0"/>
                        <a:ea typeface="Courier New" charset="0"/>
                        <a:cs typeface="Courier New"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6211B"/>
                    </a:solidFill>
                  </a:tcPr>
                </a:tc>
                <a:tc>
                  <a:txBody>
                    <a:bodyPr/>
                    <a:lstStyle/>
                    <a:p>
                      <a:pPr indent="0" marL="0">
                        <a:buNone/>
                      </a:pPr>
                      <a:r>
                        <a:rPr lang="en-US" sz="1100" dirty="0">
                          <a:solidFill>
                            <a:srgbClr val="F2F7F4"/>
                          </a:solidFill>
                          <a:latin typeface="Calibri" pitchFamily="34" charset="0"/>
                          <a:ea typeface="Calibri" pitchFamily="34" charset="-122"/>
                          <a:cs typeface="Calibri" pitchFamily="34" charset="-120"/>
                        </a:rPr>
                        <a:t>FunctionAgent</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6211B"/>
                    </a:solidFill>
                  </a:tcPr>
                </a:tc>
                <a:tc>
                  <a:txBody>
                    <a:bodyPr/>
                    <a:lstStyle/>
                    <a:p>
                      <a:pPr indent="0" marL="0">
                        <a:buNone/>
                      </a:pPr>
                      <a:r>
                        <a:rPr lang="en-US" sz="1100" dirty="0">
                          <a:solidFill>
                            <a:srgbClr val="F2F7F4"/>
                          </a:solidFill>
                          <a:latin typeface="Calibri" pitchFamily="34" charset="0"/>
                          <a:ea typeface="Calibri" pitchFamily="34" charset="-122"/>
                          <a:cs typeface="Calibri" pitchFamily="34" charset="-120"/>
                        </a:rPr>
                        <a:t>agent-managed</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6211B"/>
                    </a:solidFill>
                  </a:tcPr>
                </a:tc>
                <a:tc>
                  <a:txBody>
                    <a:bodyPr/>
                    <a:lstStyle/>
                    <a:p>
                      <a:pPr indent="0" marL="0">
                        <a:buNone/>
                      </a:pPr>
                      <a:r>
                        <a:rPr lang="en-US" sz="1100" dirty="0">
                          <a:solidFill>
                            <a:srgbClr val="E3CB9A"/>
                          </a:solidFill>
                          <a:latin typeface="Calibri" pitchFamily="34" charset="0"/>
                          <a:ea typeface="Calibri" pitchFamily="34" charset="-122"/>
                          <a:cs typeface="Calibri" pitchFamily="34" charset="-120"/>
                        </a:rPr>
                        <a:t>yes</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6211B"/>
                    </a:solidFill>
                  </a:tcPr>
                </a:tc>
                <a:tc>
                  <a:txBody>
                    <a:bodyPr/>
                    <a:lstStyle/>
                    <a:p>
                      <a:pPr algn="ctr" indent="0" marL="0">
                        <a:buNone/>
                      </a:pPr>
                      <a:r>
                        <a:rPr lang="en-US" sz="1100" b="1" dirty="0">
                          <a:solidFill>
                            <a:srgbClr val="4FB39E"/>
                          </a:solidFill>
                          <a:latin typeface="Calibri" pitchFamily="34" charset="0"/>
                          <a:ea typeface="Calibri" pitchFamily="34" charset="-122"/>
                          <a:cs typeface="Calibri" pitchFamily="34" charset="-120"/>
                        </a:rPr>
                        <a:t>✓ pass</a:t>
                      </a:r>
                      <a:endParaRPr lang="en-US" sz="1100" dirty="0">
                        <a:latin typeface="Calibri" charset="0"/>
                        <a:ea typeface="Calibri" charset="0"/>
                        <a:cs typeface="Calibri" charset="0"/>
                      </a:endParaRPr>
                    </a:p>
                  </a:txBody>
                  <a:tcPr marL="54864" marR="54864" marT="54864" marB="54864" anchor="ctr">
                    <a:lnL w="9525" cap="flat" cmpd="sng" algn="ctr">
                      <a:solidFill>
                        <a:srgbClr val="1D4A3F"/>
                      </a:solidFill>
                      <a:prstDash val="solid"/>
                      <a:round/>
                      <a:headEnd type="none" w="med" len="med"/>
                      <a:tailEnd type="none" w="med" len="med"/>
                    </a:lnL>
                    <a:lnR w="9525" cap="flat" cmpd="sng" algn="ctr">
                      <a:solidFill>
                        <a:srgbClr val="1D4A3F"/>
                      </a:solidFill>
                      <a:prstDash val="solid"/>
                      <a:round/>
                      <a:headEnd type="none" w="med" len="med"/>
                      <a:tailEnd type="none" w="med" len="med"/>
                    </a:lnR>
                    <a:lnT w="9525" cap="flat" cmpd="sng" algn="ctr">
                      <a:solidFill>
                        <a:srgbClr val="1D4A3F"/>
                      </a:solidFill>
                      <a:prstDash val="solid"/>
                      <a:round/>
                      <a:headEnd type="none" w="med" len="med"/>
                      <a:tailEnd type="none" w="med" len="med"/>
                    </a:lnT>
                    <a:lnB w="9525" cap="flat" cmpd="sng" algn="ctr">
                      <a:solidFill>
                        <a:srgbClr val="1D4A3F"/>
                      </a:solidFill>
                      <a:prstDash val="solid"/>
                      <a:round/>
                      <a:headEnd type="none" w="med" len="med"/>
                      <a:tailEnd type="none" w="med" len="med"/>
                    </a:lnB>
                    <a:solidFill>
                      <a:srgbClr val="06211B"/>
                    </a:solidFill>
                  </a:tcPr>
                </a:tc>
              </a:tr>
            </a:tbl>
          </a:graphicData>
        </a:graphic>
      </p:graphicFrame>
      <p:sp>
        <p:nvSpPr>
          <p:cNvPr id="11" name="Text 7"/>
          <p:cNvSpPr/>
          <p:nvPr/>
        </p:nvSpPr>
        <p:spPr>
          <a:xfrm>
            <a:off x="548640" y="5349240"/>
            <a:ext cx="11064240" cy="320040"/>
          </a:xfrm>
          <a:prstGeom prst="rect">
            <a:avLst/>
          </a:prstGeom>
          <a:noFill/>
          <a:ln/>
        </p:spPr>
        <p:txBody>
          <a:bodyPr wrap="square" lIns="0" tIns="0" rIns="0" bIns="0" rtlCol="0" anchor="t"/>
          <a:lstStyle/>
          <a:p>
            <a:pPr algn="l" indent="0" marL="0">
              <a:buNone/>
            </a:pPr>
            <a:r>
              <a:rPr lang="en-US" sz="1100" dirty="0">
                <a:solidFill>
                  <a:srgbClr val="9DB5AD"/>
                </a:solidFill>
                <a:latin typeface="Calibri" pitchFamily="34" charset="0"/>
                <a:ea typeface="Calibri" pitchFamily="34" charset="-122"/>
                <a:cs typeface="Calibri" pitchFamily="34" charset="-120"/>
              </a:rPr>
              <a:t>Each case asserts the route taken, the retrieval count and whether an agent object was created.</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What did not change</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Faster answers, same gate.</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16</a:t>
            </a:r>
            <a:endParaRPr lang="en-US" sz="850" dirty="0"/>
          </a:p>
        </p:txBody>
      </p:sp>
      <p:sp>
        <p:nvSpPr>
          <p:cNvPr id="10" name="Text 7"/>
          <p:cNvSpPr/>
          <p:nvPr/>
        </p:nvSpPr>
        <p:spPr>
          <a:xfrm>
            <a:off x="548640" y="1097280"/>
            <a:ext cx="11064240" cy="640080"/>
          </a:xfrm>
          <a:prstGeom prst="rect">
            <a:avLst/>
          </a:prstGeom>
          <a:noFill/>
          <a:ln/>
        </p:spPr>
        <p:txBody>
          <a:bodyPr wrap="square" lIns="0" tIns="0" rIns="0" bIns="0" rtlCol="0" anchor="t"/>
          <a:lstStyle/>
          <a:p>
            <a:pPr algn="l" indent="0" marL="0">
              <a:buNone/>
            </a:pPr>
            <a:r>
              <a:rPr lang="en-US" sz="1300" dirty="0">
                <a:solidFill>
                  <a:srgbClr val="CFE0DA"/>
                </a:solidFill>
                <a:latin typeface="Calibri" pitchFamily="34" charset="0"/>
                <a:ea typeface="Calibri" pitchFamily="34" charset="-122"/>
                <a:cs typeface="Calibri" pitchFamily="34" charset="-120"/>
              </a:rPr>
              <a:t>Routing changed how answers are produced. It did not touch how they are governed. Every route that produces a report still ends at the same three stages.</a:t>
            </a:r>
            <a:endParaRPr lang="en-US" sz="1300" dirty="0"/>
          </a:p>
        </p:txBody>
      </p:sp>
      <p:sp>
        <p:nvSpPr>
          <p:cNvPr id="11" name="Shape 8"/>
          <p:cNvSpPr/>
          <p:nvPr/>
        </p:nvSpPr>
        <p:spPr>
          <a:xfrm>
            <a:off x="548640" y="2377440"/>
            <a:ext cx="3017520" cy="868680"/>
          </a:xfrm>
          <a:prstGeom prst="roundRect">
            <a:avLst>
              <a:gd name="adj" fmla="val 7368"/>
            </a:avLst>
          </a:prstGeom>
          <a:solidFill>
            <a:srgbClr val="0F3A31"/>
          </a:solidFill>
          <a:ln w="13970">
            <a:solidFill>
              <a:srgbClr val="1D4A3F"/>
            </a:solidFill>
            <a:prstDash val="solid"/>
          </a:ln>
        </p:spPr>
      </p:sp>
      <p:sp>
        <p:nvSpPr>
          <p:cNvPr id="12" name="Text 9"/>
          <p:cNvSpPr/>
          <p:nvPr/>
        </p:nvSpPr>
        <p:spPr>
          <a:xfrm>
            <a:off x="548640" y="2377440"/>
            <a:ext cx="3017520" cy="868680"/>
          </a:xfrm>
          <a:prstGeom prst="rect">
            <a:avLst/>
          </a:prstGeom>
          <a:noFill/>
          <a:ln/>
        </p:spPr>
        <p:txBody>
          <a:bodyPr wrap="square" lIns="381" tIns="381" rIns="381" bIns="381" rtlCol="0" anchor="ctr"/>
          <a:lstStyle/>
          <a:p>
            <a:pPr algn="ctr" indent="0" marL="0">
              <a:buNone/>
            </a:pPr>
            <a:r>
              <a:rPr lang="en-US" sz="1300" dirty="0">
                <a:solidFill>
                  <a:srgbClr val="F2F7F4"/>
                </a:solidFill>
                <a:latin typeface="Calibri" pitchFamily="34" charset="0"/>
                <a:ea typeface="Calibri" pitchFamily="34" charset="-122"/>
                <a:cs typeface="Calibri" pitchFamily="34" charset="-120"/>
              </a:rPr>
              <a:t>Draft report</a:t>
            </a:r>
            <a:endParaRPr lang="en-US" sz="1300" dirty="0"/>
          </a:p>
        </p:txBody>
      </p:sp>
      <p:sp>
        <p:nvSpPr>
          <p:cNvPr id="13" name="Shape 10"/>
          <p:cNvSpPr/>
          <p:nvPr/>
        </p:nvSpPr>
        <p:spPr>
          <a:xfrm>
            <a:off x="3639312" y="2816352"/>
            <a:ext cx="676656" cy="0"/>
          </a:xfrm>
          <a:prstGeom prst="line">
            <a:avLst/>
          </a:prstGeom>
          <a:noFill/>
          <a:ln w="24130">
            <a:solidFill>
              <a:srgbClr val="6F8F85"/>
            </a:solidFill>
            <a:prstDash val="solid"/>
            <a:tailEnd type="triangle"/>
          </a:ln>
        </p:spPr>
      </p:sp>
      <p:sp>
        <p:nvSpPr>
          <p:cNvPr id="14" name="Shape 11"/>
          <p:cNvSpPr/>
          <p:nvPr/>
        </p:nvSpPr>
        <p:spPr>
          <a:xfrm>
            <a:off x="4389120" y="2377440"/>
            <a:ext cx="3017520" cy="868680"/>
          </a:xfrm>
          <a:prstGeom prst="roundRect">
            <a:avLst>
              <a:gd name="adj" fmla="val 7368"/>
            </a:avLst>
          </a:prstGeom>
          <a:solidFill>
            <a:srgbClr val="C29C55"/>
          </a:solidFill>
          <a:ln w="12700">
            <a:solidFill>
              <a:srgbClr val="C29C55"/>
            </a:solidFill>
            <a:prstDash val="solid"/>
          </a:ln>
        </p:spPr>
      </p:sp>
      <p:sp>
        <p:nvSpPr>
          <p:cNvPr id="15" name="Text 12"/>
          <p:cNvSpPr/>
          <p:nvPr/>
        </p:nvSpPr>
        <p:spPr>
          <a:xfrm>
            <a:off x="4389120" y="2377440"/>
            <a:ext cx="3017520" cy="868680"/>
          </a:xfrm>
          <a:prstGeom prst="rect">
            <a:avLst/>
          </a:prstGeom>
          <a:noFill/>
          <a:ln/>
        </p:spPr>
        <p:txBody>
          <a:bodyPr wrap="square" lIns="381" tIns="381" rIns="381" bIns="381" rtlCol="0" anchor="ctr"/>
          <a:lstStyle/>
          <a:p>
            <a:pPr algn="ctr" indent="0" marL="0">
              <a:buNone/>
            </a:pPr>
            <a:r>
              <a:rPr lang="en-US" sz="1300" b="1" dirty="0">
                <a:solidFill>
                  <a:srgbClr val="06211B"/>
                </a:solidFill>
                <a:latin typeface="Calibri" pitchFamily="34" charset="0"/>
                <a:ea typeface="Calibri" pitchFamily="34" charset="-122"/>
                <a:cs typeface="Calibri" pitchFamily="34" charset="-120"/>
              </a:rPr>
              <a:t>Human approval</a:t>
            </a:r>
            <a:endParaRPr lang="en-US" sz="1300" dirty="0"/>
          </a:p>
        </p:txBody>
      </p:sp>
      <p:sp>
        <p:nvSpPr>
          <p:cNvPr id="16" name="Shape 13"/>
          <p:cNvSpPr/>
          <p:nvPr/>
        </p:nvSpPr>
        <p:spPr>
          <a:xfrm>
            <a:off x="7479792" y="2816352"/>
            <a:ext cx="676656" cy="0"/>
          </a:xfrm>
          <a:prstGeom prst="line">
            <a:avLst/>
          </a:prstGeom>
          <a:noFill/>
          <a:ln w="24130">
            <a:solidFill>
              <a:srgbClr val="6F8F85"/>
            </a:solidFill>
            <a:prstDash val="solid"/>
            <a:tailEnd type="triangle"/>
          </a:ln>
        </p:spPr>
      </p:sp>
      <p:pic>
        <p:nvPicPr>
          <p:cNvPr id="17" name="Image 1" descr="/home/claude/evidenceops/icons/lock_gold.png">    </p:cNvPr>
          <p:cNvPicPr>
            <a:picLocks noChangeAspect="1"/>
          </p:cNvPicPr>
          <p:nvPr/>
        </p:nvPicPr>
        <p:blipFill>
          <a:blip r:embed="rId2"/>
          <a:stretch>
            <a:fillRect/>
          </a:stretch>
        </p:blipFill>
        <p:spPr>
          <a:xfrm>
            <a:off x="7680960" y="2395728"/>
            <a:ext cx="256032" cy="256032"/>
          </a:xfrm>
          <a:prstGeom prst="rect">
            <a:avLst/>
          </a:prstGeom>
        </p:spPr>
      </p:pic>
      <p:sp>
        <p:nvSpPr>
          <p:cNvPr id="18" name="Shape 14"/>
          <p:cNvSpPr/>
          <p:nvPr/>
        </p:nvSpPr>
        <p:spPr>
          <a:xfrm>
            <a:off x="8229600" y="2377440"/>
            <a:ext cx="3017520" cy="868680"/>
          </a:xfrm>
          <a:prstGeom prst="roundRect">
            <a:avLst>
              <a:gd name="adj" fmla="val 7368"/>
            </a:avLst>
          </a:prstGeom>
          <a:solidFill>
            <a:srgbClr val="4FB39E"/>
          </a:solidFill>
          <a:ln w="12700">
            <a:solidFill>
              <a:srgbClr val="4FB39E"/>
            </a:solidFill>
            <a:prstDash val="solid"/>
          </a:ln>
        </p:spPr>
      </p:sp>
      <p:sp>
        <p:nvSpPr>
          <p:cNvPr id="19" name="Text 15"/>
          <p:cNvSpPr/>
          <p:nvPr/>
        </p:nvSpPr>
        <p:spPr>
          <a:xfrm>
            <a:off x="8229600" y="2377440"/>
            <a:ext cx="3017520" cy="868680"/>
          </a:xfrm>
          <a:prstGeom prst="rect">
            <a:avLst/>
          </a:prstGeom>
          <a:noFill/>
          <a:ln/>
        </p:spPr>
        <p:txBody>
          <a:bodyPr wrap="square" lIns="381" tIns="381" rIns="381" bIns="381" rtlCol="0" anchor="ctr"/>
          <a:lstStyle/>
          <a:p>
            <a:pPr algn="ctr" indent="0" marL="0">
              <a:buNone/>
            </a:pPr>
            <a:r>
              <a:rPr lang="en-US" sz="1300" b="1" dirty="0">
                <a:solidFill>
                  <a:srgbClr val="06211B"/>
                </a:solidFill>
                <a:latin typeface="Calibri" pitchFamily="34" charset="0"/>
                <a:ea typeface="Calibri" pitchFamily="34" charset="-122"/>
                <a:cs typeface="Calibri" pitchFamily="34" charset="-120"/>
              </a:rPr>
              <a:t>Save report</a:t>
            </a:r>
            <a:endParaRPr lang="en-US" sz="1300" dirty="0"/>
          </a:p>
        </p:txBody>
      </p:sp>
      <p:sp>
        <p:nvSpPr>
          <p:cNvPr id="20" name="Shape 16"/>
          <p:cNvSpPr/>
          <p:nvPr/>
        </p:nvSpPr>
        <p:spPr>
          <a:xfrm>
            <a:off x="548640" y="3794760"/>
            <a:ext cx="10698480" cy="603504"/>
          </a:xfrm>
          <a:prstGeom prst="roundRect">
            <a:avLst>
              <a:gd name="adj" fmla="val 13636"/>
            </a:avLst>
          </a:prstGeom>
          <a:solidFill>
            <a:srgbClr val="06211B"/>
          </a:solidFill>
          <a:ln w="13970">
            <a:solidFill>
              <a:srgbClr val="C29C55"/>
            </a:solidFill>
            <a:prstDash val="dash"/>
          </a:ln>
        </p:spPr>
      </p:sp>
      <p:pic>
        <p:nvPicPr>
          <p:cNvPr id="21" name="Image 2" descr="/home/claude/evidenceops/icons/eye_gold.png">    </p:cNvPr>
          <p:cNvPicPr>
            <a:picLocks noChangeAspect="1"/>
          </p:cNvPicPr>
          <p:nvPr/>
        </p:nvPicPr>
        <p:blipFill>
          <a:blip r:embed="rId3"/>
          <a:stretch>
            <a:fillRect/>
          </a:stretch>
        </p:blipFill>
        <p:spPr>
          <a:xfrm>
            <a:off x="777240" y="3950208"/>
            <a:ext cx="292608" cy="292608"/>
          </a:xfrm>
          <a:prstGeom prst="rect">
            <a:avLst/>
          </a:prstGeom>
        </p:spPr>
      </p:pic>
      <p:sp>
        <p:nvSpPr>
          <p:cNvPr id="22" name="Text 17"/>
          <p:cNvSpPr/>
          <p:nvPr/>
        </p:nvSpPr>
        <p:spPr>
          <a:xfrm>
            <a:off x="1234440" y="3794760"/>
            <a:ext cx="9875520" cy="603504"/>
          </a:xfrm>
          <a:prstGeom prst="rect">
            <a:avLst/>
          </a:prstGeom>
          <a:noFill/>
          <a:ln/>
        </p:spPr>
        <p:txBody>
          <a:bodyPr wrap="square" lIns="0" tIns="0" rIns="0" bIns="0" rtlCol="0" anchor="ctr"/>
          <a:lstStyle/>
          <a:p>
            <a:pPr algn="l" indent="0" marL="0">
              <a:buNone/>
            </a:pPr>
            <a:r>
              <a:rPr lang="en-US" sz="1150" dirty="0">
                <a:solidFill>
                  <a:srgbClr val="E3CB9A"/>
                </a:solidFill>
                <a:latin typeface="Calibri" pitchFamily="34" charset="0"/>
                <a:ea typeface="Calibri" pitchFamily="34" charset="-122"/>
                <a:cs typeface="Calibri" pitchFamily="34" charset="-120"/>
              </a:rPr>
              <a:t>Audit events are still recorded on every path, including refusals, failures and the routes that skip retrieval.</a:t>
            </a:r>
            <a:endParaRPr lang="en-US" sz="1150" dirty="0"/>
          </a:p>
        </p:txBody>
      </p:sp>
      <p:sp>
        <p:nvSpPr>
          <p:cNvPr id="23" name="Text 18"/>
          <p:cNvSpPr/>
          <p:nvPr/>
        </p:nvSpPr>
        <p:spPr>
          <a:xfrm>
            <a:off x="548640" y="4709160"/>
            <a:ext cx="11064240" cy="640080"/>
          </a:xfrm>
          <a:prstGeom prst="rect">
            <a:avLst/>
          </a:prstGeom>
          <a:noFill/>
          <a:ln/>
        </p:spPr>
        <p:txBody>
          <a:bodyPr wrap="square" lIns="0" tIns="0" rIns="0" bIns="0" rtlCol="0" anchor="t"/>
          <a:lstStyle/>
          <a:p>
            <a:pPr algn="l" indent="0" marL="0">
              <a:buNone/>
            </a:pPr>
            <a:r>
              <a:rPr lang="en-US" sz="1150" dirty="0">
                <a:solidFill>
                  <a:srgbClr val="9DB5AD"/>
                </a:solidFill>
                <a:latin typeface="Calibri" pitchFamily="34" charset="0"/>
                <a:ea typeface="Calibri" pitchFamily="34" charset="-122"/>
                <a:cs typeface="Calibri" pitchFamily="34" charset="-120"/>
              </a:rPr>
              <a:t>Identity and capabilities answers produce no report, so there is nothing for them to save. The write path stays exactly one function behind exactly one approval.</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Next: TOPIC_ALIASES</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The direct path grows; the agent's scope shrinks to real research.</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17</a:t>
            </a:r>
            <a:endParaRPr lang="en-US" sz="850" dirty="0"/>
          </a:p>
        </p:txBody>
      </p:sp>
      <p:sp>
        <p:nvSpPr>
          <p:cNvPr id="10" name="Text 7"/>
          <p:cNvSpPr/>
          <p:nvPr/>
        </p:nvSpPr>
        <p:spPr>
          <a:xfrm>
            <a:off x="548640" y="1097280"/>
            <a:ext cx="11064240" cy="365760"/>
          </a:xfrm>
          <a:prstGeom prst="rect">
            <a:avLst/>
          </a:prstGeom>
          <a:noFill/>
          <a:ln/>
        </p:spPr>
        <p:txBody>
          <a:bodyPr wrap="square" lIns="0" tIns="0" rIns="0" bIns="0" rtlCol="0" anchor="t"/>
          <a:lstStyle/>
          <a:p>
            <a:pPr algn="l" indent="0" marL="0">
              <a:buNone/>
            </a:pPr>
            <a:r>
              <a:rPr lang="en-US" sz="1300" dirty="0">
                <a:solidFill>
                  <a:srgbClr val="CFE0DA"/>
                </a:solidFill>
                <a:latin typeface="Calibri" pitchFamily="34" charset="0"/>
                <a:ea typeface="Calibri" pitchFamily="34" charset="-122"/>
                <a:cs typeface="Calibri" pitchFamily="34" charset="-120"/>
              </a:rPr>
              <a:t>Framework names are not the only lookups. Single security topics deserve the direct path too.</a:t>
            </a:r>
            <a:endParaRPr lang="en-US" sz="1300" dirty="0"/>
          </a:p>
        </p:txBody>
      </p:sp>
      <p:sp>
        <p:nvSpPr>
          <p:cNvPr id="11" name="Text 8"/>
          <p:cNvSpPr/>
          <p:nvPr/>
        </p:nvSpPr>
        <p:spPr>
          <a:xfrm>
            <a:off x="548640" y="1572768"/>
            <a:ext cx="3657600" cy="329184"/>
          </a:xfrm>
          <a:prstGeom prst="rect">
            <a:avLst/>
          </a:prstGeom>
          <a:noFill/>
          <a:ln/>
        </p:spPr>
        <p:txBody>
          <a:bodyPr wrap="square" lIns="0" tIns="0" rIns="0" bIns="0" rtlCol="0" anchor="ctr"/>
          <a:lstStyle/>
          <a:p>
            <a:pPr algn="l" indent="0" marL="0">
              <a:buNone/>
            </a:pPr>
            <a:r>
              <a:rPr lang="en-US" sz="1250" b="1" dirty="0">
                <a:solidFill>
                  <a:srgbClr val="C29C55"/>
                </a:solidFill>
                <a:latin typeface="Courier New" pitchFamily="34" charset="0"/>
                <a:ea typeface="Courier New" pitchFamily="34" charset="-122"/>
                <a:cs typeface="Courier New" pitchFamily="34" charset="-120"/>
              </a:rPr>
              <a:t>TOPIC_ALIASES</a:t>
            </a:r>
            <a:endParaRPr lang="en-US" sz="1250" dirty="0"/>
          </a:p>
        </p:txBody>
      </p:sp>
      <p:sp>
        <p:nvSpPr>
          <p:cNvPr id="12" name="Shape 9"/>
          <p:cNvSpPr/>
          <p:nvPr/>
        </p:nvSpPr>
        <p:spPr>
          <a:xfrm>
            <a:off x="548640" y="2011680"/>
            <a:ext cx="3383280" cy="530352"/>
          </a:xfrm>
          <a:prstGeom prst="roundRect">
            <a:avLst>
              <a:gd name="adj" fmla="val 15517"/>
            </a:avLst>
          </a:prstGeom>
          <a:solidFill>
            <a:srgbClr val="0B2E27"/>
          </a:solidFill>
          <a:ln w="12700">
            <a:solidFill>
              <a:srgbClr val="1D4A3F"/>
            </a:solidFill>
            <a:prstDash val="solid"/>
          </a:ln>
        </p:spPr>
      </p:sp>
      <p:sp>
        <p:nvSpPr>
          <p:cNvPr id="13" name="Text 10"/>
          <p:cNvSpPr/>
          <p:nvPr/>
        </p:nvSpPr>
        <p:spPr>
          <a:xfrm>
            <a:off x="621792" y="2011680"/>
            <a:ext cx="3236976" cy="530352"/>
          </a:xfrm>
          <a:prstGeom prst="rect">
            <a:avLst/>
          </a:prstGeom>
          <a:noFill/>
          <a:ln/>
        </p:spPr>
        <p:txBody>
          <a:bodyPr wrap="square" lIns="635" tIns="635" rIns="635" bIns="635" rtlCol="0" anchor="ctr"/>
          <a:lstStyle/>
          <a:p>
            <a:pPr algn="l" indent="0" marL="0">
              <a:buNone/>
            </a:pPr>
            <a:r>
              <a:rPr lang="en-US" sz="1100" dirty="0">
                <a:solidFill>
                  <a:srgbClr val="F2F7F4"/>
                </a:solidFill>
                <a:latin typeface="Calibri" pitchFamily="34" charset="0"/>
                <a:ea typeface="Calibri" pitchFamily="34" charset="-122"/>
                <a:cs typeface="Calibri" pitchFamily="34" charset="-120"/>
              </a:rPr>
              <a:t>Prompt injection</a:t>
            </a:r>
            <a:endParaRPr lang="en-US" sz="1100" dirty="0"/>
          </a:p>
        </p:txBody>
      </p:sp>
      <p:sp>
        <p:nvSpPr>
          <p:cNvPr id="14" name="Shape 11"/>
          <p:cNvSpPr/>
          <p:nvPr/>
        </p:nvSpPr>
        <p:spPr>
          <a:xfrm>
            <a:off x="3986784" y="2276856"/>
            <a:ext cx="2322576" cy="969264"/>
          </a:xfrm>
          <a:prstGeom prst="line">
            <a:avLst/>
          </a:prstGeom>
          <a:noFill/>
          <a:ln w="16510">
            <a:solidFill>
              <a:srgbClr val="6F8F85"/>
            </a:solidFill>
            <a:prstDash val="solid"/>
            <a:tailEnd type="triangle"/>
          </a:ln>
        </p:spPr>
      </p:sp>
      <p:sp>
        <p:nvSpPr>
          <p:cNvPr id="15" name="Shape 12"/>
          <p:cNvSpPr/>
          <p:nvPr/>
        </p:nvSpPr>
        <p:spPr>
          <a:xfrm>
            <a:off x="548640" y="2706624"/>
            <a:ext cx="3383280" cy="530352"/>
          </a:xfrm>
          <a:prstGeom prst="roundRect">
            <a:avLst>
              <a:gd name="adj" fmla="val 15517"/>
            </a:avLst>
          </a:prstGeom>
          <a:solidFill>
            <a:srgbClr val="0B2E27"/>
          </a:solidFill>
          <a:ln w="12700">
            <a:solidFill>
              <a:srgbClr val="1D4A3F"/>
            </a:solidFill>
            <a:prstDash val="solid"/>
          </a:ln>
        </p:spPr>
      </p:sp>
      <p:sp>
        <p:nvSpPr>
          <p:cNvPr id="16" name="Text 13"/>
          <p:cNvSpPr/>
          <p:nvPr/>
        </p:nvSpPr>
        <p:spPr>
          <a:xfrm>
            <a:off x="621792" y="2706624"/>
            <a:ext cx="3236976" cy="530352"/>
          </a:xfrm>
          <a:prstGeom prst="rect">
            <a:avLst/>
          </a:prstGeom>
          <a:noFill/>
          <a:ln/>
        </p:spPr>
        <p:txBody>
          <a:bodyPr wrap="square" lIns="635" tIns="635" rIns="635" bIns="635" rtlCol="0" anchor="ctr"/>
          <a:lstStyle/>
          <a:p>
            <a:pPr algn="l" indent="0" marL="0">
              <a:buNone/>
            </a:pPr>
            <a:r>
              <a:rPr lang="en-US" sz="1100" dirty="0">
                <a:solidFill>
                  <a:srgbClr val="F2F7F4"/>
                </a:solidFill>
                <a:latin typeface="Calibri" pitchFamily="34" charset="0"/>
                <a:ea typeface="Calibri" pitchFamily="34" charset="-122"/>
                <a:cs typeface="Calibri" pitchFamily="34" charset="-120"/>
              </a:rPr>
              <a:t>Hallucination</a:t>
            </a:r>
            <a:endParaRPr lang="en-US" sz="1100" dirty="0"/>
          </a:p>
        </p:txBody>
      </p:sp>
      <p:sp>
        <p:nvSpPr>
          <p:cNvPr id="17" name="Shape 14"/>
          <p:cNvSpPr/>
          <p:nvPr/>
        </p:nvSpPr>
        <p:spPr>
          <a:xfrm>
            <a:off x="3986784" y="2971800"/>
            <a:ext cx="2322576" cy="274320"/>
          </a:xfrm>
          <a:prstGeom prst="line">
            <a:avLst/>
          </a:prstGeom>
          <a:noFill/>
          <a:ln w="16510">
            <a:solidFill>
              <a:srgbClr val="6F8F85"/>
            </a:solidFill>
            <a:prstDash val="solid"/>
            <a:tailEnd type="triangle"/>
          </a:ln>
        </p:spPr>
      </p:sp>
      <p:sp>
        <p:nvSpPr>
          <p:cNvPr id="18" name="Shape 15"/>
          <p:cNvSpPr/>
          <p:nvPr/>
        </p:nvSpPr>
        <p:spPr>
          <a:xfrm>
            <a:off x="548640" y="3401568"/>
            <a:ext cx="3383280" cy="530352"/>
          </a:xfrm>
          <a:prstGeom prst="roundRect">
            <a:avLst>
              <a:gd name="adj" fmla="val 15517"/>
            </a:avLst>
          </a:prstGeom>
          <a:solidFill>
            <a:srgbClr val="0B2E27"/>
          </a:solidFill>
          <a:ln w="12700">
            <a:solidFill>
              <a:srgbClr val="1D4A3F"/>
            </a:solidFill>
            <a:prstDash val="solid"/>
          </a:ln>
        </p:spPr>
      </p:sp>
      <p:sp>
        <p:nvSpPr>
          <p:cNvPr id="19" name="Text 16"/>
          <p:cNvSpPr/>
          <p:nvPr/>
        </p:nvSpPr>
        <p:spPr>
          <a:xfrm>
            <a:off x="621792" y="3401568"/>
            <a:ext cx="3236976" cy="530352"/>
          </a:xfrm>
          <a:prstGeom prst="rect">
            <a:avLst/>
          </a:prstGeom>
          <a:noFill/>
          <a:ln/>
        </p:spPr>
        <p:txBody>
          <a:bodyPr wrap="square" lIns="635" tIns="635" rIns="635" bIns="635" rtlCol="0" anchor="ctr"/>
          <a:lstStyle/>
          <a:p>
            <a:pPr algn="l" indent="0" marL="0">
              <a:buNone/>
            </a:pPr>
            <a:r>
              <a:rPr lang="en-US" sz="1100" dirty="0">
                <a:solidFill>
                  <a:srgbClr val="F2F7F4"/>
                </a:solidFill>
                <a:latin typeface="Calibri" pitchFamily="34" charset="0"/>
                <a:ea typeface="Calibri" pitchFamily="34" charset="-122"/>
                <a:cs typeface="Calibri" pitchFamily="34" charset="-120"/>
              </a:rPr>
              <a:t>Model theft</a:t>
            </a:r>
            <a:endParaRPr lang="en-US" sz="1100" dirty="0"/>
          </a:p>
        </p:txBody>
      </p:sp>
      <p:sp>
        <p:nvSpPr>
          <p:cNvPr id="20" name="Shape 17"/>
          <p:cNvSpPr/>
          <p:nvPr/>
        </p:nvSpPr>
        <p:spPr>
          <a:xfrm flipV="1">
            <a:off x="3986784" y="3246120"/>
            <a:ext cx="2322576" cy="420624"/>
          </a:xfrm>
          <a:prstGeom prst="line">
            <a:avLst/>
          </a:prstGeom>
          <a:noFill/>
          <a:ln w="16510">
            <a:solidFill>
              <a:srgbClr val="6F8F85"/>
            </a:solidFill>
            <a:prstDash val="solid"/>
            <a:tailEnd type="triangle"/>
          </a:ln>
        </p:spPr>
      </p:sp>
      <p:sp>
        <p:nvSpPr>
          <p:cNvPr id="21" name="Shape 18"/>
          <p:cNvSpPr/>
          <p:nvPr/>
        </p:nvSpPr>
        <p:spPr>
          <a:xfrm>
            <a:off x="548640" y="4096512"/>
            <a:ext cx="3383280" cy="530352"/>
          </a:xfrm>
          <a:prstGeom prst="roundRect">
            <a:avLst>
              <a:gd name="adj" fmla="val 15517"/>
            </a:avLst>
          </a:prstGeom>
          <a:solidFill>
            <a:srgbClr val="0B2E27"/>
          </a:solidFill>
          <a:ln w="12700">
            <a:solidFill>
              <a:srgbClr val="1D4A3F"/>
            </a:solidFill>
            <a:prstDash val="solid"/>
          </a:ln>
        </p:spPr>
      </p:sp>
      <p:sp>
        <p:nvSpPr>
          <p:cNvPr id="22" name="Text 19"/>
          <p:cNvSpPr/>
          <p:nvPr/>
        </p:nvSpPr>
        <p:spPr>
          <a:xfrm>
            <a:off x="621792" y="4096512"/>
            <a:ext cx="3236976" cy="530352"/>
          </a:xfrm>
          <a:prstGeom prst="rect">
            <a:avLst/>
          </a:prstGeom>
          <a:noFill/>
          <a:ln/>
        </p:spPr>
        <p:txBody>
          <a:bodyPr wrap="square" lIns="635" tIns="635" rIns="635" bIns="635" rtlCol="0" anchor="ctr"/>
          <a:lstStyle/>
          <a:p>
            <a:pPr algn="l" indent="0" marL="0">
              <a:buNone/>
            </a:pPr>
            <a:r>
              <a:rPr lang="en-US" sz="1100" dirty="0">
                <a:solidFill>
                  <a:srgbClr val="F2F7F4"/>
                </a:solidFill>
                <a:latin typeface="Calibri" pitchFamily="34" charset="0"/>
                <a:ea typeface="Calibri" pitchFamily="34" charset="-122"/>
                <a:cs typeface="Calibri" pitchFamily="34" charset="-120"/>
              </a:rPr>
              <a:t>Data poisoning</a:t>
            </a:r>
            <a:endParaRPr lang="en-US" sz="1100" dirty="0"/>
          </a:p>
        </p:txBody>
      </p:sp>
      <p:sp>
        <p:nvSpPr>
          <p:cNvPr id="23" name="Shape 20"/>
          <p:cNvSpPr/>
          <p:nvPr/>
        </p:nvSpPr>
        <p:spPr>
          <a:xfrm flipV="1">
            <a:off x="3986784" y="3246120"/>
            <a:ext cx="2322576" cy="1115568"/>
          </a:xfrm>
          <a:prstGeom prst="line">
            <a:avLst/>
          </a:prstGeom>
          <a:noFill/>
          <a:ln w="16510">
            <a:solidFill>
              <a:srgbClr val="6F8F85"/>
            </a:solidFill>
            <a:prstDash val="solid"/>
            <a:tailEnd type="triangle"/>
          </a:ln>
        </p:spPr>
      </p:sp>
      <p:sp>
        <p:nvSpPr>
          <p:cNvPr id="24" name="Shape 21"/>
          <p:cNvSpPr/>
          <p:nvPr/>
        </p:nvSpPr>
        <p:spPr>
          <a:xfrm>
            <a:off x="548640" y="4791456"/>
            <a:ext cx="3383280" cy="530352"/>
          </a:xfrm>
          <a:prstGeom prst="roundRect">
            <a:avLst>
              <a:gd name="adj" fmla="val 15517"/>
            </a:avLst>
          </a:prstGeom>
          <a:solidFill>
            <a:srgbClr val="0B2E27"/>
          </a:solidFill>
          <a:ln w="12700">
            <a:solidFill>
              <a:srgbClr val="1D4A3F"/>
            </a:solidFill>
            <a:prstDash val="solid"/>
          </a:ln>
        </p:spPr>
      </p:sp>
      <p:sp>
        <p:nvSpPr>
          <p:cNvPr id="25" name="Text 22"/>
          <p:cNvSpPr/>
          <p:nvPr/>
        </p:nvSpPr>
        <p:spPr>
          <a:xfrm>
            <a:off x="621792" y="4791456"/>
            <a:ext cx="3236976" cy="530352"/>
          </a:xfrm>
          <a:prstGeom prst="rect">
            <a:avLst/>
          </a:prstGeom>
          <a:noFill/>
          <a:ln/>
        </p:spPr>
        <p:txBody>
          <a:bodyPr wrap="square" lIns="635" tIns="635" rIns="635" bIns="635" rtlCol="0" anchor="ctr"/>
          <a:lstStyle/>
          <a:p>
            <a:pPr algn="l" indent="0" marL="0">
              <a:buNone/>
            </a:pPr>
            <a:r>
              <a:rPr lang="en-US" sz="1100" dirty="0">
                <a:solidFill>
                  <a:srgbClr val="F2F7F4"/>
                </a:solidFill>
                <a:latin typeface="Calibri" pitchFamily="34" charset="0"/>
                <a:ea typeface="Calibri" pitchFamily="34" charset="-122"/>
                <a:cs typeface="Calibri" pitchFamily="34" charset="-120"/>
              </a:rPr>
              <a:t>Sensitive information disclosure</a:t>
            </a:r>
            <a:endParaRPr lang="en-US" sz="1100" dirty="0"/>
          </a:p>
        </p:txBody>
      </p:sp>
      <p:sp>
        <p:nvSpPr>
          <p:cNvPr id="26" name="Shape 23"/>
          <p:cNvSpPr/>
          <p:nvPr/>
        </p:nvSpPr>
        <p:spPr>
          <a:xfrm flipV="1">
            <a:off x="3986784" y="3246120"/>
            <a:ext cx="2322576" cy="1810512"/>
          </a:xfrm>
          <a:prstGeom prst="line">
            <a:avLst/>
          </a:prstGeom>
          <a:noFill/>
          <a:ln w="16510">
            <a:solidFill>
              <a:srgbClr val="6F8F85"/>
            </a:solidFill>
            <a:prstDash val="solid"/>
            <a:tailEnd type="triangle"/>
          </a:ln>
        </p:spPr>
      </p:sp>
      <p:sp>
        <p:nvSpPr>
          <p:cNvPr id="27" name="Shape 24"/>
          <p:cNvSpPr/>
          <p:nvPr/>
        </p:nvSpPr>
        <p:spPr>
          <a:xfrm>
            <a:off x="6400800" y="2834640"/>
            <a:ext cx="3200400" cy="868680"/>
          </a:xfrm>
          <a:prstGeom prst="roundRect">
            <a:avLst>
              <a:gd name="adj" fmla="val 7368"/>
            </a:avLst>
          </a:prstGeom>
          <a:solidFill>
            <a:srgbClr val="4FB39E"/>
          </a:solidFill>
          <a:ln w="12700">
            <a:solidFill>
              <a:srgbClr val="4FB39E"/>
            </a:solidFill>
            <a:prstDash val="solid"/>
          </a:ln>
        </p:spPr>
      </p:sp>
      <p:sp>
        <p:nvSpPr>
          <p:cNvPr id="28" name="Text 25"/>
          <p:cNvSpPr/>
          <p:nvPr/>
        </p:nvSpPr>
        <p:spPr>
          <a:xfrm>
            <a:off x="6400800" y="2834640"/>
            <a:ext cx="3200400" cy="868680"/>
          </a:xfrm>
          <a:prstGeom prst="rect">
            <a:avLst/>
          </a:prstGeom>
          <a:noFill/>
          <a:ln/>
        </p:spPr>
        <p:txBody>
          <a:bodyPr wrap="square" lIns="381" tIns="381" rIns="381" bIns="381" rtlCol="0" anchor="ctr"/>
          <a:lstStyle/>
          <a:p>
            <a:pPr algn="ctr" indent="0" marL="0">
              <a:buNone/>
            </a:pPr>
            <a:r>
              <a:rPr lang="en-US" sz="1300" b="1" dirty="0">
                <a:solidFill>
                  <a:srgbClr val="06211B"/>
                </a:solidFill>
                <a:latin typeface="Calibri" pitchFamily="34" charset="0"/>
                <a:ea typeface="Calibri" pitchFamily="34" charset="-122"/>
                <a:cs typeface="Calibri" pitchFamily="34" charset="-120"/>
              </a:rPr>
              <a:t>Single topic route</a:t>
            </a:r>
            <a:endParaRPr lang="en-US" sz="1300" dirty="0"/>
          </a:p>
        </p:txBody>
      </p:sp>
      <p:sp>
        <p:nvSpPr>
          <p:cNvPr id="29" name="Text 26"/>
          <p:cNvSpPr/>
          <p:nvPr/>
        </p:nvSpPr>
        <p:spPr>
          <a:xfrm>
            <a:off x="6400800" y="3749040"/>
            <a:ext cx="3200400" cy="274320"/>
          </a:xfrm>
          <a:prstGeom prst="rect">
            <a:avLst/>
          </a:prstGeom>
          <a:noFill/>
          <a:ln/>
        </p:spPr>
        <p:txBody>
          <a:bodyPr wrap="square" lIns="0" tIns="0" rIns="0" bIns="0" rtlCol="0" anchor="t"/>
          <a:lstStyle/>
          <a:p>
            <a:pPr algn="ctr" indent="0" marL="0">
              <a:buNone/>
            </a:pPr>
            <a:r>
              <a:rPr lang="en-US" sz="1050" dirty="0">
                <a:solidFill>
                  <a:srgbClr val="4FB39E"/>
                </a:solidFill>
                <a:latin typeface="Calibri" pitchFamily="34" charset="0"/>
                <a:ea typeface="Calibri" pitchFamily="34" charset="-122"/>
                <a:cs typeface="Calibri" pitchFamily="34" charset="-120"/>
              </a:rPr>
              <a:t>1 search  ·  1 synthesis</a:t>
            </a:r>
            <a:endParaRPr lang="en-US" sz="1050" dirty="0"/>
          </a:p>
        </p:txBody>
      </p:sp>
      <p:sp>
        <p:nvSpPr>
          <p:cNvPr id="30" name="Shape 27"/>
          <p:cNvSpPr/>
          <p:nvPr/>
        </p:nvSpPr>
        <p:spPr>
          <a:xfrm>
            <a:off x="6400800" y="4434840"/>
            <a:ext cx="3200400" cy="566928"/>
          </a:xfrm>
          <a:prstGeom prst="roundRect">
            <a:avLst>
              <a:gd name="adj" fmla="val 11290"/>
            </a:avLst>
          </a:prstGeom>
          <a:solidFill>
            <a:srgbClr val="06211B"/>
          </a:solidFill>
          <a:ln w="13970">
            <a:solidFill>
              <a:srgbClr val="9DB5AD"/>
            </a:solidFill>
            <a:prstDash val="dash"/>
          </a:ln>
        </p:spPr>
      </p:sp>
      <p:sp>
        <p:nvSpPr>
          <p:cNvPr id="31" name="Text 28"/>
          <p:cNvSpPr/>
          <p:nvPr/>
        </p:nvSpPr>
        <p:spPr>
          <a:xfrm>
            <a:off x="6400800" y="4434840"/>
            <a:ext cx="3200400" cy="566928"/>
          </a:xfrm>
          <a:prstGeom prst="rect">
            <a:avLst/>
          </a:prstGeom>
          <a:noFill/>
          <a:ln/>
        </p:spPr>
        <p:txBody>
          <a:bodyPr wrap="square" lIns="381" tIns="381" rIns="381" bIns="381" rtlCol="0" anchor="ctr"/>
          <a:lstStyle/>
          <a:p>
            <a:pPr algn="ctr" indent="0" marL="0">
              <a:buNone/>
            </a:pPr>
            <a:r>
              <a:rPr lang="en-US" sz="1050" dirty="0">
                <a:solidFill>
                  <a:srgbClr val="9DB5AD"/>
                </a:solidFill>
                <a:latin typeface="Calibri" pitchFamily="34" charset="0"/>
                <a:ea typeface="Calibri" pitchFamily="34" charset="-122"/>
                <a:cs typeface="Calibri" pitchFamily="34" charset="-120"/>
              </a:rPr>
              <a:t>FunctionAgent</a:t>
            </a:r>
            <a:endParaRPr lang="en-US" sz="1050" dirty="0"/>
          </a:p>
        </p:txBody>
      </p:sp>
      <p:pic>
        <p:nvPicPr>
          <p:cNvPr id="32" name="Image 1" descr="/home/claude/evidenceops/icons/xcircle_mutedk.png">    </p:cNvPr>
          <p:cNvPicPr>
            <a:picLocks noChangeAspect="1"/>
          </p:cNvPicPr>
          <p:nvPr/>
        </p:nvPicPr>
        <p:blipFill>
          <a:blip r:embed="rId2"/>
          <a:stretch>
            <a:fillRect/>
          </a:stretch>
        </p:blipFill>
        <p:spPr>
          <a:xfrm>
            <a:off x="6080760" y="4590288"/>
            <a:ext cx="256032" cy="256032"/>
          </a:xfrm>
          <a:prstGeom prst="rect">
            <a:avLst/>
          </a:prstGeom>
        </p:spPr>
      </p:pic>
      <p:sp>
        <p:nvSpPr>
          <p:cNvPr id="33" name="Text 29"/>
          <p:cNvSpPr/>
          <p:nvPr/>
        </p:nvSpPr>
        <p:spPr>
          <a:xfrm>
            <a:off x="6400800" y="5029200"/>
            <a:ext cx="3200400" cy="274320"/>
          </a:xfrm>
          <a:prstGeom prst="rect">
            <a:avLst/>
          </a:prstGeom>
          <a:noFill/>
          <a:ln/>
        </p:spPr>
        <p:txBody>
          <a:bodyPr wrap="square" lIns="0" tIns="0" rIns="0" bIns="0" rtlCol="0" anchor="t"/>
          <a:lstStyle/>
          <a:p>
            <a:pPr algn="ctr" indent="0" marL="0">
              <a:buNone/>
            </a:pPr>
            <a:r>
              <a:rPr lang="en-US" sz="1000" dirty="0">
                <a:solidFill>
                  <a:srgbClr val="9DB5AD"/>
                </a:solidFill>
                <a:latin typeface="Calibri" pitchFamily="34" charset="0"/>
                <a:ea typeface="Calibri" pitchFamily="34" charset="-122"/>
                <a:cs typeface="Calibri" pitchFamily="34" charset="-120"/>
              </a:rPr>
              <a:t>bypassed for these</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Next: a capabilities route</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Questions about the system never leave the system.</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18</a:t>
            </a:r>
            <a:endParaRPr lang="en-US" sz="850" dirty="0"/>
          </a:p>
        </p:txBody>
      </p:sp>
      <p:sp>
        <p:nvSpPr>
          <p:cNvPr id="10" name="Text 7"/>
          <p:cNvSpPr/>
          <p:nvPr/>
        </p:nvSpPr>
        <p:spPr>
          <a:xfrm>
            <a:off x="548640" y="1097280"/>
            <a:ext cx="11064240" cy="365760"/>
          </a:xfrm>
          <a:prstGeom prst="rect">
            <a:avLst/>
          </a:prstGeom>
          <a:noFill/>
          <a:ln/>
        </p:spPr>
        <p:txBody>
          <a:bodyPr wrap="square" lIns="0" tIns="0" rIns="0" bIns="0" rtlCol="0" anchor="t"/>
          <a:lstStyle/>
          <a:p>
            <a:pPr algn="l" indent="0" marL="0">
              <a:buNone/>
            </a:pPr>
            <a:r>
              <a:rPr lang="en-US" sz="1300" dirty="0">
                <a:solidFill>
                  <a:srgbClr val="CFE0DA"/>
                </a:solidFill>
                <a:latin typeface="Calibri" pitchFamily="34" charset="0"/>
                <a:ea typeface="Calibri" pitchFamily="34" charset="-122"/>
                <a:cs typeface="Calibri" pitchFamily="34" charset="-120"/>
              </a:rPr>
              <a:t>Questions about EvidenceOps itself should be answered from its own metadata, with retrieval and the agent left out of it.</a:t>
            </a:r>
            <a:endParaRPr lang="en-US" sz="1300" dirty="0"/>
          </a:p>
        </p:txBody>
      </p:sp>
      <p:sp>
        <p:nvSpPr>
          <p:cNvPr id="11" name="Shape 8"/>
          <p:cNvSpPr/>
          <p:nvPr/>
        </p:nvSpPr>
        <p:spPr>
          <a:xfrm>
            <a:off x="548640" y="1691640"/>
            <a:ext cx="3017520" cy="530352"/>
          </a:xfrm>
          <a:prstGeom prst="roundRect">
            <a:avLst>
              <a:gd name="adj" fmla="val 15517"/>
            </a:avLst>
          </a:prstGeom>
          <a:solidFill>
            <a:srgbClr val="0B2E27"/>
          </a:solidFill>
          <a:ln w="12700">
            <a:solidFill>
              <a:srgbClr val="1D4A3F"/>
            </a:solidFill>
            <a:prstDash val="solid"/>
          </a:ln>
        </p:spPr>
      </p:sp>
      <p:sp>
        <p:nvSpPr>
          <p:cNvPr id="12" name="Text 9"/>
          <p:cNvSpPr/>
          <p:nvPr/>
        </p:nvSpPr>
        <p:spPr>
          <a:xfrm>
            <a:off x="621792" y="1691640"/>
            <a:ext cx="2871216" cy="530352"/>
          </a:xfrm>
          <a:prstGeom prst="rect">
            <a:avLst/>
          </a:prstGeom>
          <a:noFill/>
          <a:ln/>
        </p:spPr>
        <p:txBody>
          <a:bodyPr wrap="square" lIns="635" tIns="635" rIns="635" bIns="635" rtlCol="0" anchor="ctr"/>
          <a:lstStyle/>
          <a:p>
            <a:pPr algn="l" indent="0" marL="0">
              <a:buNone/>
            </a:pPr>
            <a:r>
              <a:rPr lang="en-US" sz="1050" dirty="0">
                <a:solidFill>
                  <a:srgbClr val="E3CB9A"/>
                </a:solidFill>
                <a:latin typeface="Courier New" pitchFamily="34" charset="0"/>
                <a:ea typeface="Courier New" pitchFamily="34" charset="-122"/>
                <a:cs typeface="Courier New" pitchFamily="34" charset="-120"/>
              </a:rPr>
              <a:t>What can you do?</a:t>
            </a:r>
            <a:endParaRPr lang="en-US" sz="1050" dirty="0"/>
          </a:p>
        </p:txBody>
      </p:sp>
      <p:sp>
        <p:nvSpPr>
          <p:cNvPr id="13" name="Shape 10"/>
          <p:cNvSpPr/>
          <p:nvPr/>
        </p:nvSpPr>
        <p:spPr>
          <a:xfrm>
            <a:off x="548640" y="2386584"/>
            <a:ext cx="3017520" cy="530352"/>
          </a:xfrm>
          <a:prstGeom prst="roundRect">
            <a:avLst>
              <a:gd name="adj" fmla="val 15517"/>
            </a:avLst>
          </a:prstGeom>
          <a:solidFill>
            <a:srgbClr val="0B2E27"/>
          </a:solidFill>
          <a:ln w="12700">
            <a:solidFill>
              <a:srgbClr val="1D4A3F"/>
            </a:solidFill>
            <a:prstDash val="solid"/>
          </a:ln>
        </p:spPr>
      </p:sp>
      <p:sp>
        <p:nvSpPr>
          <p:cNvPr id="14" name="Text 11"/>
          <p:cNvSpPr/>
          <p:nvPr/>
        </p:nvSpPr>
        <p:spPr>
          <a:xfrm>
            <a:off x="621792" y="2386584"/>
            <a:ext cx="2871216" cy="530352"/>
          </a:xfrm>
          <a:prstGeom prst="rect">
            <a:avLst/>
          </a:prstGeom>
          <a:noFill/>
          <a:ln/>
        </p:spPr>
        <p:txBody>
          <a:bodyPr wrap="square" lIns="635" tIns="635" rIns="635" bIns="635" rtlCol="0" anchor="ctr"/>
          <a:lstStyle/>
          <a:p>
            <a:pPr algn="l" indent="0" marL="0">
              <a:buNone/>
            </a:pPr>
            <a:r>
              <a:rPr lang="en-US" sz="1050" dirty="0">
                <a:solidFill>
                  <a:srgbClr val="E3CB9A"/>
                </a:solidFill>
                <a:latin typeface="Courier New" pitchFamily="34" charset="0"/>
                <a:ea typeface="Courier New" pitchFamily="34" charset="-122"/>
                <a:cs typeface="Courier New" pitchFamily="34" charset="-120"/>
              </a:rPr>
              <a:t>Show your tools</a:t>
            </a:r>
            <a:endParaRPr lang="en-US" sz="1050" dirty="0"/>
          </a:p>
        </p:txBody>
      </p:sp>
      <p:sp>
        <p:nvSpPr>
          <p:cNvPr id="15" name="Shape 12"/>
          <p:cNvSpPr/>
          <p:nvPr/>
        </p:nvSpPr>
        <p:spPr>
          <a:xfrm>
            <a:off x="548640" y="3081528"/>
            <a:ext cx="3017520" cy="530352"/>
          </a:xfrm>
          <a:prstGeom prst="roundRect">
            <a:avLst>
              <a:gd name="adj" fmla="val 15517"/>
            </a:avLst>
          </a:prstGeom>
          <a:solidFill>
            <a:srgbClr val="0B2E27"/>
          </a:solidFill>
          <a:ln w="12700">
            <a:solidFill>
              <a:srgbClr val="1D4A3F"/>
            </a:solidFill>
            <a:prstDash val="solid"/>
          </a:ln>
        </p:spPr>
      </p:sp>
      <p:sp>
        <p:nvSpPr>
          <p:cNvPr id="16" name="Text 13"/>
          <p:cNvSpPr/>
          <p:nvPr/>
        </p:nvSpPr>
        <p:spPr>
          <a:xfrm>
            <a:off x="621792" y="3081528"/>
            <a:ext cx="2871216" cy="530352"/>
          </a:xfrm>
          <a:prstGeom prst="rect">
            <a:avLst/>
          </a:prstGeom>
          <a:noFill/>
          <a:ln/>
        </p:spPr>
        <p:txBody>
          <a:bodyPr wrap="square" lIns="635" tIns="635" rIns="635" bIns="635" rtlCol="0" anchor="ctr"/>
          <a:lstStyle/>
          <a:p>
            <a:pPr algn="l" indent="0" marL="0">
              <a:buNone/>
            </a:pPr>
            <a:r>
              <a:rPr lang="en-US" sz="1050" dirty="0">
                <a:solidFill>
                  <a:srgbClr val="E3CB9A"/>
                </a:solidFill>
                <a:latin typeface="Courier New" pitchFamily="34" charset="0"/>
                <a:ea typeface="Courier New" pitchFamily="34" charset="-122"/>
                <a:cs typeface="Courier New" pitchFamily="34" charset="-120"/>
              </a:rPr>
              <a:t>Show your API</a:t>
            </a:r>
            <a:endParaRPr lang="en-US" sz="1050" dirty="0"/>
          </a:p>
        </p:txBody>
      </p:sp>
      <p:sp>
        <p:nvSpPr>
          <p:cNvPr id="17" name="Shape 14"/>
          <p:cNvSpPr/>
          <p:nvPr/>
        </p:nvSpPr>
        <p:spPr>
          <a:xfrm>
            <a:off x="4343400" y="1965960"/>
            <a:ext cx="1463040" cy="1463040"/>
          </a:xfrm>
          <a:prstGeom prst="diamond">
            <a:avLst/>
          </a:prstGeom>
          <a:solidFill>
            <a:srgbClr val="C29C55"/>
          </a:solidFill>
          <a:ln w="12700">
            <a:solidFill>
              <a:srgbClr val="C29C55"/>
            </a:solidFill>
            <a:prstDash val="solid"/>
          </a:ln>
        </p:spPr>
      </p:sp>
      <p:sp>
        <p:nvSpPr>
          <p:cNvPr id="18" name="Text 15"/>
          <p:cNvSpPr/>
          <p:nvPr/>
        </p:nvSpPr>
        <p:spPr>
          <a:xfrm>
            <a:off x="4206240" y="1965960"/>
            <a:ext cx="1737360" cy="1463040"/>
          </a:xfrm>
          <a:prstGeom prst="rect">
            <a:avLst/>
          </a:prstGeom>
          <a:noFill/>
          <a:ln/>
        </p:spPr>
        <p:txBody>
          <a:bodyPr wrap="square" lIns="0" tIns="0" rIns="0" bIns="0" rtlCol="0" anchor="ctr"/>
          <a:lstStyle/>
          <a:p>
            <a:pPr algn="ctr" indent="0" marL="0">
              <a:buNone/>
            </a:pPr>
            <a:r>
              <a:rPr lang="en-US" sz="1200" b="1" dirty="0">
                <a:solidFill>
                  <a:srgbClr val="06211B"/>
                </a:solidFill>
                <a:latin typeface="Calibri" pitchFamily="34" charset="0"/>
                <a:ea typeface="Calibri" pitchFamily="34" charset="-122"/>
                <a:cs typeface="Calibri" pitchFamily="34" charset="-120"/>
              </a:rPr>
              <a:t>Router</a:t>
            </a:r>
            <a:endParaRPr lang="en-US" sz="1200" dirty="0"/>
          </a:p>
        </p:txBody>
      </p:sp>
      <p:sp>
        <p:nvSpPr>
          <p:cNvPr id="19" name="Shape 16"/>
          <p:cNvSpPr/>
          <p:nvPr/>
        </p:nvSpPr>
        <p:spPr>
          <a:xfrm>
            <a:off x="3611880" y="2697480"/>
            <a:ext cx="667512" cy="0"/>
          </a:xfrm>
          <a:prstGeom prst="line">
            <a:avLst/>
          </a:prstGeom>
          <a:noFill/>
          <a:ln w="21590">
            <a:solidFill>
              <a:srgbClr val="6F8F85"/>
            </a:solidFill>
            <a:prstDash val="solid"/>
            <a:tailEnd type="triangle"/>
          </a:ln>
        </p:spPr>
      </p:sp>
      <p:sp>
        <p:nvSpPr>
          <p:cNvPr id="20" name="Shape 17"/>
          <p:cNvSpPr/>
          <p:nvPr/>
        </p:nvSpPr>
        <p:spPr>
          <a:xfrm>
            <a:off x="5870448" y="2697480"/>
            <a:ext cx="713232" cy="0"/>
          </a:xfrm>
          <a:prstGeom prst="line">
            <a:avLst/>
          </a:prstGeom>
          <a:noFill/>
          <a:ln w="25400">
            <a:solidFill>
              <a:srgbClr val="4FB39E"/>
            </a:solidFill>
            <a:prstDash val="solid"/>
            <a:tailEnd type="triangle"/>
          </a:ln>
        </p:spPr>
      </p:sp>
      <p:sp>
        <p:nvSpPr>
          <p:cNvPr id="21" name="Shape 18"/>
          <p:cNvSpPr/>
          <p:nvPr/>
        </p:nvSpPr>
        <p:spPr>
          <a:xfrm>
            <a:off x="6675120" y="2286000"/>
            <a:ext cx="4572000" cy="822960"/>
          </a:xfrm>
          <a:prstGeom prst="roundRect">
            <a:avLst>
              <a:gd name="adj" fmla="val 7778"/>
            </a:avLst>
          </a:prstGeom>
          <a:solidFill>
            <a:srgbClr val="4FB39E"/>
          </a:solidFill>
          <a:ln w="12700">
            <a:solidFill>
              <a:srgbClr val="4FB39E"/>
            </a:solidFill>
            <a:prstDash val="solid"/>
          </a:ln>
        </p:spPr>
      </p:sp>
      <p:sp>
        <p:nvSpPr>
          <p:cNvPr id="22" name="Text 19"/>
          <p:cNvSpPr/>
          <p:nvPr/>
        </p:nvSpPr>
        <p:spPr>
          <a:xfrm>
            <a:off x="6675120" y="2286000"/>
            <a:ext cx="4572000" cy="822960"/>
          </a:xfrm>
          <a:prstGeom prst="rect">
            <a:avLst/>
          </a:prstGeom>
          <a:noFill/>
          <a:ln/>
        </p:spPr>
        <p:txBody>
          <a:bodyPr wrap="square" lIns="381" tIns="381" rIns="381" bIns="381" rtlCol="0" anchor="ctr"/>
          <a:lstStyle/>
          <a:p>
            <a:pPr algn="ctr" indent="0" marL="0">
              <a:buNone/>
            </a:pPr>
            <a:r>
              <a:rPr lang="en-US" sz="1250" b="1" dirty="0">
                <a:solidFill>
                  <a:srgbClr val="06211B"/>
                </a:solidFill>
                <a:latin typeface="Calibri" pitchFamily="34" charset="0"/>
                <a:ea typeface="Calibri" pitchFamily="34" charset="-122"/>
                <a:cs typeface="Calibri" pitchFamily="34" charset="-120"/>
              </a:rPr>
              <a:t>Answer from system metadata</a:t>
            </a:r>
            <a:endParaRPr lang="en-US" sz="1250" dirty="0"/>
          </a:p>
        </p:txBody>
      </p:sp>
      <p:sp>
        <p:nvSpPr>
          <p:cNvPr id="23" name="Shape 20"/>
          <p:cNvSpPr/>
          <p:nvPr/>
        </p:nvSpPr>
        <p:spPr>
          <a:xfrm>
            <a:off x="6675120" y="3429000"/>
            <a:ext cx="2148840" cy="530352"/>
          </a:xfrm>
          <a:prstGeom prst="roundRect">
            <a:avLst>
              <a:gd name="adj" fmla="val 12069"/>
            </a:avLst>
          </a:prstGeom>
          <a:solidFill>
            <a:srgbClr val="06211B"/>
          </a:solidFill>
          <a:ln w="13970">
            <a:solidFill>
              <a:srgbClr val="9DB5AD"/>
            </a:solidFill>
            <a:prstDash val="dash"/>
          </a:ln>
        </p:spPr>
      </p:sp>
      <p:sp>
        <p:nvSpPr>
          <p:cNvPr id="24" name="Text 21"/>
          <p:cNvSpPr/>
          <p:nvPr/>
        </p:nvSpPr>
        <p:spPr>
          <a:xfrm>
            <a:off x="6675120" y="3429000"/>
            <a:ext cx="2148840" cy="530352"/>
          </a:xfrm>
          <a:prstGeom prst="rect">
            <a:avLst/>
          </a:prstGeom>
          <a:noFill/>
          <a:ln/>
        </p:spPr>
        <p:txBody>
          <a:bodyPr wrap="square" lIns="381" tIns="381" rIns="381" bIns="381" rtlCol="0" anchor="ctr"/>
          <a:lstStyle/>
          <a:p>
            <a:pPr algn="ctr" indent="0" marL="0">
              <a:buNone/>
            </a:pPr>
            <a:r>
              <a:rPr lang="en-US" sz="1000" dirty="0">
                <a:solidFill>
                  <a:srgbClr val="9DB5AD"/>
                </a:solidFill>
                <a:latin typeface="Calibri" pitchFamily="34" charset="0"/>
                <a:ea typeface="Calibri" pitchFamily="34" charset="-122"/>
                <a:cs typeface="Calibri" pitchFamily="34" charset="-120"/>
              </a:rPr>
              <a:t>no retrieval</a:t>
            </a:r>
            <a:endParaRPr lang="en-US" sz="1000" dirty="0"/>
          </a:p>
        </p:txBody>
      </p:sp>
      <p:sp>
        <p:nvSpPr>
          <p:cNvPr id="25" name="Shape 22"/>
          <p:cNvSpPr/>
          <p:nvPr/>
        </p:nvSpPr>
        <p:spPr>
          <a:xfrm>
            <a:off x="9098280" y="3429000"/>
            <a:ext cx="2148840" cy="530352"/>
          </a:xfrm>
          <a:prstGeom prst="roundRect">
            <a:avLst>
              <a:gd name="adj" fmla="val 12069"/>
            </a:avLst>
          </a:prstGeom>
          <a:solidFill>
            <a:srgbClr val="06211B"/>
          </a:solidFill>
          <a:ln w="13970">
            <a:solidFill>
              <a:srgbClr val="9DB5AD"/>
            </a:solidFill>
            <a:prstDash val="dash"/>
          </a:ln>
        </p:spPr>
      </p:sp>
      <p:sp>
        <p:nvSpPr>
          <p:cNvPr id="26" name="Text 23"/>
          <p:cNvSpPr/>
          <p:nvPr/>
        </p:nvSpPr>
        <p:spPr>
          <a:xfrm>
            <a:off x="9098280" y="3429000"/>
            <a:ext cx="2148840" cy="530352"/>
          </a:xfrm>
          <a:prstGeom prst="rect">
            <a:avLst/>
          </a:prstGeom>
          <a:noFill/>
          <a:ln/>
        </p:spPr>
        <p:txBody>
          <a:bodyPr wrap="square" lIns="381" tIns="381" rIns="381" bIns="381" rtlCol="0" anchor="ctr"/>
          <a:lstStyle/>
          <a:p>
            <a:pPr algn="ctr" indent="0" marL="0">
              <a:buNone/>
            </a:pPr>
            <a:r>
              <a:rPr lang="en-US" sz="1000" dirty="0">
                <a:solidFill>
                  <a:srgbClr val="9DB5AD"/>
                </a:solidFill>
                <a:latin typeface="Calibri" pitchFamily="34" charset="0"/>
                <a:ea typeface="Calibri" pitchFamily="34" charset="-122"/>
                <a:cs typeface="Calibri" pitchFamily="34" charset="-120"/>
              </a:rPr>
              <a:t>no agent</a:t>
            </a:r>
            <a:endParaRPr lang="en-US" sz="1000" dirty="0"/>
          </a:p>
        </p:txBody>
      </p:sp>
      <p:sp>
        <p:nvSpPr>
          <p:cNvPr id="27" name="Text 24"/>
          <p:cNvSpPr/>
          <p:nvPr/>
        </p:nvSpPr>
        <p:spPr>
          <a:xfrm>
            <a:off x="548640" y="4526280"/>
            <a:ext cx="3657600" cy="320040"/>
          </a:xfrm>
          <a:prstGeom prst="rect">
            <a:avLst/>
          </a:prstGeom>
          <a:noFill/>
          <a:ln/>
        </p:spPr>
        <p:txBody>
          <a:bodyPr wrap="square" lIns="0" tIns="0" rIns="0" bIns="0" rtlCol="0" anchor="ctr"/>
          <a:lstStyle/>
          <a:p>
            <a:pPr algn="l" indent="0" marL="0">
              <a:buNone/>
            </a:pPr>
            <a:r>
              <a:rPr lang="en-US" sz="1150" b="1" dirty="0">
                <a:solidFill>
                  <a:srgbClr val="F2F7F4"/>
                </a:solidFill>
                <a:latin typeface="Calibri" pitchFamily="34" charset="0"/>
                <a:ea typeface="Calibri" pitchFamily="34" charset="-122"/>
                <a:cs typeface="Calibri" pitchFamily="34" charset="-120"/>
              </a:rPr>
              <a:t>In the routing cascade</a:t>
            </a:r>
            <a:endParaRPr lang="en-US" sz="1150" dirty="0"/>
          </a:p>
        </p:txBody>
      </p:sp>
      <p:sp>
        <p:nvSpPr>
          <p:cNvPr id="28" name="Shape 25"/>
          <p:cNvSpPr/>
          <p:nvPr/>
        </p:nvSpPr>
        <p:spPr>
          <a:xfrm>
            <a:off x="960120" y="4960620"/>
            <a:ext cx="1737360" cy="777240"/>
          </a:xfrm>
          <a:prstGeom prst="diamond">
            <a:avLst/>
          </a:prstGeom>
          <a:solidFill>
            <a:srgbClr val="06211B"/>
          </a:solidFill>
          <a:ln w="13970">
            <a:solidFill>
              <a:srgbClr val="C29C55"/>
            </a:solidFill>
            <a:prstDash val="dash"/>
          </a:ln>
        </p:spPr>
      </p:sp>
      <p:sp>
        <p:nvSpPr>
          <p:cNvPr id="29" name="Text 26"/>
          <p:cNvSpPr/>
          <p:nvPr/>
        </p:nvSpPr>
        <p:spPr>
          <a:xfrm>
            <a:off x="822960" y="4960620"/>
            <a:ext cx="2011680" cy="777240"/>
          </a:xfrm>
          <a:prstGeom prst="rect">
            <a:avLst/>
          </a:prstGeom>
          <a:noFill/>
          <a:ln/>
        </p:spPr>
        <p:txBody>
          <a:bodyPr wrap="square" lIns="0" tIns="0" rIns="0" bIns="0" rtlCol="0" anchor="ctr"/>
          <a:lstStyle/>
          <a:p>
            <a:pPr algn="ctr" indent="0" marL="0">
              <a:buNone/>
            </a:pPr>
            <a:r>
              <a:rPr lang="en-US" sz="900" b="1" dirty="0">
                <a:solidFill>
                  <a:srgbClr val="E3CB9A"/>
                </a:solidFill>
                <a:latin typeface="Calibri" pitchFamily="34" charset="0"/>
                <a:ea typeface="Calibri" pitchFamily="34" charset="-122"/>
                <a:cs typeface="Calibri" pitchFamily="34" charset="-120"/>
              </a:rPr>
              <a:t>today: planned</a:t>
            </a:r>
            <a:endParaRPr lang="en-US" sz="900" dirty="0"/>
          </a:p>
        </p:txBody>
      </p:sp>
      <p:sp>
        <p:nvSpPr>
          <p:cNvPr id="30" name="Shape 27"/>
          <p:cNvSpPr/>
          <p:nvPr/>
        </p:nvSpPr>
        <p:spPr>
          <a:xfrm>
            <a:off x="2880360" y="5349240"/>
            <a:ext cx="1097280" cy="0"/>
          </a:xfrm>
          <a:prstGeom prst="line">
            <a:avLst/>
          </a:prstGeom>
          <a:noFill/>
          <a:ln w="20320">
            <a:solidFill>
              <a:srgbClr val="6F8F85"/>
            </a:solidFill>
            <a:prstDash val="solid"/>
            <a:tailEnd type="triangle"/>
          </a:ln>
        </p:spPr>
      </p:sp>
      <p:sp>
        <p:nvSpPr>
          <p:cNvPr id="31" name="Shape 28"/>
          <p:cNvSpPr/>
          <p:nvPr/>
        </p:nvSpPr>
        <p:spPr>
          <a:xfrm>
            <a:off x="4160520" y="4960620"/>
            <a:ext cx="1737360" cy="777240"/>
          </a:xfrm>
          <a:prstGeom prst="diamond">
            <a:avLst/>
          </a:prstGeom>
          <a:solidFill>
            <a:srgbClr val="C29C55"/>
          </a:solidFill>
          <a:ln w="12700">
            <a:solidFill>
              <a:srgbClr val="C29C55"/>
            </a:solidFill>
            <a:prstDash val="solid"/>
          </a:ln>
        </p:spPr>
      </p:sp>
      <p:sp>
        <p:nvSpPr>
          <p:cNvPr id="32" name="Text 29"/>
          <p:cNvSpPr/>
          <p:nvPr/>
        </p:nvSpPr>
        <p:spPr>
          <a:xfrm>
            <a:off x="4023360" y="4960620"/>
            <a:ext cx="2011680" cy="777240"/>
          </a:xfrm>
          <a:prstGeom prst="rect">
            <a:avLst/>
          </a:prstGeom>
          <a:noFill/>
          <a:ln/>
        </p:spPr>
        <p:txBody>
          <a:bodyPr wrap="square" lIns="0" tIns="0" rIns="0" bIns="0" rtlCol="0" anchor="ctr"/>
          <a:lstStyle/>
          <a:p>
            <a:pPr algn="ctr" indent="0" marL="0">
              <a:buNone/>
            </a:pPr>
            <a:r>
              <a:rPr lang="en-US" sz="900" b="1" dirty="0">
                <a:solidFill>
                  <a:srgbClr val="06211B"/>
                </a:solidFill>
                <a:latin typeface="Calibri" pitchFamily="34" charset="0"/>
                <a:ea typeface="Calibri" pitchFamily="34" charset="-122"/>
                <a:cs typeface="Calibri" pitchFamily="34" charset="-120"/>
              </a:rPr>
              <a:t>next: live</a:t>
            </a:r>
            <a:endParaRPr lang="en-US" sz="900" dirty="0"/>
          </a:p>
        </p:txBody>
      </p:sp>
      <p:sp>
        <p:nvSpPr>
          <p:cNvPr id="33" name="Text 30"/>
          <p:cNvSpPr/>
          <p:nvPr/>
        </p:nvSpPr>
        <p:spPr>
          <a:xfrm>
            <a:off x="6217920" y="5120640"/>
            <a:ext cx="5394960" cy="502920"/>
          </a:xfrm>
          <a:prstGeom prst="rect">
            <a:avLst/>
          </a:prstGeom>
          <a:noFill/>
          <a:ln/>
        </p:spPr>
        <p:txBody>
          <a:bodyPr wrap="square" lIns="0" tIns="0" rIns="0" bIns="0" rtlCol="0" anchor="ctr"/>
          <a:lstStyle/>
          <a:p>
            <a:pPr algn="l" indent="0" marL="0">
              <a:buNone/>
            </a:pPr>
            <a:r>
              <a:rPr lang="en-US" sz="1050" dirty="0">
                <a:solidFill>
                  <a:srgbClr val="9DB5AD"/>
                </a:solidFill>
                <a:latin typeface="Calibri" pitchFamily="34" charset="0"/>
                <a:ea typeface="Calibri" pitchFamily="34" charset="-122"/>
                <a:cs typeface="Calibri" pitchFamily="34" charset="-120"/>
              </a:rPr>
              <a:t>The reserved second check in the cascade turns solid; nothing else moves.</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Beyond static routing</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The router interface stays; only the decision logic gets smarter.</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19</a:t>
            </a:r>
            <a:endParaRPr lang="en-US" sz="850" dirty="0"/>
          </a:p>
        </p:txBody>
      </p:sp>
      <p:sp>
        <p:nvSpPr>
          <p:cNvPr id="10" name="Shape 7"/>
          <p:cNvSpPr/>
          <p:nvPr/>
        </p:nvSpPr>
        <p:spPr>
          <a:xfrm>
            <a:off x="822960" y="3657600"/>
            <a:ext cx="10698480" cy="0"/>
          </a:xfrm>
          <a:prstGeom prst="line">
            <a:avLst/>
          </a:prstGeom>
          <a:noFill/>
          <a:ln w="20320">
            <a:solidFill>
              <a:srgbClr val="3D6B5F"/>
            </a:solidFill>
            <a:prstDash val="solid"/>
            <a:tailEnd type="triangle"/>
          </a:ln>
        </p:spPr>
      </p:sp>
      <p:sp>
        <p:nvSpPr>
          <p:cNvPr id="11" name="Text 8"/>
          <p:cNvSpPr/>
          <p:nvPr/>
        </p:nvSpPr>
        <p:spPr>
          <a:xfrm>
            <a:off x="548640" y="3200400"/>
            <a:ext cx="731520" cy="274320"/>
          </a:xfrm>
          <a:prstGeom prst="rect">
            <a:avLst/>
          </a:prstGeom>
          <a:noFill/>
          <a:ln/>
        </p:spPr>
        <p:txBody>
          <a:bodyPr wrap="square" lIns="0" tIns="0" rIns="0" bIns="0" rtlCol="0" anchor="ctr"/>
          <a:lstStyle/>
          <a:p>
            <a:pPr algn="l" indent="0" marL="0">
              <a:buNone/>
            </a:pPr>
            <a:r>
              <a:rPr lang="en-US" sz="1000" dirty="0">
                <a:solidFill>
                  <a:srgbClr val="9DB5AD"/>
                </a:solidFill>
                <a:latin typeface="Calibri" pitchFamily="34" charset="0"/>
                <a:ea typeface="Calibri" pitchFamily="34" charset="-122"/>
                <a:cs typeface="Calibri" pitchFamily="34" charset="-120"/>
              </a:rPr>
              <a:t>now</a:t>
            </a:r>
            <a:endParaRPr lang="en-US" sz="1000" dirty="0"/>
          </a:p>
        </p:txBody>
      </p:sp>
      <p:sp>
        <p:nvSpPr>
          <p:cNvPr id="12" name="Text 9"/>
          <p:cNvSpPr/>
          <p:nvPr/>
        </p:nvSpPr>
        <p:spPr>
          <a:xfrm>
            <a:off x="10972800" y="3200400"/>
            <a:ext cx="731520" cy="274320"/>
          </a:xfrm>
          <a:prstGeom prst="rect">
            <a:avLst/>
          </a:prstGeom>
          <a:noFill/>
          <a:ln/>
        </p:spPr>
        <p:txBody>
          <a:bodyPr wrap="square" lIns="0" tIns="0" rIns="0" bIns="0" rtlCol="0" anchor="ctr"/>
          <a:lstStyle/>
          <a:p>
            <a:pPr algn="r" indent="0" marL="0">
              <a:buNone/>
            </a:pPr>
            <a:r>
              <a:rPr lang="en-US" sz="1000" dirty="0">
                <a:solidFill>
                  <a:srgbClr val="9DB5AD"/>
                </a:solidFill>
                <a:latin typeface="Calibri" pitchFamily="34" charset="0"/>
                <a:ea typeface="Calibri" pitchFamily="34" charset="-122"/>
                <a:cs typeface="Calibri" pitchFamily="34" charset="-120"/>
              </a:rPr>
              <a:t>later</a:t>
            </a:r>
            <a:endParaRPr lang="en-US" sz="1000" dirty="0"/>
          </a:p>
        </p:txBody>
      </p:sp>
      <p:sp>
        <p:nvSpPr>
          <p:cNvPr id="13" name="Shape 10"/>
          <p:cNvSpPr/>
          <p:nvPr/>
        </p:nvSpPr>
        <p:spPr>
          <a:xfrm>
            <a:off x="1325880" y="3566160"/>
            <a:ext cx="182880" cy="182880"/>
          </a:xfrm>
          <a:prstGeom prst="ellipse">
            <a:avLst/>
          </a:prstGeom>
          <a:solidFill>
            <a:srgbClr val="C29C55"/>
          </a:solidFill>
          <a:ln w="19050">
            <a:solidFill>
              <a:srgbClr val="06211B"/>
            </a:solidFill>
            <a:prstDash val="solid"/>
          </a:ln>
        </p:spPr>
      </p:sp>
      <p:sp>
        <p:nvSpPr>
          <p:cNvPr id="14" name="Shape 11"/>
          <p:cNvSpPr/>
          <p:nvPr/>
        </p:nvSpPr>
        <p:spPr>
          <a:xfrm>
            <a:off x="1417320" y="3410712"/>
            <a:ext cx="0" cy="155448"/>
          </a:xfrm>
          <a:prstGeom prst="line">
            <a:avLst/>
          </a:prstGeom>
          <a:noFill/>
          <a:ln w="12700">
            <a:solidFill>
              <a:srgbClr val="3D6B5F"/>
            </a:solidFill>
            <a:prstDash val="solid"/>
          </a:ln>
        </p:spPr>
      </p:sp>
      <p:sp>
        <p:nvSpPr>
          <p:cNvPr id="15" name="Shape 12"/>
          <p:cNvSpPr/>
          <p:nvPr/>
        </p:nvSpPr>
        <p:spPr>
          <a:xfrm>
            <a:off x="502920" y="2286000"/>
            <a:ext cx="1828800" cy="1097280"/>
          </a:xfrm>
          <a:prstGeom prst="roundRect">
            <a:avLst>
              <a:gd name="adj" fmla="val 6667"/>
            </a:avLst>
          </a:prstGeom>
          <a:solidFill>
            <a:srgbClr val="0B2E27"/>
          </a:solidFill>
          <a:ln w="12700">
            <a:solidFill>
              <a:srgbClr val="1D4A3F"/>
            </a:solidFill>
            <a:prstDash val="solid"/>
          </a:ln>
        </p:spPr>
      </p:sp>
      <p:pic>
        <p:nvPicPr>
          <p:cNvPr id="16" name="Image 1" descr="/home/claude/evidenceops/icons/shuffle_tealbr.png">    </p:cNvPr>
          <p:cNvPicPr>
            <a:picLocks noChangeAspect="1"/>
          </p:cNvPicPr>
          <p:nvPr/>
        </p:nvPicPr>
        <p:blipFill>
          <a:blip r:embed="rId2"/>
          <a:stretch>
            <a:fillRect/>
          </a:stretch>
        </p:blipFill>
        <p:spPr>
          <a:xfrm>
            <a:off x="640080" y="2414016"/>
            <a:ext cx="237744" cy="237744"/>
          </a:xfrm>
          <a:prstGeom prst="rect">
            <a:avLst/>
          </a:prstGeom>
        </p:spPr>
      </p:pic>
      <p:sp>
        <p:nvSpPr>
          <p:cNvPr id="17" name="Text 13"/>
          <p:cNvSpPr/>
          <p:nvPr/>
        </p:nvSpPr>
        <p:spPr>
          <a:xfrm>
            <a:off x="960120" y="2359152"/>
            <a:ext cx="1325880" cy="384048"/>
          </a:xfrm>
          <a:prstGeom prst="rect">
            <a:avLst/>
          </a:prstGeom>
          <a:noFill/>
          <a:ln/>
        </p:spPr>
        <p:txBody>
          <a:bodyPr wrap="square" lIns="0" tIns="0" rIns="0" bIns="0" rtlCol="0" anchor="ctr"/>
          <a:lstStyle/>
          <a:p>
            <a:pPr algn="l" indent="0" marL="0">
              <a:buNone/>
            </a:pPr>
            <a:r>
              <a:rPr lang="en-US" sz="1050" b="1" dirty="0">
                <a:solidFill>
                  <a:srgbClr val="F2F7F4"/>
                </a:solidFill>
                <a:latin typeface="Calibri" pitchFamily="34" charset="0"/>
                <a:ea typeface="Calibri" pitchFamily="34" charset="-122"/>
                <a:cs typeface="Calibri" pitchFamily="34" charset="-120"/>
              </a:rPr>
              <a:t>Semantic router</a:t>
            </a:r>
            <a:endParaRPr lang="en-US" sz="1050" dirty="0"/>
          </a:p>
        </p:txBody>
      </p:sp>
      <p:sp>
        <p:nvSpPr>
          <p:cNvPr id="18" name="Text 14"/>
          <p:cNvSpPr/>
          <p:nvPr/>
        </p:nvSpPr>
        <p:spPr>
          <a:xfrm>
            <a:off x="640080" y="2761488"/>
            <a:ext cx="1572768" cy="566928"/>
          </a:xfrm>
          <a:prstGeom prst="rect">
            <a:avLst/>
          </a:prstGeom>
          <a:noFill/>
          <a:ln/>
        </p:spPr>
        <p:txBody>
          <a:bodyPr wrap="square" lIns="0" tIns="0" rIns="0" bIns="0" rtlCol="0" anchor="t"/>
          <a:lstStyle/>
          <a:p>
            <a:pPr algn="l" indent="0" marL="0">
              <a:buNone/>
            </a:pPr>
            <a:r>
              <a:rPr lang="en-US" sz="900" dirty="0">
                <a:solidFill>
                  <a:srgbClr val="9DB5AD"/>
                </a:solidFill>
                <a:latin typeface="Calibri" pitchFamily="34" charset="0"/>
                <a:ea typeface="Calibri" pitchFamily="34" charset="-122"/>
                <a:cs typeface="Calibri" pitchFamily="34" charset="-120"/>
              </a:rPr>
              <a:t>meaning, not strings</a:t>
            </a:r>
            <a:endParaRPr lang="en-US" sz="900" dirty="0"/>
          </a:p>
        </p:txBody>
      </p:sp>
      <p:sp>
        <p:nvSpPr>
          <p:cNvPr id="19" name="Shape 15"/>
          <p:cNvSpPr/>
          <p:nvPr/>
        </p:nvSpPr>
        <p:spPr>
          <a:xfrm>
            <a:off x="3200400" y="3566160"/>
            <a:ext cx="182880" cy="182880"/>
          </a:xfrm>
          <a:prstGeom prst="ellipse">
            <a:avLst/>
          </a:prstGeom>
          <a:solidFill>
            <a:srgbClr val="4FB39E"/>
          </a:solidFill>
          <a:ln w="19050">
            <a:solidFill>
              <a:srgbClr val="06211B"/>
            </a:solidFill>
            <a:prstDash val="solid"/>
          </a:ln>
        </p:spPr>
      </p:sp>
      <p:sp>
        <p:nvSpPr>
          <p:cNvPr id="20" name="Shape 16"/>
          <p:cNvSpPr/>
          <p:nvPr/>
        </p:nvSpPr>
        <p:spPr>
          <a:xfrm>
            <a:off x="3291840" y="3749040"/>
            <a:ext cx="0" cy="155448"/>
          </a:xfrm>
          <a:prstGeom prst="line">
            <a:avLst/>
          </a:prstGeom>
          <a:noFill/>
          <a:ln w="12700">
            <a:solidFill>
              <a:srgbClr val="3D6B5F"/>
            </a:solidFill>
            <a:prstDash val="solid"/>
          </a:ln>
        </p:spPr>
      </p:sp>
      <p:sp>
        <p:nvSpPr>
          <p:cNvPr id="21" name="Shape 17"/>
          <p:cNvSpPr/>
          <p:nvPr/>
        </p:nvSpPr>
        <p:spPr>
          <a:xfrm>
            <a:off x="2377440" y="4023360"/>
            <a:ext cx="1828800" cy="1097280"/>
          </a:xfrm>
          <a:prstGeom prst="roundRect">
            <a:avLst>
              <a:gd name="adj" fmla="val 6667"/>
            </a:avLst>
          </a:prstGeom>
          <a:solidFill>
            <a:srgbClr val="0B2E27"/>
          </a:solidFill>
          <a:ln w="12700">
            <a:solidFill>
              <a:srgbClr val="1D4A3F"/>
            </a:solidFill>
            <a:prstDash val="solid"/>
          </a:ln>
        </p:spPr>
      </p:sp>
      <p:pic>
        <p:nvPicPr>
          <p:cNvPr id="22" name="Image 2" descr="/home/claude/evidenceops/icons/target_tealbr.png">    </p:cNvPr>
          <p:cNvPicPr>
            <a:picLocks noChangeAspect="1"/>
          </p:cNvPicPr>
          <p:nvPr/>
        </p:nvPicPr>
        <p:blipFill>
          <a:blip r:embed="rId3"/>
          <a:stretch>
            <a:fillRect/>
          </a:stretch>
        </p:blipFill>
        <p:spPr>
          <a:xfrm>
            <a:off x="2514600" y="4151376"/>
            <a:ext cx="237744" cy="237744"/>
          </a:xfrm>
          <a:prstGeom prst="rect">
            <a:avLst/>
          </a:prstGeom>
        </p:spPr>
      </p:pic>
      <p:sp>
        <p:nvSpPr>
          <p:cNvPr id="23" name="Text 18"/>
          <p:cNvSpPr/>
          <p:nvPr/>
        </p:nvSpPr>
        <p:spPr>
          <a:xfrm>
            <a:off x="2834640" y="4096512"/>
            <a:ext cx="1325880" cy="384048"/>
          </a:xfrm>
          <a:prstGeom prst="rect">
            <a:avLst/>
          </a:prstGeom>
          <a:noFill/>
          <a:ln/>
        </p:spPr>
        <p:txBody>
          <a:bodyPr wrap="square" lIns="0" tIns="0" rIns="0" bIns="0" rtlCol="0" anchor="ctr"/>
          <a:lstStyle/>
          <a:p>
            <a:pPr algn="l" indent="0" marL="0">
              <a:buNone/>
            </a:pPr>
            <a:r>
              <a:rPr lang="en-US" sz="1050" b="1" dirty="0">
                <a:solidFill>
                  <a:srgbClr val="F2F7F4"/>
                </a:solidFill>
                <a:latin typeface="Calibri" pitchFamily="34" charset="0"/>
                <a:ea typeface="Calibri" pitchFamily="34" charset="-122"/>
                <a:cs typeface="Calibri" pitchFamily="34" charset="-120"/>
              </a:rPr>
              <a:t>Intent classification</a:t>
            </a:r>
            <a:endParaRPr lang="en-US" sz="1050" dirty="0"/>
          </a:p>
        </p:txBody>
      </p:sp>
      <p:sp>
        <p:nvSpPr>
          <p:cNvPr id="24" name="Text 19"/>
          <p:cNvSpPr/>
          <p:nvPr/>
        </p:nvSpPr>
        <p:spPr>
          <a:xfrm>
            <a:off x="2514600" y="4498848"/>
            <a:ext cx="1572768" cy="566928"/>
          </a:xfrm>
          <a:prstGeom prst="rect">
            <a:avLst/>
          </a:prstGeom>
          <a:noFill/>
          <a:ln/>
        </p:spPr>
        <p:txBody>
          <a:bodyPr wrap="square" lIns="0" tIns="0" rIns="0" bIns="0" rtlCol="0" anchor="t"/>
          <a:lstStyle/>
          <a:p>
            <a:pPr algn="l" indent="0" marL="0">
              <a:buNone/>
            </a:pPr>
            <a:r>
              <a:rPr lang="en-US" sz="900" dirty="0">
                <a:solidFill>
                  <a:srgbClr val="9DB5AD"/>
                </a:solidFill>
                <a:latin typeface="Calibri" pitchFamily="34" charset="0"/>
                <a:ea typeface="Calibri" pitchFamily="34" charset="-122"/>
                <a:cs typeface="Calibri" pitchFamily="34" charset="-120"/>
              </a:rPr>
              <a:t>a learned first check</a:t>
            </a:r>
            <a:endParaRPr lang="en-US" sz="900" dirty="0"/>
          </a:p>
        </p:txBody>
      </p:sp>
      <p:sp>
        <p:nvSpPr>
          <p:cNvPr id="25" name="Shape 20"/>
          <p:cNvSpPr/>
          <p:nvPr/>
        </p:nvSpPr>
        <p:spPr>
          <a:xfrm>
            <a:off x="5074920" y="3566160"/>
            <a:ext cx="182880" cy="182880"/>
          </a:xfrm>
          <a:prstGeom prst="ellipse">
            <a:avLst/>
          </a:prstGeom>
          <a:solidFill>
            <a:srgbClr val="4FB39E"/>
          </a:solidFill>
          <a:ln w="19050">
            <a:solidFill>
              <a:srgbClr val="06211B"/>
            </a:solidFill>
            <a:prstDash val="solid"/>
          </a:ln>
        </p:spPr>
      </p:sp>
      <p:sp>
        <p:nvSpPr>
          <p:cNvPr id="26" name="Shape 21"/>
          <p:cNvSpPr/>
          <p:nvPr/>
        </p:nvSpPr>
        <p:spPr>
          <a:xfrm>
            <a:off x="5166360" y="3410712"/>
            <a:ext cx="0" cy="155448"/>
          </a:xfrm>
          <a:prstGeom prst="line">
            <a:avLst/>
          </a:prstGeom>
          <a:noFill/>
          <a:ln w="12700">
            <a:solidFill>
              <a:srgbClr val="3D6B5F"/>
            </a:solidFill>
            <a:prstDash val="solid"/>
          </a:ln>
        </p:spPr>
      </p:sp>
      <p:sp>
        <p:nvSpPr>
          <p:cNvPr id="27" name="Shape 22"/>
          <p:cNvSpPr/>
          <p:nvPr/>
        </p:nvSpPr>
        <p:spPr>
          <a:xfrm>
            <a:off x="4251960" y="2286000"/>
            <a:ext cx="1828800" cy="1097280"/>
          </a:xfrm>
          <a:prstGeom prst="roundRect">
            <a:avLst>
              <a:gd name="adj" fmla="val 6667"/>
            </a:avLst>
          </a:prstGeom>
          <a:solidFill>
            <a:srgbClr val="0B2E27"/>
          </a:solidFill>
          <a:ln w="12700">
            <a:solidFill>
              <a:srgbClr val="1D4A3F"/>
            </a:solidFill>
            <a:prstDash val="solid"/>
          </a:ln>
        </p:spPr>
      </p:sp>
      <p:pic>
        <p:nvPicPr>
          <p:cNvPr id="28" name="Image 3" descr="/home/claude/evidenceops/icons/gitbranch_tealbr.png">    </p:cNvPr>
          <p:cNvPicPr>
            <a:picLocks noChangeAspect="1"/>
          </p:cNvPicPr>
          <p:nvPr/>
        </p:nvPicPr>
        <p:blipFill>
          <a:blip r:embed="rId4"/>
          <a:stretch>
            <a:fillRect/>
          </a:stretch>
        </p:blipFill>
        <p:spPr>
          <a:xfrm>
            <a:off x="4389120" y="2414016"/>
            <a:ext cx="237744" cy="237744"/>
          </a:xfrm>
          <a:prstGeom prst="rect">
            <a:avLst/>
          </a:prstGeom>
        </p:spPr>
      </p:pic>
      <p:sp>
        <p:nvSpPr>
          <p:cNvPr id="29" name="Text 23"/>
          <p:cNvSpPr/>
          <p:nvPr/>
        </p:nvSpPr>
        <p:spPr>
          <a:xfrm>
            <a:off x="4709160" y="2359152"/>
            <a:ext cx="1325880" cy="384048"/>
          </a:xfrm>
          <a:prstGeom prst="rect">
            <a:avLst/>
          </a:prstGeom>
          <a:noFill/>
          <a:ln/>
        </p:spPr>
        <p:txBody>
          <a:bodyPr wrap="square" lIns="0" tIns="0" rIns="0" bIns="0" rtlCol="0" anchor="ctr"/>
          <a:lstStyle/>
          <a:p>
            <a:pPr algn="l" indent="0" marL="0">
              <a:buNone/>
            </a:pPr>
            <a:r>
              <a:rPr lang="en-US" sz="1050" b="1" dirty="0">
                <a:solidFill>
                  <a:srgbClr val="F2F7F4"/>
                </a:solidFill>
                <a:latin typeface="Calibri" pitchFamily="34" charset="0"/>
                <a:ea typeface="Calibri" pitchFamily="34" charset="-122"/>
                <a:cs typeface="Calibri" pitchFamily="34" charset="-120"/>
              </a:rPr>
              <a:t>Dynamic routing</a:t>
            </a:r>
            <a:endParaRPr lang="en-US" sz="1050" dirty="0"/>
          </a:p>
        </p:txBody>
      </p:sp>
      <p:sp>
        <p:nvSpPr>
          <p:cNvPr id="30" name="Text 24"/>
          <p:cNvSpPr/>
          <p:nvPr/>
        </p:nvSpPr>
        <p:spPr>
          <a:xfrm>
            <a:off x="4389120" y="2761488"/>
            <a:ext cx="1572768" cy="566928"/>
          </a:xfrm>
          <a:prstGeom prst="rect">
            <a:avLst/>
          </a:prstGeom>
          <a:noFill/>
          <a:ln/>
        </p:spPr>
        <p:txBody>
          <a:bodyPr wrap="square" lIns="0" tIns="0" rIns="0" bIns="0" rtlCol="0" anchor="t"/>
          <a:lstStyle/>
          <a:p>
            <a:pPr algn="l" indent="0" marL="0">
              <a:buNone/>
            </a:pPr>
            <a:r>
              <a:rPr lang="en-US" sz="900" dirty="0">
                <a:solidFill>
                  <a:srgbClr val="9DB5AD"/>
                </a:solidFill>
                <a:latin typeface="Calibri" pitchFamily="34" charset="0"/>
                <a:ea typeface="Calibri" pitchFamily="34" charset="-122"/>
                <a:cs typeface="Calibri" pitchFamily="34" charset="-120"/>
              </a:rPr>
              <a:t>paths chosen at run time</a:t>
            </a:r>
            <a:endParaRPr lang="en-US" sz="900" dirty="0"/>
          </a:p>
        </p:txBody>
      </p:sp>
      <p:sp>
        <p:nvSpPr>
          <p:cNvPr id="31" name="Shape 25"/>
          <p:cNvSpPr/>
          <p:nvPr/>
        </p:nvSpPr>
        <p:spPr>
          <a:xfrm>
            <a:off x="6949440" y="3566160"/>
            <a:ext cx="182880" cy="182880"/>
          </a:xfrm>
          <a:prstGeom prst="ellipse">
            <a:avLst/>
          </a:prstGeom>
          <a:solidFill>
            <a:srgbClr val="4FB39E"/>
          </a:solidFill>
          <a:ln w="19050">
            <a:solidFill>
              <a:srgbClr val="06211B"/>
            </a:solidFill>
            <a:prstDash val="solid"/>
          </a:ln>
        </p:spPr>
      </p:sp>
      <p:sp>
        <p:nvSpPr>
          <p:cNvPr id="32" name="Shape 26"/>
          <p:cNvSpPr/>
          <p:nvPr/>
        </p:nvSpPr>
        <p:spPr>
          <a:xfrm>
            <a:off x="7040880" y="3749040"/>
            <a:ext cx="0" cy="155448"/>
          </a:xfrm>
          <a:prstGeom prst="line">
            <a:avLst/>
          </a:prstGeom>
          <a:noFill/>
          <a:ln w="12700">
            <a:solidFill>
              <a:srgbClr val="3D6B5F"/>
            </a:solidFill>
            <a:prstDash val="solid"/>
          </a:ln>
        </p:spPr>
      </p:sp>
      <p:sp>
        <p:nvSpPr>
          <p:cNvPr id="33" name="Shape 27"/>
          <p:cNvSpPr/>
          <p:nvPr/>
        </p:nvSpPr>
        <p:spPr>
          <a:xfrm>
            <a:off x="6126480" y="4023360"/>
            <a:ext cx="1828800" cy="1097280"/>
          </a:xfrm>
          <a:prstGeom prst="roundRect">
            <a:avLst>
              <a:gd name="adj" fmla="val 6667"/>
            </a:avLst>
          </a:prstGeom>
          <a:solidFill>
            <a:srgbClr val="0B2E27"/>
          </a:solidFill>
          <a:ln w="12700">
            <a:solidFill>
              <a:srgbClr val="1D4A3F"/>
            </a:solidFill>
            <a:prstDash val="solid"/>
          </a:ln>
        </p:spPr>
      </p:sp>
      <p:pic>
        <p:nvPicPr>
          <p:cNvPr id="34" name="Image 4" descr="/home/claude/evidenceops/icons/trendingdown_tealbr.png">    </p:cNvPr>
          <p:cNvPicPr>
            <a:picLocks noChangeAspect="1"/>
          </p:cNvPicPr>
          <p:nvPr/>
        </p:nvPicPr>
        <p:blipFill>
          <a:blip r:embed="rId5"/>
          <a:stretch>
            <a:fillRect/>
          </a:stretch>
        </p:blipFill>
        <p:spPr>
          <a:xfrm>
            <a:off x="6263640" y="4151376"/>
            <a:ext cx="237744" cy="237744"/>
          </a:xfrm>
          <a:prstGeom prst="rect">
            <a:avLst/>
          </a:prstGeom>
        </p:spPr>
      </p:pic>
      <p:sp>
        <p:nvSpPr>
          <p:cNvPr id="35" name="Text 28"/>
          <p:cNvSpPr/>
          <p:nvPr/>
        </p:nvSpPr>
        <p:spPr>
          <a:xfrm>
            <a:off x="6583680" y="4096512"/>
            <a:ext cx="1325880" cy="384048"/>
          </a:xfrm>
          <a:prstGeom prst="rect">
            <a:avLst/>
          </a:prstGeom>
          <a:noFill/>
          <a:ln/>
        </p:spPr>
        <p:txBody>
          <a:bodyPr wrap="square" lIns="0" tIns="0" rIns="0" bIns="0" rtlCol="0" anchor="ctr"/>
          <a:lstStyle/>
          <a:p>
            <a:pPr algn="l" indent="0" marL="0">
              <a:buNone/>
            </a:pPr>
            <a:r>
              <a:rPr lang="en-US" sz="1050" b="1" dirty="0">
                <a:solidFill>
                  <a:srgbClr val="F2F7F4"/>
                </a:solidFill>
                <a:latin typeface="Calibri" pitchFamily="34" charset="0"/>
                <a:ea typeface="Calibri" pitchFamily="34" charset="-122"/>
                <a:cs typeface="Calibri" pitchFamily="34" charset="-120"/>
              </a:rPr>
              <a:t>Cost optimization</a:t>
            </a:r>
            <a:endParaRPr lang="en-US" sz="1050" dirty="0"/>
          </a:p>
        </p:txBody>
      </p:sp>
      <p:sp>
        <p:nvSpPr>
          <p:cNvPr id="36" name="Text 29"/>
          <p:cNvSpPr/>
          <p:nvPr/>
        </p:nvSpPr>
        <p:spPr>
          <a:xfrm>
            <a:off x="6263640" y="4498848"/>
            <a:ext cx="1572768" cy="566928"/>
          </a:xfrm>
          <a:prstGeom prst="rect">
            <a:avLst/>
          </a:prstGeom>
          <a:noFill/>
          <a:ln/>
        </p:spPr>
        <p:txBody>
          <a:bodyPr wrap="square" lIns="0" tIns="0" rIns="0" bIns="0" rtlCol="0" anchor="t"/>
          <a:lstStyle/>
          <a:p>
            <a:pPr algn="l" indent="0" marL="0">
              <a:buNone/>
            </a:pPr>
            <a:r>
              <a:rPr lang="en-US" sz="900" dirty="0">
                <a:solidFill>
                  <a:srgbClr val="9DB5AD"/>
                </a:solidFill>
                <a:latin typeface="Calibri" pitchFamily="34" charset="0"/>
                <a:ea typeface="Calibri" pitchFamily="34" charset="-122"/>
                <a:cs typeface="Calibri" pitchFamily="34" charset="-120"/>
              </a:rPr>
              <a:t>budget-aware execution</a:t>
            </a:r>
            <a:endParaRPr lang="en-US" sz="900" dirty="0"/>
          </a:p>
        </p:txBody>
      </p:sp>
      <p:sp>
        <p:nvSpPr>
          <p:cNvPr id="37" name="Shape 30"/>
          <p:cNvSpPr/>
          <p:nvPr/>
        </p:nvSpPr>
        <p:spPr>
          <a:xfrm>
            <a:off x="8823960" y="3566160"/>
            <a:ext cx="182880" cy="182880"/>
          </a:xfrm>
          <a:prstGeom prst="ellipse">
            <a:avLst/>
          </a:prstGeom>
          <a:solidFill>
            <a:srgbClr val="4FB39E"/>
          </a:solidFill>
          <a:ln w="19050">
            <a:solidFill>
              <a:srgbClr val="06211B"/>
            </a:solidFill>
            <a:prstDash val="solid"/>
          </a:ln>
        </p:spPr>
      </p:sp>
      <p:sp>
        <p:nvSpPr>
          <p:cNvPr id="38" name="Shape 31"/>
          <p:cNvSpPr/>
          <p:nvPr/>
        </p:nvSpPr>
        <p:spPr>
          <a:xfrm>
            <a:off x="8915400" y="3410712"/>
            <a:ext cx="0" cy="155448"/>
          </a:xfrm>
          <a:prstGeom prst="line">
            <a:avLst/>
          </a:prstGeom>
          <a:noFill/>
          <a:ln w="12700">
            <a:solidFill>
              <a:srgbClr val="3D6B5F"/>
            </a:solidFill>
            <a:prstDash val="solid"/>
          </a:ln>
        </p:spPr>
      </p:sp>
      <p:sp>
        <p:nvSpPr>
          <p:cNvPr id="39" name="Shape 32"/>
          <p:cNvSpPr/>
          <p:nvPr/>
        </p:nvSpPr>
        <p:spPr>
          <a:xfrm>
            <a:off x="8001000" y="2286000"/>
            <a:ext cx="1828800" cy="1097280"/>
          </a:xfrm>
          <a:prstGeom prst="roundRect">
            <a:avLst>
              <a:gd name="adj" fmla="val 6667"/>
            </a:avLst>
          </a:prstGeom>
          <a:solidFill>
            <a:srgbClr val="0B2E27"/>
          </a:solidFill>
          <a:ln w="12700">
            <a:solidFill>
              <a:srgbClr val="1D4A3F"/>
            </a:solidFill>
            <a:prstDash val="solid"/>
          </a:ln>
        </p:spPr>
      </p:sp>
      <p:pic>
        <p:nvPicPr>
          <p:cNvPr id="40" name="Image 5" descr="/home/claude/evidenceops/icons/sliders_tealbr.png">    </p:cNvPr>
          <p:cNvPicPr>
            <a:picLocks noChangeAspect="1"/>
          </p:cNvPicPr>
          <p:nvPr/>
        </p:nvPicPr>
        <p:blipFill>
          <a:blip r:embed="rId6"/>
          <a:stretch>
            <a:fillRect/>
          </a:stretch>
        </p:blipFill>
        <p:spPr>
          <a:xfrm>
            <a:off x="8138160" y="2414016"/>
            <a:ext cx="237744" cy="237744"/>
          </a:xfrm>
          <a:prstGeom prst="rect">
            <a:avLst/>
          </a:prstGeom>
        </p:spPr>
      </p:pic>
      <p:sp>
        <p:nvSpPr>
          <p:cNvPr id="41" name="Text 33"/>
          <p:cNvSpPr/>
          <p:nvPr/>
        </p:nvSpPr>
        <p:spPr>
          <a:xfrm>
            <a:off x="8458200" y="2359152"/>
            <a:ext cx="1325880" cy="384048"/>
          </a:xfrm>
          <a:prstGeom prst="rect">
            <a:avLst/>
          </a:prstGeom>
          <a:noFill/>
          <a:ln/>
        </p:spPr>
        <p:txBody>
          <a:bodyPr wrap="square" lIns="0" tIns="0" rIns="0" bIns="0" rtlCol="0" anchor="ctr"/>
          <a:lstStyle/>
          <a:p>
            <a:pPr algn="l" indent="0" marL="0">
              <a:buNone/>
            </a:pPr>
            <a:r>
              <a:rPr lang="en-US" sz="1050" b="1" dirty="0">
                <a:solidFill>
                  <a:srgbClr val="F2F7F4"/>
                </a:solidFill>
                <a:latin typeface="Calibri" pitchFamily="34" charset="0"/>
                <a:ea typeface="Calibri" pitchFamily="34" charset="-122"/>
                <a:cs typeface="Calibri" pitchFamily="34" charset="-120"/>
              </a:rPr>
              <a:t>Adaptive retrieval</a:t>
            </a:r>
            <a:endParaRPr lang="en-US" sz="1050" dirty="0"/>
          </a:p>
        </p:txBody>
      </p:sp>
      <p:sp>
        <p:nvSpPr>
          <p:cNvPr id="42" name="Text 34"/>
          <p:cNvSpPr/>
          <p:nvPr/>
        </p:nvSpPr>
        <p:spPr>
          <a:xfrm>
            <a:off x="8138160" y="2761488"/>
            <a:ext cx="1572768" cy="566928"/>
          </a:xfrm>
          <a:prstGeom prst="rect">
            <a:avLst/>
          </a:prstGeom>
          <a:noFill/>
          <a:ln/>
        </p:spPr>
        <p:txBody>
          <a:bodyPr wrap="square" lIns="0" tIns="0" rIns="0" bIns="0" rtlCol="0" anchor="t"/>
          <a:lstStyle/>
          <a:p>
            <a:pPr algn="l" indent="0" marL="0">
              <a:buNone/>
            </a:pPr>
            <a:r>
              <a:rPr lang="en-US" sz="900" dirty="0">
                <a:solidFill>
                  <a:srgbClr val="9DB5AD"/>
                </a:solidFill>
                <a:latin typeface="Calibri" pitchFamily="34" charset="0"/>
                <a:ea typeface="Calibri" pitchFamily="34" charset="-122"/>
                <a:cs typeface="Calibri" pitchFamily="34" charset="-120"/>
              </a:rPr>
              <a:t>depth that fits the question</a:t>
            </a:r>
            <a:endParaRPr lang="en-US" sz="900" dirty="0"/>
          </a:p>
        </p:txBody>
      </p:sp>
      <p:sp>
        <p:nvSpPr>
          <p:cNvPr id="43" name="Shape 35"/>
          <p:cNvSpPr/>
          <p:nvPr/>
        </p:nvSpPr>
        <p:spPr>
          <a:xfrm>
            <a:off x="10698480" y="3566160"/>
            <a:ext cx="182880" cy="182880"/>
          </a:xfrm>
          <a:prstGeom prst="ellipse">
            <a:avLst/>
          </a:prstGeom>
          <a:solidFill>
            <a:srgbClr val="4FB39E"/>
          </a:solidFill>
          <a:ln w="19050">
            <a:solidFill>
              <a:srgbClr val="06211B"/>
            </a:solidFill>
            <a:prstDash val="solid"/>
          </a:ln>
        </p:spPr>
      </p:sp>
      <p:sp>
        <p:nvSpPr>
          <p:cNvPr id="44" name="Shape 36"/>
          <p:cNvSpPr/>
          <p:nvPr/>
        </p:nvSpPr>
        <p:spPr>
          <a:xfrm>
            <a:off x="10789920" y="3749040"/>
            <a:ext cx="0" cy="155448"/>
          </a:xfrm>
          <a:prstGeom prst="line">
            <a:avLst/>
          </a:prstGeom>
          <a:noFill/>
          <a:ln w="12700">
            <a:solidFill>
              <a:srgbClr val="3D6B5F"/>
            </a:solidFill>
            <a:prstDash val="solid"/>
          </a:ln>
        </p:spPr>
      </p:sp>
      <p:sp>
        <p:nvSpPr>
          <p:cNvPr id="45" name="Shape 37"/>
          <p:cNvSpPr/>
          <p:nvPr/>
        </p:nvSpPr>
        <p:spPr>
          <a:xfrm>
            <a:off x="9875520" y="4023360"/>
            <a:ext cx="1828800" cy="1097280"/>
          </a:xfrm>
          <a:prstGeom prst="roundRect">
            <a:avLst>
              <a:gd name="adj" fmla="val 6667"/>
            </a:avLst>
          </a:prstGeom>
          <a:solidFill>
            <a:srgbClr val="0B2E27"/>
          </a:solidFill>
          <a:ln w="12700">
            <a:solidFill>
              <a:srgbClr val="1D4A3F"/>
            </a:solidFill>
            <a:prstDash val="solid"/>
          </a:ln>
        </p:spPr>
      </p:sp>
      <p:pic>
        <p:nvPicPr>
          <p:cNvPr id="46" name="Image 6" descr="/home/claude/evidenceops/icons/list_tealbr.png">    </p:cNvPr>
          <p:cNvPicPr>
            <a:picLocks noChangeAspect="1"/>
          </p:cNvPicPr>
          <p:nvPr/>
        </p:nvPicPr>
        <p:blipFill>
          <a:blip r:embed="rId7"/>
          <a:stretch>
            <a:fillRect/>
          </a:stretch>
        </p:blipFill>
        <p:spPr>
          <a:xfrm>
            <a:off x="10012680" y="4151376"/>
            <a:ext cx="237744" cy="237744"/>
          </a:xfrm>
          <a:prstGeom prst="rect">
            <a:avLst/>
          </a:prstGeom>
        </p:spPr>
      </p:pic>
      <p:sp>
        <p:nvSpPr>
          <p:cNvPr id="47" name="Text 38"/>
          <p:cNvSpPr/>
          <p:nvPr/>
        </p:nvSpPr>
        <p:spPr>
          <a:xfrm>
            <a:off x="10332720" y="4096512"/>
            <a:ext cx="1325880" cy="384048"/>
          </a:xfrm>
          <a:prstGeom prst="rect">
            <a:avLst/>
          </a:prstGeom>
          <a:noFill/>
          <a:ln/>
        </p:spPr>
        <p:txBody>
          <a:bodyPr wrap="square" lIns="0" tIns="0" rIns="0" bIns="0" rtlCol="0" anchor="ctr"/>
          <a:lstStyle/>
          <a:p>
            <a:pPr algn="l" indent="0" marL="0">
              <a:buNone/>
            </a:pPr>
            <a:r>
              <a:rPr lang="en-US" sz="1050" b="1" dirty="0">
                <a:solidFill>
                  <a:srgbClr val="F2F7F4"/>
                </a:solidFill>
                <a:latin typeface="Calibri" pitchFamily="34" charset="0"/>
                <a:ea typeface="Calibri" pitchFamily="34" charset="-122"/>
                <a:cs typeface="Calibri" pitchFamily="34" charset="-120"/>
              </a:rPr>
              <a:t>Query planning</a:t>
            </a:r>
            <a:endParaRPr lang="en-US" sz="1050" dirty="0"/>
          </a:p>
        </p:txBody>
      </p:sp>
      <p:sp>
        <p:nvSpPr>
          <p:cNvPr id="48" name="Text 39"/>
          <p:cNvSpPr/>
          <p:nvPr/>
        </p:nvSpPr>
        <p:spPr>
          <a:xfrm>
            <a:off x="10012680" y="4498848"/>
            <a:ext cx="1572768" cy="566928"/>
          </a:xfrm>
          <a:prstGeom prst="rect">
            <a:avLst/>
          </a:prstGeom>
          <a:noFill/>
          <a:ln/>
        </p:spPr>
        <p:txBody>
          <a:bodyPr wrap="square" lIns="0" tIns="0" rIns="0" bIns="0" rtlCol="0" anchor="t"/>
          <a:lstStyle/>
          <a:p>
            <a:pPr algn="l" indent="0" marL="0">
              <a:buNone/>
            </a:pPr>
            <a:r>
              <a:rPr lang="en-US" sz="900" dirty="0">
                <a:solidFill>
                  <a:srgbClr val="9DB5AD"/>
                </a:solidFill>
                <a:latin typeface="Calibri" pitchFamily="34" charset="0"/>
                <a:ea typeface="Calibri" pitchFamily="34" charset="-122"/>
                <a:cs typeface="Calibri" pitchFamily="34" charset="-120"/>
              </a:rPr>
              <a:t>multi-step questions decomposed</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548640" y="274320"/>
            <a:ext cx="11091672" cy="566928"/>
          </a:xfrm>
          <a:prstGeom prst="rect">
            <a:avLst/>
          </a:prstGeom>
          <a:noFill/>
          <a:ln/>
        </p:spPr>
        <p:txBody>
          <a:bodyPr wrap="square" lIns="0" tIns="0" rIns="0" bIns="0" rtlCol="0" anchor="ctr"/>
          <a:lstStyle/>
          <a:p>
            <a:pPr algn="l" indent="0" marL="0">
              <a:buNone/>
            </a:pPr>
            <a:r>
              <a:rPr lang="en-US" sz="2700" b="1" dirty="0">
                <a:solidFill>
                  <a:srgbClr val="F2F7F4"/>
                </a:solidFill>
                <a:latin typeface="Calibri" pitchFamily="34" charset="0"/>
                <a:ea typeface="Calibri" pitchFamily="34" charset="-122"/>
                <a:cs typeface="Calibri" pitchFamily="34" charset="-120"/>
              </a:rPr>
              <a:t>The complete system</a:t>
            </a:r>
            <a:endParaRPr lang="en-US" sz="2700" dirty="0"/>
          </a:p>
        </p:txBody>
      </p:sp>
      <p:sp>
        <p:nvSpPr>
          <p:cNvPr id="3" name="Shape 1"/>
          <p:cNvSpPr/>
          <p:nvPr/>
        </p:nvSpPr>
        <p:spPr>
          <a:xfrm>
            <a:off x="566928" y="896112"/>
            <a:ext cx="548640" cy="32004"/>
          </a:xfrm>
          <a:prstGeom prst="rect">
            <a:avLst/>
          </a:prstGeom>
          <a:solidFill>
            <a:srgbClr val="C29C55"/>
          </a:solidFill>
          <a:ln w="12700">
            <a:solidFill>
              <a:srgbClr val="C29C55"/>
            </a:solidFill>
            <a:prstDash val="solid"/>
          </a:ln>
        </p:spPr>
      </p:sp>
      <p:sp>
        <p:nvSpPr>
          <p:cNvPr id="4" name="Shape 2"/>
          <p:cNvSpPr/>
          <p:nvPr/>
        </p:nvSpPr>
        <p:spPr>
          <a:xfrm>
            <a:off x="548640" y="6035040"/>
            <a:ext cx="11091672" cy="420624"/>
          </a:xfrm>
          <a:prstGeom prst="roundRect">
            <a:avLst>
              <a:gd name="adj" fmla="val 13043"/>
            </a:avLst>
          </a:prstGeom>
          <a:solidFill>
            <a:srgbClr val="0B2E27"/>
          </a:solidFill>
          <a:ln w="9525">
            <a:solidFill>
              <a:srgbClr val="1D4A3F"/>
            </a:solidFill>
            <a:prstDash val="solid"/>
          </a:ln>
        </p:spPr>
      </p:sp>
      <p:sp>
        <p:nvSpPr>
          <p:cNvPr id="5" name="Shape 3"/>
          <p:cNvSpPr/>
          <p:nvPr/>
        </p:nvSpPr>
        <p:spPr>
          <a:xfrm>
            <a:off x="548640" y="6035040"/>
            <a:ext cx="64008" cy="420624"/>
          </a:xfrm>
          <a:prstGeom prst="rect">
            <a:avLst/>
          </a:prstGeom>
          <a:solidFill>
            <a:srgbClr val="C29C55"/>
          </a:solidFill>
          <a:ln w="12700">
            <a:solidFill>
              <a:srgbClr val="C29C55"/>
            </a:solidFill>
            <a:prstDash val="solid"/>
          </a:ln>
        </p:spPr>
      </p:sp>
      <p:pic>
        <p:nvPicPr>
          <p:cNvPr id="6" name="Image 0" descr="/home/claude/evidenceops/icons/flag_gold.png">    </p:cNvPr>
          <p:cNvPicPr>
            <a:picLocks noChangeAspect="1"/>
          </p:cNvPicPr>
          <p:nvPr/>
        </p:nvPicPr>
        <p:blipFill>
          <a:blip r:embed="rId1"/>
          <a:stretch>
            <a:fillRect/>
          </a:stretch>
        </p:blipFill>
        <p:spPr>
          <a:xfrm>
            <a:off x="749808" y="6144768"/>
            <a:ext cx="201168" cy="201168"/>
          </a:xfrm>
          <a:prstGeom prst="rect">
            <a:avLst/>
          </a:prstGeom>
        </p:spPr>
      </p:pic>
      <p:sp>
        <p:nvSpPr>
          <p:cNvPr id="7" name="Text 4"/>
          <p:cNvSpPr/>
          <p:nvPr/>
        </p:nvSpPr>
        <p:spPr>
          <a:xfrm>
            <a:off x="1042416" y="6035040"/>
            <a:ext cx="10424160" cy="420624"/>
          </a:xfrm>
          <a:prstGeom prst="rect">
            <a:avLst/>
          </a:prstGeom>
          <a:noFill/>
          <a:ln/>
        </p:spPr>
        <p:txBody>
          <a:bodyPr wrap="square" lIns="0" tIns="0" rIns="0" bIns="0" rtlCol="0" anchor="ctr"/>
          <a:lstStyle/>
          <a:p>
            <a:pPr algn="l" indent="0" marL="0">
              <a:buNone/>
            </a:pPr>
            <a:r>
              <a:rPr lang="en-US" sz="1150" b="1" dirty="0">
                <a:solidFill>
                  <a:srgbClr val="C29C55"/>
                </a:solidFill>
                <a:latin typeface="Calibri" pitchFamily="34" charset="0"/>
                <a:ea typeface="Calibri" pitchFamily="34" charset="-122"/>
                <a:cs typeface="Calibri" pitchFamily="34" charset="-120"/>
              </a:rPr>
              <a:t>Takeaway   </a:t>
            </a:r>
            <a:pPr algn="l" indent="0" marL="0">
              <a:buNone/>
            </a:pPr>
            <a:r>
              <a:rPr lang="en-US" sz="1150" dirty="0">
                <a:solidFill>
                  <a:srgbClr val="F6E6D6"/>
                </a:solidFill>
                <a:latin typeface="Calibri" pitchFamily="34" charset="0"/>
                <a:ea typeface="Calibri" pitchFamily="34" charset="-122"/>
                <a:cs typeface="Calibri" pitchFamily="34" charset="-120"/>
              </a:rPr>
              <a:t>One entry point, five paths, one governed exit.</a:t>
            </a:r>
            <a:endParaRPr lang="en-US" sz="1150" dirty="0"/>
          </a:p>
        </p:txBody>
      </p:sp>
      <p:sp>
        <p:nvSpPr>
          <p:cNvPr id="8" name="Text 5"/>
          <p:cNvSpPr/>
          <p:nvPr/>
        </p:nvSpPr>
        <p:spPr>
          <a:xfrm>
            <a:off x="548640" y="6528816"/>
            <a:ext cx="5943600" cy="256032"/>
          </a:xfrm>
          <a:prstGeom prst="rect">
            <a:avLst/>
          </a:prstGeom>
          <a:noFill/>
          <a:ln/>
        </p:spPr>
        <p:txBody>
          <a:bodyPr wrap="square" lIns="0" tIns="0" rIns="0" bIns="0" rtlCol="0" anchor="ctr"/>
          <a:lstStyle/>
          <a:p>
            <a:pPr algn="l" indent="0" marL="0">
              <a:buNone/>
            </a:pPr>
            <a:r>
              <a:rPr lang="en-US" sz="850" dirty="0">
                <a:solidFill>
                  <a:srgbClr val="5F7A71"/>
                </a:solidFill>
                <a:latin typeface="Calibri" pitchFamily="34" charset="0"/>
                <a:ea typeface="Calibri" pitchFamily="34" charset="-122"/>
                <a:cs typeface="Calibri" pitchFamily="34" charset="-120"/>
              </a:rPr>
              <a:t>EvidenceOps  ·  architecture evolution</a:t>
            </a:r>
            <a:endParaRPr lang="en-US" sz="850" dirty="0"/>
          </a:p>
        </p:txBody>
      </p:sp>
      <p:sp>
        <p:nvSpPr>
          <p:cNvPr id="9" name="Text 6"/>
          <p:cNvSpPr/>
          <p:nvPr/>
        </p:nvSpPr>
        <p:spPr>
          <a:xfrm>
            <a:off x="11247120" y="6528816"/>
            <a:ext cx="411480" cy="256032"/>
          </a:xfrm>
          <a:prstGeom prst="rect">
            <a:avLst/>
          </a:prstGeom>
          <a:noFill/>
          <a:ln/>
        </p:spPr>
        <p:txBody>
          <a:bodyPr wrap="square" lIns="0" tIns="0" rIns="0" bIns="0" rtlCol="0" anchor="ctr"/>
          <a:lstStyle/>
          <a:p>
            <a:pPr algn="r" indent="0" marL="0">
              <a:buNone/>
            </a:pPr>
            <a:r>
              <a:rPr lang="en-US" sz="850" dirty="0">
                <a:solidFill>
                  <a:srgbClr val="5F7A71"/>
                </a:solidFill>
                <a:latin typeface="Calibri" pitchFamily="34" charset="0"/>
                <a:ea typeface="Calibri" pitchFamily="34" charset="-122"/>
                <a:cs typeface="Calibri" pitchFamily="34" charset="-120"/>
              </a:rPr>
              <a:t>20</a:t>
            </a:r>
            <a:endParaRPr lang="en-US" sz="850" dirty="0"/>
          </a:p>
        </p:txBody>
      </p:sp>
      <p:sp>
        <p:nvSpPr>
          <p:cNvPr id="10" name="Shape 7"/>
          <p:cNvSpPr/>
          <p:nvPr/>
        </p:nvSpPr>
        <p:spPr>
          <a:xfrm>
            <a:off x="548640" y="1234440"/>
            <a:ext cx="1371600" cy="640080"/>
          </a:xfrm>
          <a:prstGeom prst="roundRect">
            <a:avLst>
              <a:gd name="adj" fmla="val 12857"/>
            </a:avLst>
          </a:prstGeom>
          <a:solidFill>
            <a:srgbClr val="0B2E27"/>
          </a:solidFill>
          <a:ln w="12700">
            <a:solidFill>
              <a:srgbClr val="1D4A3F"/>
            </a:solidFill>
            <a:prstDash val="solid"/>
          </a:ln>
        </p:spPr>
      </p:sp>
      <p:sp>
        <p:nvSpPr>
          <p:cNvPr id="11" name="Text 8"/>
          <p:cNvSpPr/>
          <p:nvPr/>
        </p:nvSpPr>
        <p:spPr>
          <a:xfrm>
            <a:off x="621792" y="1234440"/>
            <a:ext cx="1225296" cy="640080"/>
          </a:xfrm>
          <a:prstGeom prst="rect">
            <a:avLst/>
          </a:prstGeom>
          <a:noFill/>
          <a:ln/>
        </p:spPr>
        <p:txBody>
          <a:bodyPr wrap="square" lIns="635" tIns="635" rIns="635" bIns="635" rtlCol="0" anchor="ctr"/>
          <a:lstStyle/>
          <a:p>
            <a:pPr algn="ctr" indent="0" marL="0">
              <a:buNone/>
            </a:pPr>
            <a:r>
              <a:rPr lang="en-US" sz="1200" dirty="0">
                <a:solidFill>
                  <a:srgbClr val="F2F7F4"/>
                </a:solidFill>
                <a:latin typeface="Calibri" pitchFamily="34" charset="0"/>
                <a:ea typeface="Calibri" pitchFamily="34" charset="-122"/>
                <a:cs typeface="Calibri" pitchFamily="34" charset="-120"/>
              </a:rPr>
              <a:t>User</a:t>
            </a:r>
            <a:endParaRPr lang="en-US" sz="1200" dirty="0"/>
          </a:p>
        </p:txBody>
      </p:sp>
      <p:sp>
        <p:nvSpPr>
          <p:cNvPr id="12" name="Shape 9"/>
          <p:cNvSpPr/>
          <p:nvPr/>
        </p:nvSpPr>
        <p:spPr>
          <a:xfrm>
            <a:off x="1965960" y="1554480"/>
            <a:ext cx="365760" cy="0"/>
          </a:xfrm>
          <a:prstGeom prst="line">
            <a:avLst/>
          </a:prstGeom>
          <a:noFill/>
          <a:ln w="21590">
            <a:solidFill>
              <a:srgbClr val="6F8F85"/>
            </a:solidFill>
            <a:prstDash val="solid"/>
            <a:tailEnd type="triangle"/>
          </a:ln>
        </p:spPr>
      </p:sp>
      <p:sp>
        <p:nvSpPr>
          <p:cNvPr id="13" name="Shape 10"/>
          <p:cNvSpPr/>
          <p:nvPr/>
        </p:nvSpPr>
        <p:spPr>
          <a:xfrm>
            <a:off x="2395728" y="1234440"/>
            <a:ext cx="1874520" cy="640080"/>
          </a:xfrm>
          <a:prstGeom prst="roundRect">
            <a:avLst>
              <a:gd name="adj" fmla="val 10000"/>
            </a:avLst>
          </a:prstGeom>
          <a:solidFill>
            <a:srgbClr val="4FB39E"/>
          </a:solidFill>
          <a:ln w="12700">
            <a:solidFill>
              <a:srgbClr val="4FB39E"/>
            </a:solidFill>
            <a:prstDash val="solid"/>
          </a:ln>
        </p:spPr>
      </p:sp>
      <p:sp>
        <p:nvSpPr>
          <p:cNvPr id="14" name="Text 11"/>
          <p:cNvSpPr/>
          <p:nvPr/>
        </p:nvSpPr>
        <p:spPr>
          <a:xfrm>
            <a:off x="2395728" y="1234440"/>
            <a:ext cx="1874520" cy="640080"/>
          </a:xfrm>
          <a:prstGeom prst="rect">
            <a:avLst/>
          </a:prstGeom>
          <a:noFill/>
          <a:ln/>
        </p:spPr>
        <p:txBody>
          <a:bodyPr wrap="square" lIns="381" tIns="381" rIns="381" bIns="381" rtlCol="0" anchor="ctr"/>
          <a:lstStyle/>
          <a:p>
            <a:pPr algn="ctr" indent="0" marL="0">
              <a:buNone/>
            </a:pPr>
            <a:r>
              <a:rPr lang="en-US" sz="1200" b="1" dirty="0">
                <a:solidFill>
                  <a:srgbClr val="06211B"/>
                </a:solidFill>
                <a:latin typeface="Calibri" pitchFamily="34" charset="0"/>
                <a:ea typeface="Calibri" pitchFamily="34" charset="-122"/>
                <a:cs typeface="Calibri" pitchFamily="34" charset="-120"/>
              </a:rPr>
              <a:t>Orchestrator</a:t>
            </a:r>
            <a:endParaRPr lang="en-US" sz="1200" dirty="0"/>
          </a:p>
        </p:txBody>
      </p:sp>
      <p:sp>
        <p:nvSpPr>
          <p:cNvPr id="15" name="Shape 12"/>
          <p:cNvSpPr/>
          <p:nvPr/>
        </p:nvSpPr>
        <p:spPr>
          <a:xfrm>
            <a:off x="4315968" y="1554480"/>
            <a:ext cx="365760" cy="0"/>
          </a:xfrm>
          <a:prstGeom prst="line">
            <a:avLst/>
          </a:prstGeom>
          <a:noFill/>
          <a:ln w="21590">
            <a:solidFill>
              <a:srgbClr val="6F8F85"/>
            </a:solidFill>
            <a:prstDash val="solid"/>
            <a:tailEnd type="triangle"/>
          </a:ln>
        </p:spPr>
      </p:sp>
      <p:sp>
        <p:nvSpPr>
          <p:cNvPr id="16" name="Shape 13"/>
          <p:cNvSpPr/>
          <p:nvPr/>
        </p:nvSpPr>
        <p:spPr>
          <a:xfrm>
            <a:off x="4777740" y="937260"/>
            <a:ext cx="1325880" cy="1234440"/>
          </a:xfrm>
          <a:prstGeom prst="diamond">
            <a:avLst/>
          </a:prstGeom>
          <a:solidFill>
            <a:srgbClr val="C29C55"/>
          </a:solidFill>
          <a:ln w="12700">
            <a:solidFill>
              <a:srgbClr val="C29C55"/>
            </a:solidFill>
            <a:prstDash val="solid"/>
          </a:ln>
        </p:spPr>
      </p:sp>
      <p:sp>
        <p:nvSpPr>
          <p:cNvPr id="17" name="Text 14"/>
          <p:cNvSpPr/>
          <p:nvPr/>
        </p:nvSpPr>
        <p:spPr>
          <a:xfrm>
            <a:off x="4640580" y="937260"/>
            <a:ext cx="1600200" cy="1234440"/>
          </a:xfrm>
          <a:prstGeom prst="rect">
            <a:avLst/>
          </a:prstGeom>
          <a:noFill/>
          <a:ln/>
        </p:spPr>
        <p:txBody>
          <a:bodyPr wrap="square" lIns="0" tIns="0" rIns="0" bIns="0" rtlCol="0" anchor="ctr"/>
          <a:lstStyle/>
          <a:p>
            <a:pPr algn="ctr" indent="0" marL="0">
              <a:buNone/>
            </a:pPr>
            <a:r>
              <a:rPr lang="en-US" sz="1150" b="1" dirty="0">
                <a:solidFill>
                  <a:srgbClr val="06211B"/>
                </a:solidFill>
                <a:latin typeface="Calibri" pitchFamily="34" charset="0"/>
                <a:ea typeface="Calibri" pitchFamily="34" charset="-122"/>
                <a:cs typeface="Calibri" pitchFamily="34" charset="-120"/>
              </a:rPr>
              <a:t>Router</a:t>
            </a:r>
            <a:endParaRPr lang="en-US" sz="1150" dirty="0"/>
          </a:p>
        </p:txBody>
      </p:sp>
      <p:sp>
        <p:nvSpPr>
          <p:cNvPr id="18" name="Shape 15"/>
          <p:cNvSpPr/>
          <p:nvPr/>
        </p:nvSpPr>
        <p:spPr>
          <a:xfrm flipH="1">
            <a:off x="1600200" y="2176272"/>
            <a:ext cx="3840480" cy="722376"/>
          </a:xfrm>
          <a:prstGeom prst="line">
            <a:avLst/>
          </a:prstGeom>
          <a:noFill/>
          <a:ln w="15240">
            <a:solidFill>
              <a:srgbClr val="6F8F85"/>
            </a:solidFill>
            <a:prstDash val="solid"/>
            <a:tailEnd type="triangle"/>
          </a:ln>
        </p:spPr>
      </p:sp>
      <p:sp>
        <p:nvSpPr>
          <p:cNvPr id="19" name="Shape 16"/>
          <p:cNvSpPr/>
          <p:nvPr/>
        </p:nvSpPr>
        <p:spPr>
          <a:xfrm>
            <a:off x="548640" y="2926080"/>
            <a:ext cx="2103120" cy="640080"/>
          </a:xfrm>
          <a:prstGeom prst="roundRect">
            <a:avLst>
              <a:gd name="adj" fmla="val 10000"/>
            </a:avLst>
          </a:prstGeom>
          <a:solidFill>
            <a:srgbClr val="4FB39E"/>
          </a:solidFill>
          <a:ln w="12700">
            <a:solidFill>
              <a:srgbClr val="4FB39E"/>
            </a:solidFill>
            <a:prstDash val="solid"/>
          </a:ln>
        </p:spPr>
      </p:sp>
      <p:sp>
        <p:nvSpPr>
          <p:cNvPr id="20" name="Text 17"/>
          <p:cNvSpPr/>
          <p:nvPr/>
        </p:nvSpPr>
        <p:spPr>
          <a:xfrm>
            <a:off x="548640" y="2926080"/>
            <a:ext cx="2103120" cy="640080"/>
          </a:xfrm>
          <a:prstGeom prst="rect">
            <a:avLst/>
          </a:prstGeom>
          <a:noFill/>
          <a:ln/>
        </p:spPr>
        <p:txBody>
          <a:bodyPr wrap="square" lIns="381" tIns="381" rIns="381" bIns="381" rtlCol="0" anchor="ctr"/>
          <a:lstStyle/>
          <a:p>
            <a:pPr algn="ctr" indent="0" marL="0">
              <a:buNone/>
            </a:pPr>
            <a:r>
              <a:rPr lang="en-US" sz="1100" b="1" dirty="0">
                <a:solidFill>
                  <a:srgbClr val="06211B"/>
                </a:solidFill>
                <a:latin typeface="Calibri" pitchFamily="34" charset="0"/>
                <a:ea typeface="Calibri" pitchFamily="34" charset="-122"/>
                <a:cs typeface="Calibri" pitchFamily="34" charset="-120"/>
              </a:rPr>
              <a:t>Identity</a:t>
            </a:r>
            <a:endParaRPr lang="en-US" sz="1100" dirty="0"/>
          </a:p>
        </p:txBody>
      </p:sp>
      <p:sp>
        <p:nvSpPr>
          <p:cNvPr id="21" name="Shape 18"/>
          <p:cNvSpPr/>
          <p:nvPr/>
        </p:nvSpPr>
        <p:spPr>
          <a:xfrm flipH="1">
            <a:off x="3849624" y="2176272"/>
            <a:ext cx="1591056" cy="722376"/>
          </a:xfrm>
          <a:prstGeom prst="line">
            <a:avLst/>
          </a:prstGeom>
          <a:noFill/>
          <a:ln w="15240">
            <a:solidFill>
              <a:srgbClr val="6F8F85"/>
            </a:solidFill>
            <a:prstDash val="dash"/>
            <a:tailEnd type="triangle"/>
          </a:ln>
        </p:spPr>
      </p:sp>
      <p:sp>
        <p:nvSpPr>
          <p:cNvPr id="22" name="Shape 19"/>
          <p:cNvSpPr/>
          <p:nvPr/>
        </p:nvSpPr>
        <p:spPr>
          <a:xfrm>
            <a:off x="2798064" y="2926080"/>
            <a:ext cx="2103120" cy="640080"/>
          </a:xfrm>
          <a:prstGeom prst="roundRect">
            <a:avLst>
              <a:gd name="adj" fmla="val 10000"/>
            </a:avLst>
          </a:prstGeom>
          <a:solidFill>
            <a:srgbClr val="06211B"/>
          </a:solidFill>
          <a:ln w="13970">
            <a:solidFill>
              <a:srgbClr val="9DB5AD"/>
            </a:solidFill>
            <a:prstDash val="dash"/>
          </a:ln>
        </p:spPr>
      </p:sp>
      <p:sp>
        <p:nvSpPr>
          <p:cNvPr id="23" name="Text 20"/>
          <p:cNvSpPr/>
          <p:nvPr/>
        </p:nvSpPr>
        <p:spPr>
          <a:xfrm>
            <a:off x="2798064" y="2926080"/>
            <a:ext cx="2103120" cy="640080"/>
          </a:xfrm>
          <a:prstGeom prst="rect">
            <a:avLst/>
          </a:prstGeom>
          <a:noFill/>
          <a:ln/>
        </p:spPr>
        <p:txBody>
          <a:bodyPr wrap="square" lIns="381" tIns="381" rIns="381" bIns="381" rtlCol="0" anchor="ctr"/>
          <a:lstStyle/>
          <a:p>
            <a:pPr algn="ctr" indent="0" marL="0">
              <a:buNone/>
            </a:pPr>
            <a:r>
              <a:rPr lang="en-US" sz="1100" dirty="0">
                <a:solidFill>
                  <a:srgbClr val="9DB5AD"/>
                </a:solidFill>
                <a:latin typeface="Calibri" pitchFamily="34" charset="0"/>
                <a:ea typeface="Calibri" pitchFamily="34" charset="-122"/>
                <a:cs typeface="Calibri" pitchFamily="34" charset="-120"/>
              </a:rPr>
              <a:t>Capabilities</a:t>
            </a:r>
            <a:endParaRPr lang="en-US" sz="1100" dirty="0"/>
          </a:p>
        </p:txBody>
      </p:sp>
      <p:sp>
        <p:nvSpPr>
          <p:cNvPr id="24" name="Shape 21"/>
          <p:cNvSpPr/>
          <p:nvPr/>
        </p:nvSpPr>
        <p:spPr>
          <a:xfrm>
            <a:off x="5440680" y="2176272"/>
            <a:ext cx="658368" cy="722376"/>
          </a:xfrm>
          <a:prstGeom prst="line">
            <a:avLst/>
          </a:prstGeom>
          <a:noFill/>
          <a:ln w="15240">
            <a:solidFill>
              <a:srgbClr val="6F8F85"/>
            </a:solidFill>
            <a:prstDash val="solid"/>
            <a:tailEnd type="triangle"/>
          </a:ln>
        </p:spPr>
      </p:sp>
      <p:sp>
        <p:nvSpPr>
          <p:cNvPr id="25" name="Shape 22"/>
          <p:cNvSpPr/>
          <p:nvPr/>
        </p:nvSpPr>
        <p:spPr>
          <a:xfrm>
            <a:off x="5047488" y="2926080"/>
            <a:ext cx="2103120" cy="640080"/>
          </a:xfrm>
          <a:prstGeom prst="roundRect">
            <a:avLst>
              <a:gd name="adj" fmla="val 10000"/>
            </a:avLst>
          </a:prstGeom>
          <a:solidFill>
            <a:srgbClr val="4FB39E"/>
          </a:solidFill>
          <a:ln w="12700">
            <a:solidFill>
              <a:srgbClr val="4FB39E"/>
            </a:solidFill>
            <a:prstDash val="solid"/>
          </a:ln>
        </p:spPr>
      </p:sp>
      <p:sp>
        <p:nvSpPr>
          <p:cNvPr id="26" name="Text 23"/>
          <p:cNvSpPr/>
          <p:nvPr/>
        </p:nvSpPr>
        <p:spPr>
          <a:xfrm>
            <a:off x="5047488" y="2926080"/>
            <a:ext cx="2103120" cy="640080"/>
          </a:xfrm>
          <a:prstGeom prst="rect">
            <a:avLst/>
          </a:prstGeom>
          <a:noFill/>
          <a:ln/>
        </p:spPr>
        <p:txBody>
          <a:bodyPr wrap="square" lIns="381" tIns="381" rIns="381" bIns="381" rtlCol="0" anchor="ctr"/>
          <a:lstStyle/>
          <a:p>
            <a:pPr algn="ctr" indent="0" marL="0">
              <a:buNone/>
            </a:pPr>
            <a:r>
              <a:rPr lang="en-US" sz="1100" b="1" dirty="0">
                <a:solidFill>
                  <a:srgbClr val="06211B"/>
                </a:solidFill>
                <a:latin typeface="Calibri" pitchFamily="34" charset="0"/>
                <a:ea typeface="Calibri" pitchFamily="34" charset="-122"/>
                <a:cs typeface="Calibri" pitchFamily="34" charset="-120"/>
              </a:rPr>
              <a:t>Single topic</a:t>
            </a:r>
            <a:endParaRPr lang="en-US" sz="1100" dirty="0"/>
          </a:p>
        </p:txBody>
      </p:sp>
      <p:sp>
        <p:nvSpPr>
          <p:cNvPr id="27" name="Shape 24"/>
          <p:cNvSpPr/>
          <p:nvPr/>
        </p:nvSpPr>
        <p:spPr>
          <a:xfrm>
            <a:off x="5440680" y="2176272"/>
            <a:ext cx="2907792" cy="722376"/>
          </a:xfrm>
          <a:prstGeom prst="line">
            <a:avLst/>
          </a:prstGeom>
          <a:noFill/>
          <a:ln w="15240">
            <a:solidFill>
              <a:srgbClr val="6F8F85"/>
            </a:solidFill>
            <a:prstDash val="solid"/>
            <a:tailEnd type="triangle"/>
          </a:ln>
        </p:spPr>
      </p:sp>
      <p:sp>
        <p:nvSpPr>
          <p:cNvPr id="28" name="Shape 25"/>
          <p:cNvSpPr/>
          <p:nvPr/>
        </p:nvSpPr>
        <p:spPr>
          <a:xfrm>
            <a:off x="7296912" y="2926080"/>
            <a:ext cx="2103120" cy="640080"/>
          </a:xfrm>
          <a:prstGeom prst="roundRect">
            <a:avLst>
              <a:gd name="adj" fmla="val 10000"/>
            </a:avLst>
          </a:prstGeom>
          <a:solidFill>
            <a:srgbClr val="4FB39E"/>
          </a:solidFill>
          <a:ln w="12700">
            <a:solidFill>
              <a:srgbClr val="4FB39E"/>
            </a:solidFill>
            <a:prstDash val="solid"/>
          </a:ln>
        </p:spPr>
      </p:sp>
      <p:sp>
        <p:nvSpPr>
          <p:cNvPr id="29" name="Text 26"/>
          <p:cNvSpPr/>
          <p:nvPr/>
        </p:nvSpPr>
        <p:spPr>
          <a:xfrm>
            <a:off x="7296912" y="2926080"/>
            <a:ext cx="2103120" cy="640080"/>
          </a:xfrm>
          <a:prstGeom prst="rect">
            <a:avLst/>
          </a:prstGeom>
          <a:noFill/>
          <a:ln/>
        </p:spPr>
        <p:txBody>
          <a:bodyPr wrap="square" lIns="381" tIns="381" rIns="381" bIns="381" rtlCol="0" anchor="ctr"/>
          <a:lstStyle/>
          <a:p>
            <a:pPr algn="ctr" indent="0" marL="0">
              <a:buNone/>
            </a:pPr>
            <a:r>
              <a:rPr lang="en-US" sz="1100" b="1" dirty="0">
                <a:solidFill>
                  <a:srgbClr val="06211B"/>
                </a:solidFill>
                <a:latin typeface="Calibri" pitchFamily="34" charset="0"/>
                <a:ea typeface="Calibri" pitchFamily="34" charset="-122"/>
                <a:cs typeface="Calibri" pitchFamily="34" charset="-120"/>
              </a:rPr>
              <a:t>Parallel comparison</a:t>
            </a:r>
            <a:endParaRPr lang="en-US" sz="1100" dirty="0"/>
          </a:p>
        </p:txBody>
      </p:sp>
      <p:sp>
        <p:nvSpPr>
          <p:cNvPr id="30" name="Shape 27"/>
          <p:cNvSpPr/>
          <p:nvPr/>
        </p:nvSpPr>
        <p:spPr>
          <a:xfrm>
            <a:off x="5440680" y="2176272"/>
            <a:ext cx="5157216" cy="722376"/>
          </a:xfrm>
          <a:prstGeom prst="line">
            <a:avLst/>
          </a:prstGeom>
          <a:noFill/>
          <a:ln w="15240">
            <a:solidFill>
              <a:srgbClr val="6F8F85"/>
            </a:solidFill>
            <a:prstDash val="solid"/>
            <a:tailEnd type="triangle"/>
          </a:ln>
        </p:spPr>
      </p:sp>
      <p:sp>
        <p:nvSpPr>
          <p:cNvPr id="31" name="Shape 28"/>
          <p:cNvSpPr/>
          <p:nvPr/>
        </p:nvSpPr>
        <p:spPr>
          <a:xfrm>
            <a:off x="9546336" y="2926080"/>
            <a:ext cx="2103120" cy="640080"/>
          </a:xfrm>
          <a:prstGeom prst="roundRect">
            <a:avLst>
              <a:gd name="adj" fmla="val 10000"/>
            </a:avLst>
          </a:prstGeom>
          <a:solidFill>
            <a:srgbClr val="2B776D"/>
          </a:solidFill>
          <a:ln w="12700">
            <a:solidFill>
              <a:srgbClr val="2B776D"/>
            </a:solidFill>
            <a:prstDash val="solid"/>
          </a:ln>
        </p:spPr>
      </p:sp>
      <p:sp>
        <p:nvSpPr>
          <p:cNvPr id="32" name="Text 29"/>
          <p:cNvSpPr/>
          <p:nvPr/>
        </p:nvSpPr>
        <p:spPr>
          <a:xfrm>
            <a:off x="9546336" y="2926080"/>
            <a:ext cx="2103120" cy="640080"/>
          </a:xfrm>
          <a:prstGeom prst="rect">
            <a:avLst/>
          </a:prstGeom>
          <a:noFill/>
          <a:ln/>
        </p:spPr>
        <p:txBody>
          <a:bodyPr wrap="square" lIns="381" tIns="381" rIns="381" bIns="381"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FunctionAgent</a:t>
            </a:r>
            <a:endParaRPr lang="en-US" sz="1100" dirty="0"/>
          </a:p>
        </p:txBody>
      </p:sp>
      <p:sp>
        <p:nvSpPr>
          <p:cNvPr id="33" name="Shape 30"/>
          <p:cNvSpPr/>
          <p:nvPr/>
        </p:nvSpPr>
        <p:spPr>
          <a:xfrm flipH="1">
            <a:off x="1417320" y="3593592"/>
            <a:ext cx="182880" cy="1271016"/>
          </a:xfrm>
          <a:prstGeom prst="line">
            <a:avLst/>
          </a:prstGeom>
          <a:noFill/>
          <a:ln w="16510">
            <a:solidFill>
              <a:srgbClr val="6F8F85"/>
            </a:solidFill>
            <a:prstDash val="solid"/>
            <a:tailEnd type="triangle"/>
          </a:ln>
        </p:spPr>
      </p:sp>
      <p:sp>
        <p:nvSpPr>
          <p:cNvPr id="34" name="Shape 31"/>
          <p:cNvSpPr/>
          <p:nvPr/>
        </p:nvSpPr>
        <p:spPr>
          <a:xfrm flipH="1">
            <a:off x="2011680" y="3593592"/>
            <a:ext cx="1837944" cy="1271016"/>
          </a:xfrm>
          <a:prstGeom prst="line">
            <a:avLst/>
          </a:prstGeom>
          <a:noFill/>
          <a:ln w="16510">
            <a:solidFill>
              <a:srgbClr val="6F8F85"/>
            </a:solidFill>
            <a:prstDash val="dash"/>
            <a:tailEnd type="triangle"/>
          </a:ln>
        </p:spPr>
      </p:sp>
      <p:sp>
        <p:nvSpPr>
          <p:cNvPr id="35" name="Shape 32"/>
          <p:cNvSpPr/>
          <p:nvPr/>
        </p:nvSpPr>
        <p:spPr>
          <a:xfrm>
            <a:off x="548640" y="4892040"/>
            <a:ext cx="2286000" cy="658368"/>
          </a:xfrm>
          <a:prstGeom prst="roundRect">
            <a:avLst>
              <a:gd name="adj" fmla="val 9722"/>
            </a:avLst>
          </a:prstGeom>
          <a:solidFill>
            <a:srgbClr val="0F3A31"/>
          </a:solidFill>
          <a:ln w="13970">
            <a:solidFill>
              <a:srgbClr val="1D4A3F"/>
            </a:solidFill>
            <a:prstDash val="solid"/>
          </a:ln>
        </p:spPr>
      </p:sp>
      <p:sp>
        <p:nvSpPr>
          <p:cNvPr id="36" name="Text 33"/>
          <p:cNvSpPr/>
          <p:nvPr/>
        </p:nvSpPr>
        <p:spPr>
          <a:xfrm>
            <a:off x="548640" y="4892040"/>
            <a:ext cx="2286000" cy="658368"/>
          </a:xfrm>
          <a:prstGeom prst="rect">
            <a:avLst/>
          </a:prstGeom>
          <a:noFill/>
          <a:ln/>
        </p:spPr>
        <p:txBody>
          <a:bodyPr wrap="square" lIns="381" tIns="381" rIns="381" bIns="381" rtlCol="0" anchor="ctr"/>
          <a:lstStyle/>
          <a:p>
            <a:pPr algn="ctr" indent="0" marL="0">
              <a:buNone/>
            </a:pPr>
            <a:r>
              <a:rPr lang="en-US" sz="1100" dirty="0">
                <a:solidFill>
                  <a:srgbClr val="F2F7F4"/>
                </a:solidFill>
                <a:latin typeface="Calibri" pitchFamily="34" charset="0"/>
                <a:ea typeface="Calibri" pitchFamily="34" charset="-122"/>
                <a:cs typeface="Calibri" pitchFamily="34" charset="-120"/>
              </a:rPr>
              <a:t>Direct response</a:t>
            </a:r>
            <a:endParaRPr lang="en-US" sz="1100" dirty="0"/>
          </a:p>
        </p:txBody>
      </p:sp>
      <p:sp>
        <p:nvSpPr>
          <p:cNvPr id="37" name="Shape 34"/>
          <p:cNvSpPr/>
          <p:nvPr/>
        </p:nvSpPr>
        <p:spPr>
          <a:xfrm flipH="1">
            <a:off x="3657600" y="3593592"/>
            <a:ext cx="2441448" cy="1271016"/>
          </a:xfrm>
          <a:prstGeom prst="line">
            <a:avLst/>
          </a:prstGeom>
          <a:noFill/>
          <a:ln w="17780">
            <a:solidFill>
              <a:srgbClr val="4FB39E"/>
            </a:solidFill>
            <a:prstDash val="solid"/>
            <a:tailEnd type="triangle"/>
          </a:ln>
        </p:spPr>
      </p:sp>
      <p:sp>
        <p:nvSpPr>
          <p:cNvPr id="38" name="Shape 35"/>
          <p:cNvSpPr/>
          <p:nvPr/>
        </p:nvSpPr>
        <p:spPr>
          <a:xfrm flipH="1">
            <a:off x="3977640" y="3593592"/>
            <a:ext cx="4370832" cy="1271016"/>
          </a:xfrm>
          <a:prstGeom prst="line">
            <a:avLst/>
          </a:prstGeom>
          <a:noFill/>
          <a:ln w="17780">
            <a:solidFill>
              <a:srgbClr val="4FB39E"/>
            </a:solidFill>
            <a:prstDash val="solid"/>
            <a:tailEnd type="triangle"/>
          </a:ln>
        </p:spPr>
      </p:sp>
      <p:sp>
        <p:nvSpPr>
          <p:cNvPr id="39" name="Shape 36"/>
          <p:cNvSpPr/>
          <p:nvPr/>
        </p:nvSpPr>
        <p:spPr>
          <a:xfrm flipH="1">
            <a:off x="4297680" y="3593592"/>
            <a:ext cx="6300216" cy="1271016"/>
          </a:xfrm>
          <a:prstGeom prst="line">
            <a:avLst/>
          </a:prstGeom>
          <a:noFill/>
          <a:ln w="17780">
            <a:solidFill>
              <a:srgbClr val="4FB39E"/>
            </a:solidFill>
            <a:prstDash val="solid"/>
            <a:tailEnd type="triangle"/>
          </a:ln>
        </p:spPr>
      </p:sp>
      <p:sp>
        <p:nvSpPr>
          <p:cNvPr id="40" name="Shape 37"/>
          <p:cNvSpPr/>
          <p:nvPr/>
        </p:nvSpPr>
        <p:spPr>
          <a:xfrm>
            <a:off x="3108960" y="4892040"/>
            <a:ext cx="1600200" cy="658368"/>
          </a:xfrm>
          <a:prstGeom prst="roundRect">
            <a:avLst>
              <a:gd name="adj" fmla="val 9722"/>
            </a:avLst>
          </a:prstGeom>
          <a:solidFill>
            <a:srgbClr val="2B776D"/>
          </a:solidFill>
          <a:ln w="12700">
            <a:solidFill>
              <a:srgbClr val="2B776D"/>
            </a:solidFill>
            <a:prstDash val="solid"/>
          </a:ln>
        </p:spPr>
      </p:sp>
      <p:sp>
        <p:nvSpPr>
          <p:cNvPr id="41" name="Text 38"/>
          <p:cNvSpPr/>
          <p:nvPr/>
        </p:nvSpPr>
        <p:spPr>
          <a:xfrm>
            <a:off x="3108960" y="4892040"/>
            <a:ext cx="1600200" cy="658368"/>
          </a:xfrm>
          <a:prstGeom prst="rect">
            <a:avLst/>
          </a:prstGeom>
          <a:noFill/>
          <a:ln/>
        </p:spPr>
        <p:txBody>
          <a:bodyPr wrap="square" lIns="381" tIns="381" rIns="381" bIns="381"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Retrieve</a:t>
            </a:r>
            <a:endParaRPr lang="en-US" sz="1150" dirty="0"/>
          </a:p>
        </p:txBody>
      </p:sp>
      <p:sp>
        <p:nvSpPr>
          <p:cNvPr id="42" name="Shape 39"/>
          <p:cNvSpPr/>
          <p:nvPr/>
        </p:nvSpPr>
        <p:spPr>
          <a:xfrm>
            <a:off x="4718304" y="5221224"/>
            <a:ext cx="146304" cy="0"/>
          </a:xfrm>
          <a:prstGeom prst="line">
            <a:avLst/>
          </a:prstGeom>
          <a:noFill/>
          <a:ln w="17780">
            <a:solidFill>
              <a:srgbClr val="6F8F85"/>
            </a:solidFill>
            <a:prstDash val="solid"/>
            <a:tailEnd type="triangle"/>
          </a:ln>
        </p:spPr>
      </p:sp>
      <p:sp>
        <p:nvSpPr>
          <p:cNvPr id="43" name="Shape 40"/>
          <p:cNvSpPr/>
          <p:nvPr/>
        </p:nvSpPr>
        <p:spPr>
          <a:xfrm>
            <a:off x="4873752" y="4892040"/>
            <a:ext cx="1600200" cy="658368"/>
          </a:xfrm>
          <a:prstGeom prst="roundRect">
            <a:avLst>
              <a:gd name="adj" fmla="val 9722"/>
            </a:avLst>
          </a:prstGeom>
          <a:solidFill>
            <a:srgbClr val="2B776D"/>
          </a:solidFill>
          <a:ln w="12700">
            <a:solidFill>
              <a:srgbClr val="2B776D"/>
            </a:solidFill>
            <a:prstDash val="solid"/>
          </a:ln>
        </p:spPr>
      </p:sp>
      <p:sp>
        <p:nvSpPr>
          <p:cNvPr id="44" name="Text 41"/>
          <p:cNvSpPr/>
          <p:nvPr/>
        </p:nvSpPr>
        <p:spPr>
          <a:xfrm>
            <a:off x="4873752" y="4892040"/>
            <a:ext cx="1600200" cy="658368"/>
          </a:xfrm>
          <a:prstGeom prst="rect">
            <a:avLst/>
          </a:prstGeom>
          <a:noFill/>
          <a:ln/>
        </p:spPr>
        <p:txBody>
          <a:bodyPr wrap="square" lIns="381" tIns="381" rIns="381" bIns="381"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Synthesize</a:t>
            </a:r>
            <a:endParaRPr lang="en-US" sz="1150" dirty="0"/>
          </a:p>
        </p:txBody>
      </p:sp>
      <p:sp>
        <p:nvSpPr>
          <p:cNvPr id="45" name="Shape 42"/>
          <p:cNvSpPr/>
          <p:nvPr/>
        </p:nvSpPr>
        <p:spPr>
          <a:xfrm>
            <a:off x="6483096" y="5221224"/>
            <a:ext cx="146304" cy="0"/>
          </a:xfrm>
          <a:prstGeom prst="line">
            <a:avLst/>
          </a:prstGeom>
          <a:noFill/>
          <a:ln w="17780">
            <a:solidFill>
              <a:srgbClr val="6F8F85"/>
            </a:solidFill>
            <a:prstDash val="solid"/>
            <a:tailEnd type="triangle"/>
          </a:ln>
        </p:spPr>
      </p:sp>
      <p:sp>
        <p:nvSpPr>
          <p:cNvPr id="46" name="Shape 43"/>
          <p:cNvSpPr/>
          <p:nvPr/>
        </p:nvSpPr>
        <p:spPr>
          <a:xfrm>
            <a:off x="6638544" y="4892040"/>
            <a:ext cx="1600200" cy="658368"/>
          </a:xfrm>
          <a:prstGeom prst="roundRect">
            <a:avLst>
              <a:gd name="adj" fmla="val 9722"/>
            </a:avLst>
          </a:prstGeom>
          <a:solidFill>
            <a:srgbClr val="0F3A31"/>
          </a:solidFill>
          <a:ln w="13970">
            <a:solidFill>
              <a:srgbClr val="1D4A3F"/>
            </a:solidFill>
            <a:prstDash val="solid"/>
          </a:ln>
        </p:spPr>
      </p:sp>
      <p:sp>
        <p:nvSpPr>
          <p:cNvPr id="47" name="Text 44"/>
          <p:cNvSpPr/>
          <p:nvPr/>
        </p:nvSpPr>
        <p:spPr>
          <a:xfrm>
            <a:off x="6638544" y="4892040"/>
            <a:ext cx="1600200" cy="658368"/>
          </a:xfrm>
          <a:prstGeom prst="rect">
            <a:avLst/>
          </a:prstGeom>
          <a:noFill/>
          <a:ln/>
        </p:spPr>
        <p:txBody>
          <a:bodyPr wrap="square" lIns="381" tIns="381" rIns="381" bIns="381" rtlCol="0" anchor="ctr"/>
          <a:lstStyle/>
          <a:p>
            <a:pPr algn="ctr" indent="0" marL="0">
              <a:buNone/>
            </a:pPr>
            <a:r>
              <a:rPr lang="en-US" sz="1150" dirty="0">
                <a:solidFill>
                  <a:srgbClr val="F2F7F4"/>
                </a:solidFill>
                <a:latin typeface="Calibri" pitchFamily="34" charset="0"/>
                <a:ea typeface="Calibri" pitchFamily="34" charset="-122"/>
                <a:cs typeface="Calibri" pitchFamily="34" charset="-120"/>
              </a:rPr>
              <a:t>Draft</a:t>
            </a:r>
            <a:endParaRPr lang="en-US" sz="1150" dirty="0"/>
          </a:p>
        </p:txBody>
      </p:sp>
      <p:sp>
        <p:nvSpPr>
          <p:cNvPr id="48" name="Shape 45"/>
          <p:cNvSpPr/>
          <p:nvPr/>
        </p:nvSpPr>
        <p:spPr>
          <a:xfrm>
            <a:off x="8247888" y="5221224"/>
            <a:ext cx="146304" cy="0"/>
          </a:xfrm>
          <a:prstGeom prst="line">
            <a:avLst/>
          </a:prstGeom>
          <a:noFill/>
          <a:ln w="17780">
            <a:solidFill>
              <a:srgbClr val="6F8F85"/>
            </a:solidFill>
            <a:prstDash val="solid"/>
            <a:tailEnd type="triangle"/>
          </a:ln>
        </p:spPr>
      </p:sp>
      <p:sp>
        <p:nvSpPr>
          <p:cNvPr id="49" name="Shape 46"/>
          <p:cNvSpPr/>
          <p:nvPr/>
        </p:nvSpPr>
        <p:spPr>
          <a:xfrm>
            <a:off x="8403336" y="4892040"/>
            <a:ext cx="1600200" cy="658368"/>
          </a:xfrm>
          <a:prstGeom prst="roundRect">
            <a:avLst>
              <a:gd name="adj" fmla="val 9722"/>
            </a:avLst>
          </a:prstGeom>
          <a:solidFill>
            <a:srgbClr val="C29C55"/>
          </a:solidFill>
          <a:ln w="12700">
            <a:solidFill>
              <a:srgbClr val="C29C55"/>
            </a:solidFill>
            <a:prstDash val="solid"/>
          </a:ln>
        </p:spPr>
      </p:sp>
      <p:sp>
        <p:nvSpPr>
          <p:cNvPr id="50" name="Text 47"/>
          <p:cNvSpPr/>
          <p:nvPr/>
        </p:nvSpPr>
        <p:spPr>
          <a:xfrm>
            <a:off x="8403336" y="4892040"/>
            <a:ext cx="1600200" cy="658368"/>
          </a:xfrm>
          <a:prstGeom prst="rect">
            <a:avLst/>
          </a:prstGeom>
          <a:noFill/>
          <a:ln/>
        </p:spPr>
        <p:txBody>
          <a:bodyPr wrap="square" lIns="381" tIns="381" rIns="381" bIns="381" rtlCol="0" anchor="ctr"/>
          <a:lstStyle/>
          <a:p>
            <a:pPr algn="ctr" indent="0" marL="0">
              <a:buNone/>
            </a:pPr>
            <a:r>
              <a:rPr lang="en-US" sz="1150" b="1" dirty="0">
                <a:solidFill>
                  <a:srgbClr val="06211B"/>
                </a:solidFill>
                <a:latin typeface="Calibri" pitchFamily="34" charset="0"/>
                <a:ea typeface="Calibri" pitchFamily="34" charset="-122"/>
                <a:cs typeface="Calibri" pitchFamily="34" charset="-120"/>
              </a:rPr>
              <a:t>Approve</a:t>
            </a:r>
            <a:endParaRPr lang="en-US" sz="1150" dirty="0"/>
          </a:p>
        </p:txBody>
      </p:sp>
      <p:sp>
        <p:nvSpPr>
          <p:cNvPr id="51" name="Shape 48"/>
          <p:cNvSpPr/>
          <p:nvPr/>
        </p:nvSpPr>
        <p:spPr>
          <a:xfrm>
            <a:off x="10012680" y="5221224"/>
            <a:ext cx="146304" cy="0"/>
          </a:xfrm>
          <a:prstGeom prst="line">
            <a:avLst/>
          </a:prstGeom>
          <a:noFill/>
          <a:ln w="17780">
            <a:solidFill>
              <a:srgbClr val="6F8F85"/>
            </a:solidFill>
            <a:prstDash val="solid"/>
            <a:tailEnd type="triangle"/>
          </a:ln>
        </p:spPr>
      </p:sp>
      <p:sp>
        <p:nvSpPr>
          <p:cNvPr id="52" name="Shape 49"/>
          <p:cNvSpPr/>
          <p:nvPr/>
        </p:nvSpPr>
        <p:spPr>
          <a:xfrm>
            <a:off x="10168128" y="4892040"/>
            <a:ext cx="1600200" cy="658368"/>
          </a:xfrm>
          <a:prstGeom prst="roundRect">
            <a:avLst>
              <a:gd name="adj" fmla="val 9722"/>
            </a:avLst>
          </a:prstGeom>
          <a:solidFill>
            <a:srgbClr val="4FB39E"/>
          </a:solidFill>
          <a:ln w="12700">
            <a:solidFill>
              <a:srgbClr val="4FB39E"/>
            </a:solidFill>
            <a:prstDash val="solid"/>
          </a:ln>
        </p:spPr>
      </p:sp>
      <p:sp>
        <p:nvSpPr>
          <p:cNvPr id="53" name="Text 50"/>
          <p:cNvSpPr/>
          <p:nvPr/>
        </p:nvSpPr>
        <p:spPr>
          <a:xfrm>
            <a:off x="10168128" y="4892040"/>
            <a:ext cx="1600200" cy="658368"/>
          </a:xfrm>
          <a:prstGeom prst="rect">
            <a:avLst/>
          </a:prstGeom>
          <a:noFill/>
          <a:ln/>
        </p:spPr>
        <p:txBody>
          <a:bodyPr wrap="square" lIns="381" tIns="381" rIns="381" bIns="381" rtlCol="0" anchor="ctr"/>
          <a:lstStyle/>
          <a:p>
            <a:pPr algn="ctr" indent="0" marL="0">
              <a:buNone/>
            </a:pPr>
            <a:r>
              <a:rPr lang="en-US" sz="1150" b="1" dirty="0">
                <a:solidFill>
                  <a:srgbClr val="06211B"/>
                </a:solidFill>
                <a:latin typeface="Calibri" pitchFamily="34" charset="0"/>
                <a:ea typeface="Calibri" pitchFamily="34" charset="-122"/>
                <a:cs typeface="Calibri" pitchFamily="34" charset="-120"/>
              </a:rPr>
              <a:t>Save</a:t>
            </a:r>
            <a:endParaRPr lang="en-US" sz="1150" dirty="0"/>
          </a:p>
        </p:txBody>
      </p:sp>
      <p:pic>
        <p:nvPicPr>
          <p:cNvPr id="54" name="Image 1" descr="/home/claude/evidenceops/icons/lock_gold.png">    </p:cNvPr>
          <p:cNvPicPr>
            <a:picLocks noChangeAspect="1"/>
          </p:cNvPicPr>
          <p:nvPr/>
        </p:nvPicPr>
        <p:blipFill>
          <a:blip r:embed="rId2"/>
          <a:stretch>
            <a:fillRect/>
          </a:stretch>
        </p:blipFill>
        <p:spPr>
          <a:xfrm>
            <a:off x="9921240" y="4553712"/>
            <a:ext cx="237744" cy="237744"/>
          </a:xfrm>
          <a:prstGeom prst="rect">
            <a:avLst/>
          </a:prstGeom>
        </p:spPr>
      </p:pic>
      <p:sp>
        <p:nvSpPr>
          <p:cNvPr id="55" name="Text 51"/>
          <p:cNvSpPr/>
          <p:nvPr/>
        </p:nvSpPr>
        <p:spPr>
          <a:xfrm>
            <a:off x="548640" y="5605272"/>
            <a:ext cx="2286000" cy="256032"/>
          </a:xfrm>
          <a:prstGeom prst="rect">
            <a:avLst/>
          </a:prstGeom>
          <a:noFill/>
          <a:ln/>
        </p:spPr>
        <p:txBody>
          <a:bodyPr wrap="square" lIns="0" tIns="0" rIns="0" bIns="0" rtlCol="0" anchor="t"/>
          <a:lstStyle/>
          <a:p>
            <a:pPr algn="ctr" indent="0" marL="0">
              <a:buNone/>
            </a:pPr>
            <a:r>
              <a:rPr lang="en-US" sz="900" dirty="0">
                <a:solidFill>
                  <a:srgbClr val="9DB5AD"/>
                </a:solidFill>
                <a:latin typeface="Calibri" pitchFamily="34" charset="0"/>
                <a:ea typeface="Calibri" pitchFamily="34" charset="-122"/>
                <a:cs typeface="Calibri" pitchFamily="34" charset="-120"/>
              </a:rPr>
              <a:t>no retrieval needed</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6211B"/>
        </a:solidFill>
      </p:bgPr>
    </p:bg>
    <p:spTree>
      <p:nvGrpSpPr>
        <p:cNvPr id="1" name=""/>
        <p:cNvGrpSpPr/>
        <p:nvPr/>
      </p:nvGrpSpPr>
      <p:grpSpPr>
        <a:xfrm>
          <a:off x="0" y="0"/>
          <a:ext cx="0" cy="0"/>
          <a:chOff x="0" y="0"/>
          <a:chExt cx="0" cy="0"/>
        </a:xfrm>
      </p:grpSpPr>
      <p:sp>
        <p:nvSpPr>
          <p:cNvPr id="2" name="Text 0"/>
          <p:cNvSpPr/>
          <p:nvPr/>
        </p:nvSpPr>
        <p:spPr>
          <a:xfrm>
            <a:off x="685800" y="1051560"/>
            <a:ext cx="4572000" cy="365760"/>
          </a:xfrm>
          <a:prstGeom prst="rect">
            <a:avLst/>
          </a:prstGeom>
          <a:noFill/>
          <a:ln/>
        </p:spPr>
        <p:txBody>
          <a:bodyPr wrap="square" lIns="0" tIns="0" rIns="0" bIns="0" rtlCol="0" anchor="ctr"/>
          <a:lstStyle/>
          <a:p>
            <a:pPr algn="l" indent="0" marL="0">
              <a:buNone/>
            </a:pPr>
            <a:r>
              <a:rPr lang="en-US" sz="1300" spc="200" kern="0" dirty="0">
                <a:solidFill>
                  <a:srgbClr val="C29C55"/>
                </a:solidFill>
                <a:latin typeface="Calibri" pitchFamily="34" charset="0"/>
                <a:ea typeface="Calibri" pitchFamily="34" charset="-122"/>
                <a:cs typeface="Calibri" pitchFamily="34" charset="-120"/>
              </a:rPr>
              <a:t>Closing</a:t>
            </a:r>
            <a:endParaRPr lang="en-US" sz="1300" dirty="0"/>
          </a:p>
        </p:txBody>
      </p:sp>
      <p:sp>
        <p:nvSpPr>
          <p:cNvPr id="3" name="Text 1"/>
          <p:cNvSpPr/>
          <p:nvPr/>
        </p:nvSpPr>
        <p:spPr>
          <a:xfrm>
            <a:off x="640080" y="1463040"/>
            <a:ext cx="10881360" cy="777240"/>
          </a:xfrm>
          <a:prstGeom prst="rect">
            <a:avLst/>
          </a:prstGeom>
          <a:noFill/>
          <a:ln/>
        </p:spPr>
        <p:txBody>
          <a:bodyPr wrap="square" lIns="0" tIns="0" rIns="0" bIns="0" rtlCol="0" anchor="ctr"/>
          <a:lstStyle/>
          <a:p>
            <a:pPr algn="l" indent="0" marL="0">
              <a:buNone/>
            </a:pPr>
            <a:r>
              <a:rPr lang="en-US" sz="3000" b="1" dirty="0">
                <a:solidFill>
                  <a:srgbClr val="F2F7F4"/>
                </a:solidFill>
                <a:latin typeface="Calibri" pitchFamily="34" charset="0"/>
                <a:ea typeface="Calibri" pitchFamily="34" charset="-122"/>
                <a:cs typeface="Calibri" pitchFamily="34" charset="-120"/>
              </a:rPr>
              <a:t>The system now spends planning where planning pays.</a:t>
            </a:r>
            <a:endParaRPr lang="en-US" sz="3000" dirty="0"/>
          </a:p>
        </p:txBody>
      </p:sp>
      <p:sp>
        <p:nvSpPr>
          <p:cNvPr id="4" name="Shape 2"/>
          <p:cNvSpPr/>
          <p:nvPr/>
        </p:nvSpPr>
        <p:spPr>
          <a:xfrm>
            <a:off x="685800" y="2834640"/>
            <a:ext cx="3520440" cy="1600200"/>
          </a:xfrm>
          <a:prstGeom prst="roundRect">
            <a:avLst>
              <a:gd name="adj" fmla="val 4571"/>
            </a:avLst>
          </a:prstGeom>
          <a:solidFill>
            <a:srgbClr val="0B2E27"/>
          </a:solidFill>
          <a:ln w="12700">
            <a:solidFill>
              <a:srgbClr val="1D4A3F"/>
            </a:solidFill>
            <a:prstDash val="solid"/>
          </a:ln>
        </p:spPr>
      </p:sp>
      <p:sp>
        <p:nvSpPr>
          <p:cNvPr id="5" name="Text 3"/>
          <p:cNvSpPr/>
          <p:nvPr/>
        </p:nvSpPr>
        <p:spPr>
          <a:xfrm>
            <a:off x="822960" y="2907792"/>
            <a:ext cx="3246120" cy="880110"/>
          </a:xfrm>
          <a:prstGeom prst="rect">
            <a:avLst/>
          </a:prstGeom>
          <a:noFill/>
          <a:ln/>
        </p:spPr>
        <p:txBody>
          <a:bodyPr wrap="square" lIns="0" tIns="0" rIns="0" bIns="0" rtlCol="0" anchor="ctr"/>
          <a:lstStyle/>
          <a:p>
            <a:pPr algn="ctr" indent="0" marL="0">
              <a:buNone/>
            </a:pPr>
            <a:r>
              <a:rPr lang="en-US" sz="3600" b="1" dirty="0">
                <a:solidFill>
                  <a:srgbClr val="4FB39E"/>
                </a:solidFill>
                <a:latin typeface="Calibri" pitchFamily="34" charset="0"/>
                <a:ea typeface="Calibri" pitchFamily="34" charset="-122"/>
                <a:cs typeface="Calibri" pitchFamily="34" charset="-120"/>
              </a:rPr>
              <a:t>0</a:t>
            </a:r>
            <a:endParaRPr lang="en-US" sz="3600" dirty="0"/>
          </a:p>
        </p:txBody>
      </p:sp>
      <p:sp>
        <p:nvSpPr>
          <p:cNvPr id="6" name="Text 4"/>
          <p:cNvSpPr/>
          <p:nvPr/>
        </p:nvSpPr>
        <p:spPr>
          <a:xfrm>
            <a:off x="822960" y="3762756"/>
            <a:ext cx="3246120" cy="608076"/>
          </a:xfrm>
          <a:prstGeom prst="rect">
            <a:avLst/>
          </a:prstGeom>
          <a:noFill/>
          <a:ln/>
        </p:spPr>
        <p:txBody>
          <a:bodyPr wrap="square" lIns="0" tIns="0" rIns="0" bIns="0" rtlCol="0" anchor="t"/>
          <a:lstStyle/>
          <a:p>
            <a:pPr algn="ctr" indent="0" marL="0">
              <a:buNone/>
            </a:pPr>
            <a:r>
              <a:rPr lang="en-US" sz="1050" dirty="0">
                <a:solidFill>
                  <a:srgbClr val="9DB5AD"/>
                </a:solidFill>
                <a:latin typeface="Calibri" pitchFamily="34" charset="0"/>
                <a:ea typeface="Calibri" pitchFamily="34" charset="-122"/>
                <a:cs typeface="Calibri" pitchFamily="34" charset="-120"/>
              </a:rPr>
              <a:t>searches for identity questions</a:t>
            </a:r>
            <a:endParaRPr lang="en-US" sz="1050" dirty="0"/>
          </a:p>
        </p:txBody>
      </p:sp>
      <p:sp>
        <p:nvSpPr>
          <p:cNvPr id="7" name="Shape 5"/>
          <p:cNvSpPr/>
          <p:nvPr/>
        </p:nvSpPr>
        <p:spPr>
          <a:xfrm>
            <a:off x="4379976" y="2834640"/>
            <a:ext cx="3520440" cy="1600200"/>
          </a:xfrm>
          <a:prstGeom prst="roundRect">
            <a:avLst>
              <a:gd name="adj" fmla="val 4571"/>
            </a:avLst>
          </a:prstGeom>
          <a:solidFill>
            <a:srgbClr val="0B2E27"/>
          </a:solidFill>
          <a:ln w="12700">
            <a:solidFill>
              <a:srgbClr val="1D4A3F"/>
            </a:solidFill>
            <a:prstDash val="solid"/>
          </a:ln>
        </p:spPr>
      </p:sp>
      <p:sp>
        <p:nvSpPr>
          <p:cNvPr id="8" name="Text 6"/>
          <p:cNvSpPr/>
          <p:nvPr/>
        </p:nvSpPr>
        <p:spPr>
          <a:xfrm>
            <a:off x="4517136" y="2907792"/>
            <a:ext cx="3246120" cy="880110"/>
          </a:xfrm>
          <a:prstGeom prst="rect">
            <a:avLst/>
          </a:prstGeom>
          <a:noFill/>
          <a:ln/>
        </p:spPr>
        <p:txBody>
          <a:bodyPr wrap="square" lIns="0" tIns="0" rIns="0" bIns="0" rtlCol="0" anchor="ctr"/>
          <a:lstStyle/>
          <a:p>
            <a:pPr algn="ctr" indent="0" marL="0">
              <a:buNone/>
            </a:pPr>
            <a:r>
              <a:rPr lang="en-US" sz="3600" b="1" dirty="0">
                <a:solidFill>
                  <a:srgbClr val="4FB39E"/>
                </a:solidFill>
                <a:latin typeface="Calibri" pitchFamily="34" charset="0"/>
                <a:ea typeface="Calibri" pitchFamily="34" charset="-122"/>
                <a:cs typeface="Calibri" pitchFamily="34" charset="-120"/>
              </a:rPr>
              <a:t>1</a:t>
            </a:r>
            <a:endParaRPr lang="en-US" sz="3600" dirty="0"/>
          </a:p>
        </p:txBody>
      </p:sp>
      <p:sp>
        <p:nvSpPr>
          <p:cNvPr id="9" name="Text 7"/>
          <p:cNvSpPr/>
          <p:nvPr/>
        </p:nvSpPr>
        <p:spPr>
          <a:xfrm>
            <a:off x="4517136" y="3762756"/>
            <a:ext cx="3246120" cy="608076"/>
          </a:xfrm>
          <a:prstGeom prst="rect">
            <a:avLst/>
          </a:prstGeom>
          <a:noFill/>
          <a:ln/>
        </p:spPr>
        <p:txBody>
          <a:bodyPr wrap="square" lIns="0" tIns="0" rIns="0" bIns="0" rtlCol="0" anchor="t"/>
          <a:lstStyle/>
          <a:p>
            <a:pPr algn="ctr" indent="0" marL="0">
              <a:buNone/>
            </a:pPr>
            <a:r>
              <a:rPr lang="en-US" sz="1050" dirty="0">
                <a:solidFill>
                  <a:srgbClr val="9DB5AD"/>
                </a:solidFill>
                <a:latin typeface="Calibri" pitchFamily="34" charset="0"/>
                <a:ea typeface="Calibri" pitchFamily="34" charset="-122"/>
                <a:cs typeface="Calibri" pitchFamily="34" charset="-120"/>
              </a:rPr>
              <a:t>search for a known framework</a:t>
            </a:r>
            <a:endParaRPr lang="en-US" sz="1050" dirty="0"/>
          </a:p>
        </p:txBody>
      </p:sp>
      <p:sp>
        <p:nvSpPr>
          <p:cNvPr id="10" name="Shape 8"/>
          <p:cNvSpPr/>
          <p:nvPr/>
        </p:nvSpPr>
        <p:spPr>
          <a:xfrm>
            <a:off x="8074152" y="2834640"/>
            <a:ext cx="3520440" cy="1600200"/>
          </a:xfrm>
          <a:prstGeom prst="roundRect">
            <a:avLst>
              <a:gd name="adj" fmla="val 4571"/>
            </a:avLst>
          </a:prstGeom>
          <a:solidFill>
            <a:srgbClr val="0B2E27"/>
          </a:solidFill>
          <a:ln w="12700">
            <a:solidFill>
              <a:srgbClr val="1D4A3F"/>
            </a:solidFill>
            <a:prstDash val="solid"/>
          </a:ln>
        </p:spPr>
      </p:sp>
      <p:sp>
        <p:nvSpPr>
          <p:cNvPr id="11" name="Text 9"/>
          <p:cNvSpPr/>
          <p:nvPr/>
        </p:nvSpPr>
        <p:spPr>
          <a:xfrm>
            <a:off x="8211312" y="2907792"/>
            <a:ext cx="3246120" cy="880110"/>
          </a:xfrm>
          <a:prstGeom prst="rect">
            <a:avLst/>
          </a:prstGeom>
          <a:noFill/>
          <a:ln/>
        </p:spPr>
        <p:txBody>
          <a:bodyPr wrap="square" lIns="0" tIns="0" rIns="0" bIns="0" rtlCol="0" anchor="ctr"/>
          <a:lstStyle/>
          <a:p>
            <a:pPr algn="ctr" indent="0" marL="0">
              <a:buNone/>
            </a:pPr>
            <a:r>
              <a:rPr lang="en-US" sz="3600" b="1" dirty="0">
                <a:solidFill>
                  <a:srgbClr val="C29C55"/>
                </a:solidFill>
                <a:latin typeface="Calibri" pitchFamily="34" charset="0"/>
                <a:ea typeface="Calibri" pitchFamily="34" charset="-122"/>
                <a:cs typeface="Calibri" pitchFamily="34" charset="-120"/>
              </a:rPr>
              <a:t>3-4x</a:t>
            </a:r>
            <a:endParaRPr lang="en-US" sz="3600" dirty="0"/>
          </a:p>
        </p:txBody>
      </p:sp>
      <p:sp>
        <p:nvSpPr>
          <p:cNvPr id="12" name="Text 10"/>
          <p:cNvSpPr/>
          <p:nvPr/>
        </p:nvSpPr>
        <p:spPr>
          <a:xfrm>
            <a:off x="8211312" y="3762756"/>
            <a:ext cx="3246120" cy="608076"/>
          </a:xfrm>
          <a:prstGeom prst="rect">
            <a:avLst/>
          </a:prstGeom>
          <a:noFill/>
          <a:ln/>
        </p:spPr>
        <p:txBody>
          <a:bodyPr wrap="square" lIns="0" tIns="0" rIns="0" bIns="0" rtlCol="0" anchor="t"/>
          <a:lstStyle/>
          <a:p>
            <a:pPr algn="ctr" indent="0" marL="0">
              <a:buNone/>
            </a:pPr>
            <a:r>
              <a:rPr lang="en-US" sz="1050" dirty="0">
                <a:solidFill>
                  <a:srgbClr val="9DB5AD"/>
                </a:solidFill>
                <a:latin typeface="Calibri" pitchFamily="34" charset="0"/>
                <a:ea typeface="Calibri" pitchFamily="34" charset="-122"/>
                <a:cs typeface="Calibri" pitchFamily="34" charset="-120"/>
              </a:rPr>
              <a:t>faster on everyday questions</a:t>
            </a:r>
            <a:endParaRPr lang="en-US" sz="1050" dirty="0"/>
          </a:p>
        </p:txBody>
      </p:sp>
      <p:sp>
        <p:nvSpPr>
          <p:cNvPr id="13" name="Text 11"/>
          <p:cNvSpPr/>
          <p:nvPr/>
        </p:nvSpPr>
        <p:spPr>
          <a:xfrm>
            <a:off x="685800" y="4892040"/>
            <a:ext cx="10789920" cy="457200"/>
          </a:xfrm>
          <a:prstGeom prst="rect">
            <a:avLst/>
          </a:prstGeom>
          <a:noFill/>
          <a:ln/>
        </p:spPr>
        <p:txBody>
          <a:bodyPr wrap="square" lIns="0" tIns="0" rIns="0" bIns="0" rtlCol="0" anchor="ctr"/>
          <a:lstStyle/>
          <a:p>
            <a:pPr algn="l" indent="0" marL="0">
              <a:buNone/>
            </a:pPr>
            <a:r>
              <a:rPr lang="en-US" sz="1400" dirty="0">
                <a:solidFill>
                  <a:srgbClr val="CFE0DA"/>
                </a:solidFill>
                <a:latin typeface="Calibri" pitchFamily="34" charset="0"/>
                <a:ea typeface="Calibri" pitchFamily="34" charset="-122"/>
                <a:cs typeface="Calibri" pitchFamily="34" charset="-120"/>
              </a:rPr>
              <a:t>Thank you. I am happy to take questions, or to walk through the router code live.</a:t>
            </a:r>
            <a:endParaRPr lang="en-US" sz="1400" dirty="0"/>
          </a:p>
        </p:txBody>
      </p:sp>
      <p:sp>
        <p:nvSpPr>
          <p:cNvPr id="14" name="Text 12"/>
          <p:cNvSpPr/>
          <p:nvPr/>
        </p:nvSpPr>
        <p:spPr>
          <a:xfrm>
            <a:off x="685800" y="6446520"/>
            <a:ext cx="7315200" cy="274320"/>
          </a:xfrm>
          <a:prstGeom prst="rect">
            <a:avLst/>
          </a:prstGeom>
          <a:noFill/>
          <a:ln/>
        </p:spPr>
        <p:txBody>
          <a:bodyPr wrap="square" lIns="0" tIns="0" rIns="0" bIns="0" rtlCol="0" anchor="ctr"/>
          <a:lstStyle/>
          <a:p>
            <a:pPr algn="l" indent="0" marL="0">
              <a:buNone/>
            </a:pPr>
            <a:r>
              <a:rPr lang="en-US" sz="900" dirty="0">
                <a:solidFill>
                  <a:srgbClr val="5F7A71"/>
                </a:solidFill>
                <a:latin typeface="Calibri" pitchFamily="34" charset="0"/>
                <a:ea typeface="Calibri" pitchFamily="34" charset="-122"/>
                <a:cs typeface="Calibri" pitchFamily="34" charset="-120"/>
              </a:rPr>
              <a:t>Naif  ·  EvidenceOps  ·  architecture evolution</a:t>
            </a:r>
            <a:endParaRPr lang="en-US" sz="900" dirty="0"/>
          </a:p>
        </p:txBody>
      </p:sp>
      <p:sp>
        <p:nvSpPr>
          <p:cNvPr id="15" name="Text 13"/>
          <p:cNvSpPr/>
          <p:nvPr/>
        </p:nvSpPr>
        <p:spPr>
          <a:xfrm>
            <a:off x="11247120" y="6446520"/>
            <a:ext cx="411480" cy="274320"/>
          </a:xfrm>
          <a:prstGeom prst="rect">
            <a:avLst/>
          </a:prstGeom>
          <a:noFill/>
          <a:ln/>
        </p:spPr>
        <p:txBody>
          <a:bodyPr wrap="square" lIns="0" tIns="0" rIns="0" bIns="0" rtlCol="0" anchor="ctr"/>
          <a:lstStyle/>
          <a:p>
            <a:pPr algn="r" indent="0" marL="0">
              <a:buNone/>
            </a:pPr>
            <a:r>
              <a:rPr lang="en-US" sz="900" dirty="0">
                <a:solidFill>
                  <a:srgbClr val="5F7A71"/>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2026-07-20T05:25:05Z</dcterms:created>
  <dcterms:modified xsi:type="dcterms:W3CDTF">2026-07-20T05:25:05Z</dcterms:modified>
</cp:coreProperties>
</file>